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  <p:sldMasterId id="2147483765" r:id="rId2"/>
  </p:sldMasterIdLst>
  <p:notesMasterIdLst>
    <p:notesMasterId r:id="rId10"/>
  </p:notesMasterIdLst>
  <p:sldIdLst>
    <p:sldId id="2146846637" r:id="rId3"/>
    <p:sldId id="320" r:id="rId4"/>
    <p:sldId id="321" r:id="rId5"/>
    <p:sldId id="323" r:id="rId6"/>
    <p:sldId id="324" r:id="rId7"/>
    <p:sldId id="2146846638" r:id="rId8"/>
    <p:sldId id="3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6" autoAdjust="0"/>
    <p:restoredTop sz="70276" autoAdjust="0"/>
  </p:normalViewPr>
  <p:slideViewPr>
    <p:cSldViewPr snapToGrid="0">
      <p:cViewPr>
        <p:scale>
          <a:sx n="154" d="100"/>
          <a:sy n="154" d="100"/>
        </p:scale>
        <p:origin x="-1590" y="-173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F2C39-0E09-7B4F-99BE-FCBD18D6ED4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2AD55-5580-C542-BD48-1E2FEE8D6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2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43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DD403B-0F6A-4C1F-AE63-FA1FF361F76A}" type="slidenum"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3431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571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1) Introduction &amp; Overview </a:t>
            </a:r>
          </a:p>
          <a:p>
            <a:endParaRPr lang="en-US" sz="800" dirty="0"/>
          </a:p>
          <a:p>
            <a:r>
              <a:rPr lang="en-US" sz="800" dirty="0"/>
              <a:t>"This architecture represents our vision for a modern, intelligent laboratory data conversion system that bridges your scientific instruments with standardized data formats while enabling advanced analytics capabilities."</a:t>
            </a:r>
          </a:p>
          <a:p>
            <a:endParaRPr lang="en-US" sz="800" dirty="0"/>
          </a:p>
          <a:p>
            <a:r>
              <a:rPr lang="en-US" sz="800" dirty="0"/>
              <a:t>2) Laboratory Instruments &amp; Data Ingestion (Left Side) </a:t>
            </a:r>
          </a:p>
          <a:p>
            <a:endParaRPr lang="en-US" sz="800" dirty="0"/>
          </a:p>
          <a:p>
            <a:r>
              <a:rPr lang="en-US" sz="800" dirty="0"/>
              <a:t>"Starting on the left, we support multiple laboratory instrument types, each generating data in their native formats. Our data ingestion layer acts as a secure gateway, ensuring reliable data capture from your instruments while maintaining data integrity."</a:t>
            </a:r>
          </a:p>
          <a:p>
            <a:endParaRPr lang="en-US" sz="800" dirty="0"/>
          </a:p>
          <a:p>
            <a:r>
              <a:rPr lang="en-US" sz="800" dirty="0"/>
              <a:t>3) Intelligent Converter Hub (Center) </a:t>
            </a:r>
          </a:p>
          <a:p>
            <a:endParaRPr lang="en-US" sz="800" dirty="0"/>
          </a:p>
          <a:p>
            <a:r>
              <a:rPr lang="en-US" sz="800" dirty="0"/>
              <a:t>The heart of our solution is the Intelligent Converter Hub, which consists of two key components:</a:t>
            </a:r>
          </a:p>
          <a:p>
            <a:endParaRPr lang="en-US" sz="800" dirty="0"/>
          </a:p>
          <a:p>
            <a:r>
              <a:rPr lang="en-US" sz="800" dirty="0"/>
              <a:t>Format Detection/Code Generation Engine: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Automatically identifies incoming file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Generates appropriate conversion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Manages approval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Ensures data quality and compliance</a:t>
            </a:r>
          </a:p>
          <a:p>
            <a:endParaRPr lang="en-US" sz="800" dirty="0"/>
          </a:p>
          <a:p>
            <a:r>
              <a:rPr lang="en-US" sz="800" dirty="0"/>
              <a:t>ASM Generation Engine: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Applies Allotrope ontology 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Creates compliant ASM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Performs schema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Includes quality scoring and certification</a:t>
            </a:r>
          </a:p>
          <a:p>
            <a:endParaRPr lang="en-US" sz="800" dirty="0"/>
          </a:p>
          <a:p>
            <a:r>
              <a:rPr lang="en-US" sz="800" dirty="0"/>
              <a:t>Knowledge Graph Platform (Right Side) </a:t>
            </a:r>
          </a:p>
          <a:p>
            <a:endParaRPr lang="en-US" sz="800" dirty="0"/>
          </a:p>
          <a:p>
            <a:r>
              <a:rPr lang="en-US" sz="800" dirty="0"/>
              <a:t>4) The Knowledge Graph Platform implements a sample-centric approach that: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Creates relationships between samples, projects, and methods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Enables sophisticated data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Provides visualization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Supports quality certification services</a:t>
            </a:r>
          </a:p>
          <a:p>
            <a:endParaRPr lang="en-US" sz="800" dirty="0"/>
          </a:p>
          <a:p>
            <a:r>
              <a:rPr lang="en-US" sz="800" dirty="0"/>
              <a:t>5) Scientist Interface “Scientists interact with the platform through: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Intuitive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Method analytics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Quality control 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Visualization tools”</a:t>
            </a:r>
          </a:p>
          <a:p>
            <a:endParaRPr lang="en-US" sz="800" dirty="0"/>
          </a:p>
          <a:p>
            <a:r>
              <a:rPr lang="en-US" sz="800" dirty="0"/>
              <a:t>Key Benefits "This architecture delivers: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Automated data standardization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Enhanced data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Improved scientific collaboration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Advanced analytics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Regulatory compliance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Future-proof scalability“</a:t>
            </a:r>
          </a:p>
          <a:p>
            <a:endParaRPr lang="en-US" sz="800" dirty="0"/>
          </a:p>
          <a:p>
            <a:r>
              <a:rPr lang="en-US" sz="800" dirty="0"/>
              <a:t>Close "By implementing this architecture, you'll have a robust, compliant, and intelligent system that transforms raw instrument data into actionable scientific insights."</a:t>
            </a:r>
          </a:p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99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1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68B5-2E52-C339-7E5F-344E0E6C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90E34-3B2D-4D61-082C-A7C74ECB2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134F6-19CD-4578-A6F7-5AD935BF5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/>
              <a:t>Instrument 1 – PCR Diagnostics Analyzer</a:t>
            </a:r>
          </a:p>
          <a:p>
            <a:r>
              <a:rPr lang="en-US" sz="800" dirty="0"/>
              <a:t>Instrument 2 – Cell Counter</a:t>
            </a:r>
          </a:p>
          <a:p>
            <a:r>
              <a:rPr lang="en-US" sz="800" dirty="0"/>
              <a:t>Instrument 3 – Capsule Filling Machine</a:t>
            </a:r>
          </a:p>
          <a:p>
            <a:r>
              <a:rPr lang="en-US" sz="800" dirty="0"/>
              <a:t>Instrument 4 – DNA Extractor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52D1E-6B27-8CA5-B808-B39193343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3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69AF-431D-4753-5170-A3FBC60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0A029-1068-EBDD-5237-5E68E79F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D238B-ABCF-F99B-9666-1193C522C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5D7BC-A2F0-DAA1-F5DC-FDDB62BF3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2AD55-5580-C542-BD48-1E2FEE8D6E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2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B160-2B00-227F-A249-E1277EF07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57271-ED99-FA1D-A90D-BD4D10C05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E6132-7C98-3262-5177-D2612A85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D7CE2-FFF2-C642-5C77-70FBF6C6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4D890-16D0-BD20-4CBE-C7759617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DBEC4-A3C6-A5AF-E378-E1B9F4D4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A5EB2-DECF-C83C-9452-1998F2AD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B91E8-DEE9-AD21-42E9-D20EA6A3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AB171-8A2F-C18D-40F6-3913EB9A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191A0-31E1-F91C-8DCE-AC2BB5E0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9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81BF-4D91-9B45-1C9B-A4DAFD83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7BF28-ADD4-904A-59E1-E5ABF4DC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B3845-9907-3CA7-E2EE-4B7CCC01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1151-4A24-EF7C-5CD3-75728E35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03E9A-8615-FFA8-5AE4-6B629D80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5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0BC6-E11D-71E8-A85E-28AC76625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C959E-571F-7152-8D28-C4F9F22A5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7E94A-B140-521E-C41D-D2015974F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81FBF-FFFB-0483-F96B-33FE5CE0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B4747-33C4-745D-4470-0F5CFA4E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38770-C5ED-EE9C-92DB-ABF2AE45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2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5D33-82CB-09EE-6E17-7DB58DC0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11353-B929-6B6F-7228-F77D17E5E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9635A-BA90-1067-3165-A21BA65D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4F554-4B6E-6AAF-9DE7-D8ECDBBC7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0BD86-BCC1-C6BF-B336-F188F3102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E9AC7-2685-78F9-C732-77F2B7AC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837F6-06EF-AB88-FA78-27FF3FEA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874BC-83B8-594E-3915-0B7A7D29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5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50CE-F8C3-E9C8-6C42-51F1C7A8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321AB-0E2F-DDFB-0940-E51C6EC5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82F5E-50C4-B5A8-862A-0196CC0D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26DAB-D060-961C-7ECF-4B75E217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F6C02-B76B-9AC5-4F16-DDCFA6FE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F7DAB-EAE5-E125-91DD-68A0BA3B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C161A-EAF4-CD5E-A6EB-78CCE608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5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7B83-0276-4DCB-F84E-B002FF3B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4586-D9AB-CCE6-6CBD-E04A0E156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BB751-856C-CA2D-4BC1-A23AEBC6F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C94FF-93A7-9C59-8490-E3B47B1D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1D96D-8232-BE83-B679-26E601E2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A1F4B-65F1-56D8-D25A-811E5680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74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05B3-DDF6-B133-D5E5-9AB270C46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A47C9-38DB-D9F5-8CB4-DF35672A7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1BCB8-4233-51F3-60AC-B12F557A6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1765D-A5BD-0F83-E6B3-5A3C9BB5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9C125-CFA1-6F2B-52A8-5E03F05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1E83C-2DCA-20FC-698B-50680791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80CB-6CFB-39D3-2056-EC4206A4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81B21-8B32-DF89-A2CB-85C4D436A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8770B-AE7E-C8A9-3196-C2AE44F4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26225-0DD2-3F1F-0508-2D62B124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C40-C627-174B-729E-EC784528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C1A45-1C81-63C5-1672-018C11194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79E2-0524-BCF3-54DE-16C8009B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D698-4843-CE14-9AB8-2EAEA78F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BA72E-C8B4-BB3A-2D68-32A65C13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37B8E-0737-6AC2-09B7-F44D8B6B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74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522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97430-6745-417F-92A0-80DB383AA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F91FFD-73BA-4C6D-B9FD-A1C4B70F7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405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000" cy="2200275"/>
          </a:xfrm>
        </p:spPr>
        <p:txBody>
          <a:bodyPr anchor="b"/>
          <a:lstStyle>
            <a:lvl1pPr algn="l">
              <a:defRPr sz="42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000" cy="2200275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3B4184-6328-4154-91D2-1AA8288B2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8B701A-85D4-4EBF-9E9D-45321FF8B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84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1" cy="6096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5718000" y="60966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6DB4970-1539-45AF-95B7-E0F4F6E0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0AF9AA-D942-4888-A5F3-88D2B0EE9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9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92600" y="4950000"/>
            <a:ext cx="2629000" cy="143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868099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21600" y="894600"/>
            <a:ext cx="5270400" cy="405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3914600" y="457380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09E9714-8531-49CA-817A-A6591E6AC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69F950-2B7B-4360-870C-6661D92820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99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3107064-D3CA-49F7-8E72-46608079AF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8600" y="3384000"/>
            <a:ext cx="1913400" cy="1683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6E6AF0-C66B-4B32-964D-86B588C01D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2000" y="0"/>
            <a:ext cx="4140000" cy="3384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85666-16D6-4604-851C-B7A185B1DF28}"/>
              </a:ext>
            </a:extLst>
          </p:cNvPr>
          <p:cNvSpPr/>
          <p:nvPr userDrawn="1"/>
        </p:nvSpPr>
        <p:spPr>
          <a:xfrm>
            <a:off x="7674000" y="6003750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02C68CA-982E-4DE8-82EB-BF63660F9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5067000"/>
            <a:ext cx="1351800" cy="936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FCC1E2B-BD2B-41AE-8380-2C7169758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010F39-88F5-4054-BF78-5B36DF197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84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4932729" cy="2200275"/>
          </a:xfrm>
        </p:spPr>
        <p:txBody>
          <a:bodyPr anchor="b"/>
          <a:lstStyle>
            <a:lvl1pPr algn="l">
              <a:defRPr sz="4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25" y="3682800"/>
            <a:ext cx="4932729" cy="2200275"/>
          </a:xfrm>
        </p:spPr>
        <p:txBody>
          <a:bodyPr/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6174001"/>
            <a:ext cx="3607594" cy="207749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570B4B7-B99F-4E9F-8038-FEAA60799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23C44-A96C-4F77-894E-4C14A1AD60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12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660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Vertical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622" y="1925636"/>
            <a:ext cx="2104845" cy="445611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599" y="1925636"/>
            <a:ext cx="7521575" cy="4456111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/>
            </a:lvl1pPr>
            <a:lvl2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>
                <a:solidFill>
                  <a:schemeClr val="bg1">
                    <a:lumMod val="85000"/>
                  </a:schemeClr>
                </a:solidFill>
              </a:defRPr>
            </a:lvl2pPr>
            <a:lvl3pPr marL="342900" indent="-3429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476A1C-450C-4513-925D-8391EFA2E70F}"/>
              </a:ext>
            </a:extLst>
          </p:cNvPr>
          <p:cNvCxnSpPr/>
          <p:nvPr userDrawn="1"/>
        </p:nvCxnSpPr>
        <p:spPr>
          <a:xfrm>
            <a:off x="3051313" y="516835"/>
            <a:ext cx="0" cy="59633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77F7E6C-3978-4975-87E8-207B769BE7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81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35E8A8-7A94-4D3A-8CEF-505EA93C3F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>
            <a:lvl1pPr>
              <a:spcBef>
                <a:spcPts val="1600"/>
              </a:spcBef>
              <a:spcAft>
                <a:spcPts val="1600"/>
              </a:spcAft>
              <a:defRPr b="1">
                <a:solidFill>
                  <a:schemeClr val="accent1"/>
                </a:solidFill>
              </a:defRPr>
            </a:lvl1pPr>
            <a:lvl2pPr marL="216000" indent="0"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18109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6175" y="1925636"/>
            <a:ext cx="550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462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02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26C6CA-6FA0-41CA-894A-BF8B4460FDF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3375" y="1925636"/>
            <a:ext cx="46908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CB0DAD-1D3A-4AE1-B658-E47AEDEBDC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7825" y="1925638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05E0C6-0A16-44EE-A33F-CB3D25780FD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06177" y="1925636"/>
            <a:ext cx="727075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420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6617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84744" y="6480175"/>
            <a:ext cx="229431" cy="216000"/>
          </a:xfrm>
        </p:spPr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322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248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4175" y="1925637"/>
            <a:ext cx="684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23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2620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oxe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37978F-B82C-43FD-83FD-6C5528177445}"/>
              </a:ext>
            </a:extLst>
          </p:cNvPr>
          <p:cNvCxnSpPr/>
          <p:nvPr userDrawn="1"/>
        </p:nvCxnSpPr>
        <p:spPr>
          <a:xfrm>
            <a:off x="4138811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9591C-D839-480D-87AF-CCA3E39A8A12}"/>
              </a:ext>
            </a:extLst>
          </p:cNvPr>
          <p:cNvCxnSpPr/>
          <p:nvPr userDrawn="1"/>
        </p:nvCxnSpPr>
        <p:spPr>
          <a:xfrm>
            <a:off x="8053189" y="2779713"/>
            <a:ext cx="0" cy="349330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9CDDD6-A4E2-4D4C-82F0-B33A9971E1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8222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229F3904-BD90-4349-B787-82A3653EBE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2600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D5749C8-BCF0-41ED-BD1F-0512A23DA9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06978" y="1925638"/>
            <a:ext cx="3606800" cy="694800"/>
          </a:xfrm>
          <a:solidFill>
            <a:schemeClr val="accent1"/>
          </a:solidFill>
        </p:spPr>
        <p:txBody>
          <a:bodyPr lIns="180000" tIns="144000" rIns="180000" bIns="144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7" name="Picture 16" descr="A close up of smoke&#10;&#10;Description automatically generated">
            <a:extLst>
              <a:ext uri="{FF2B5EF4-FFF2-40B4-BE49-F238E27FC236}">
                <a16:creationId xmlns:a16="http://schemas.microsoft.com/office/drawing/2014/main" id="{5F203263-769C-4C12-9223-2001699512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096" y="2098506"/>
            <a:ext cx="163429" cy="346582"/>
          </a:xfrm>
          <a:prstGeom prst="rect">
            <a:avLst/>
          </a:prstGeom>
        </p:spPr>
      </p:pic>
      <p:pic>
        <p:nvPicPr>
          <p:cNvPr id="18" name="Picture 17" descr="A close up of smoke&#10;&#10;Description automatically generated">
            <a:extLst>
              <a:ext uri="{FF2B5EF4-FFF2-40B4-BE49-F238E27FC236}">
                <a16:creationId xmlns:a16="http://schemas.microsoft.com/office/drawing/2014/main" id="{67406F93-4853-495C-80C0-0EF6FE29A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474" y="2100987"/>
            <a:ext cx="163429" cy="346582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2CA29D-86D5-4B12-95E3-E5BA1462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1F82BA5-FD67-413D-BACC-18EB0523651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2202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D09D3E6-36C0-430F-BA84-5003F9B4225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206579" y="2779714"/>
            <a:ext cx="3607594" cy="3602036"/>
          </a:xfrm>
        </p:spPr>
        <p:txBody>
          <a:bodyPr/>
          <a:lstStyle>
            <a:lvl4pPr marL="324000" indent="-108000">
              <a:buFont typeface="Arial" panose="020B0604020202020204" pitchFamily="34" charset="0"/>
              <a:buChar char="•"/>
              <a:defRPr sz="1200">
                <a:solidFill>
                  <a:schemeClr val="accent4"/>
                </a:solidFill>
                <a:latin typeface="+mn-lt"/>
              </a:defRPr>
            </a:lvl4pPr>
            <a:lvl5pPr marL="432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294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19" y="1925637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49797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175" y="1925636"/>
            <a:ext cx="315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C72693-AE5F-44C4-B2DE-80193159B35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82ACADA-0A45-42F9-8B5C-1E169DE39EC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92600" y="1920800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CC5F8C-C4D5-42BB-A445-BB440A06A61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7374" y="191596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49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1EC3B-740E-41C3-AEB5-04C5501D3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DCF90C-1CF9-4401-9944-53FD3BC1F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B715D9-46C4-453C-9232-C5958522C1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5A29A8-85A5-46D8-8F53-96CD2CDDBF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924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C93332-FCA3-4054-A844-0AC0A2544D34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E31740A-5FDE-47A1-9976-336C07974D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2FACF5-A60D-44FC-A578-FD005792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1925637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F58283-0844-453D-BCD6-1587B2F3A9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229EF1-E5AB-4685-BF30-7C661BA29DC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1925636"/>
            <a:ext cx="3607594" cy="4456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149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1925637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49942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2059" y="1925636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94175" y="1925635"/>
            <a:ext cx="2520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1151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825" y="1925637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35942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08059" y="1925636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780175" y="1925635"/>
            <a:ext cx="2034000" cy="4456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91B5C024-3D37-40F2-9B81-1690BB31914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21F0D55-5210-49B5-B56F-CE30A8FB3C3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48188" y="192563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D09EB75-7828-4D9E-BDD9-CAE3A50CAFE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18550" y="1925632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029A3F0B-03EF-4E97-80EA-26AA53F30F6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88912" y="1925629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4764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2779714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71942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66059" y="2779713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0D3F88-0323-4B6F-A103-01F202829C3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60175" y="2779712"/>
            <a:ext cx="2754000" cy="3602036"/>
          </a:xfrm>
          <a:solidFill>
            <a:srgbClr val="F7F7F7"/>
          </a:solidFill>
        </p:spPr>
        <p:txBody>
          <a:bodyPr lIns="288000" tIns="216000" rIns="288000" bIns="216000"/>
          <a:lstStyle>
            <a:lvl2pPr marL="108000" indent="-108000">
              <a:spcAft>
                <a:spcPts val="16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075B33-7825-4C60-862C-61A603CFC7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825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E2CDC91-E304-418C-A9D7-28AC6287D3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71629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E66F7D4-5CDC-4402-A280-84C231E68B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5433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C7CB55E-AF72-47A4-A35E-3697A3A877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59237" y="1925638"/>
            <a:ext cx="2754313" cy="694800"/>
          </a:xfrm>
          <a:solidFill>
            <a:schemeClr val="accent1"/>
          </a:solidFill>
        </p:spPr>
        <p:txBody>
          <a:bodyPr lIns="288000" rIns="28800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1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7825" y="1925637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3B90707-AB72-4BDF-AD03-5CEFF13586D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25638"/>
            <a:ext cx="0" cy="4456112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EA5DCD-04DC-4410-9C6C-9AFCE3FEC069}"/>
              </a:ext>
            </a:extLst>
          </p:cNvPr>
          <p:cNvCxnSpPr>
            <a:cxnSpLocks/>
          </p:cNvCxnSpPr>
          <p:nvPr userDrawn="1"/>
        </p:nvCxnSpPr>
        <p:spPr>
          <a:xfrm>
            <a:off x="6325431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F22CA-E663-4B76-9B81-CB354FFB6727}"/>
              </a:ext>
            </a:extLst>
          </p:cNvPr>
          <p:cNvCxnSpPr>
            <a:cxnSpLocks/>
          </p:cNvCxnSpPr>
          <p:nvPr userDrawn="1"/>
        </p:nvCxnSpPr>
        <p:spPr>
          <a:xfrm>
            <a:off x="377824" y="4153694"/>
            <a:ext cx="5490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7825" y="4381945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177" y="1925638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177" y="4381946"/>
            <a:ext cx="5488744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2102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Tiled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80BA-CC8A-4013-9EA0-65BE6D1C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952D-165E-4422-B6F7-2DAF9380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8CF89-19F1-4619-8CFD-01598536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262D2-A268-4FAE-B4EE-0E28085A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A7D77E-10EA-40B5-8684-ECAAEB109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127" y="1925637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E28A2BE-C86F-4838-BC49-91E5E5418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9127" y="4381945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D42EF75-B0F1-4A74-B0FB-F2AF125C26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5479" y="1925638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0D7A43-F952-4A55-9F18-63C521552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5479" y="4381946"/>
            <a:ext cx="5107442" cy="18699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574B2E4-A6F8-41FA-8F1F-ECC21521DE3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77826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EF4EAA21-6775-4363-955A-9F4F38C86A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4179" y="1925638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1FCF0DB0-8AF6-4AF8-9F54-BB3F00A8418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7826" y="4381945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BEBAAB19-15C5-44ED-923E-1ADCA4C004F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24179" y="4381944"/>
            <a:ext cx="381300" cy="854075"/>
          </a:xfrm>
        </p:spPr>
        <p:txBody>
          <a:bodyPr/>
          <a:lstStyle>
            <a:lvl1pPr>
              <a:defRPr sz="2750">
                <a:latin typeface="+mj-lt"/>
              </a:defRPr>
            </a:lvl1pPr>
          </a:lstStyle>
          <a:p>
            <a:pPr lvl="0"/>
            <a:r>
              <a:rPr lang="en-US"/>
              <a:t>0.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3688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25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56CAA8-120B-4156-BBDE-C14811D308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2203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AB32A-202F-4B4E-8290-6DE17E9C1F9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6581" y="3981600"/>
            <a:ext cx="3607594" cy="2400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EA4881-2F50-4460-9F83-A86DF033A1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825" y="1934308"/>
            <a:ext cx="11436350" cy="173043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09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8"/>
            <a:ext cx="4588975" cy="35377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5718175" cy="353774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58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2439194"/>
            <a:ext cx="424620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2175" y="2439194"/>
            <a:ext cx="5562000" cy="302418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744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5200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825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5419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719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825" y="1925637"/>
            <a:ext cx="4588975" cy="360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F55C70-09CB-44D7-B3B4-B2ED40D94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788" y="1925638"/>
            <a:ext cx="3607200" cy="1981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73D2010-09BB-46C7-9406-54716849A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4988" y="3907438"/>
            <a:ext cx="2260800" cy="1620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496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/Quot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EE9-0A7F-4479-B507-8B8082AF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1227932"/>
            <a:ext cx="7839930" cy="4265503"/>
          </a:xfrm>
        </p:spPr>
        <p:txBody>
          <a:bodyPr anchor="t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A2D68-35A0-4566-A489-A0DCE0C9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03DFB-39D8-48D7-A3E4-B542813D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22642-328A-4E13-BB21-565845D7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F44323-8293-4E23-A6B5-4D0708D49A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40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9468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37987-1AD3-4039-8514-9AA51B6AE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4FE8-85DD-4774-B156-40911633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D9EA-C0CB-423E-8DFD-5E715DE60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3D5960-80D4-439D-8094-03612E34E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878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9468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4590000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3989A-470D-4F86-A2CA-04215DCCB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3C79-2FC5-49E8-8C90-CC225D4F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714B-66A6-4215-944E-86DD4151B4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A1A0F-C6CA-4F6F-8953-9596A60088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07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378816"/>
            <a:ext cx="9468000" cy="3214286"/>
          </a:xfrm>
        </p:spPr>
        <p:txBody>
          <a:bodyPr anchor="ctr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B2F867-80D5-4072-B066-D1FABDA98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75C83-E75A-4761-ABDB-78F33525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F4E22-A15E-451C-BD46-064AFF4BC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AA1092-F75A-4EB7-AC2B-8FEF9EE4A2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993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1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0B42C7-DCFF-4F4E-A97A-71EE05490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D11F-FD96-47DA-A915-74520DF810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4C3B1-C6F3-47F5-BA77-FFE7372DA8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E0B3B3-9BB5-4470-956F-236800F47A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24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52000" y="0"/>
            <a:ext cx="4140000" cy="438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4384800"/>
            <a:ext cx="1956000" cy="19969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99D0098-87B4-4DED-9DA5-AD58D81E0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5E86F-6198-45AB-BCDD-FC6699753BC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BF005-0053-4482-9A86-685DBCA590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618472-B8D7-464E-B372-FF2A740B9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53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F22C6B2-3601-40B5-A63A-084FE28E5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35000" y="-1"/>
            <a:ext cx="4140000" cy="3595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BD02FF6-E8C6-4907-A5E5-4B6BC6327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275000" y="3595125"/>
            <a:ext cx="1917000" cy="170587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1798D99-AE73-44D3-BA8B-DA609105C4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30400" y="5301000"/>
            <a:ext cx="1344600" cy="1080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71E62B2-11ED-4F53-987A-D7C7F8C57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744A4-A844-44EE-8999-4199B276ED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4500E-998D-49D0-800E-1C1C50531D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7985A5-3618-40EE-981C-E43FBCBC1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423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7932"/>
            <a:ext cx="4590000" cy="2152469"/>
          </a:xfrm>
        </p:spPr>
        <p:txBody>
          <a:bodyPr anchor="b"/>
          <a:lstStyle>
            <a:lvl1pPr>
              <a:defRPr sz="575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73E7B15-B6FE-4A26-B618-7F1B832EE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2525-AB43-49B8-8347-B08BBD12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EFF27-0AA0-4416-981F-E6A4670CC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55418-A8D6-42B5-B9B8-13546F6F4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988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nk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5" y="1228725"/>
            <a:ext cx="4590000" cy="2151675"/>
          </a:xfrm>
        </p:spPr>
        <p:txBody>
          <a:bodyPr anchor="b"/>
          <a:lstStyle>
            <a:lvl1pPr>
              <a:defRPr sz="5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3465000"/>
            <a:ext cx="3608388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A5D602-19E5-4AD7-A798-9ABA97C8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2A05-C8DE-4BB6-A2EE-0A5AA8C5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3DA65-402A-4130-BFAD-85ADF5B74F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DB83B4-4698-4581-A9DE-ED05FAEA5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5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349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336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204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A1C0D48-6745-44FE-81AC-9E3EB1E2DEC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336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62FA97E8-4519-4739-B895-55612F78257D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B5432D3A-C3C9-4B63-96CD-241A721F138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204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36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CE95CF4-5CBF-4291-A2EE-D5DE9E6B9DF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36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5D1BABBE-6978-4D02-8163-974D5CE637C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6638213F-5B32-4E08-8CF4-7C45D4AFBD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204400" y="571418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92508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n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D4B-0143-44B2-AF27-F38BEA0C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377825"/>
            <a:ext cx="11436350" cy="8501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FDAD9-6320-48A9-B45C-F84E2C98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55E69-8D16-4484-9996-C9113A31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07556-384E-4545-9AB5-A0F93C78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95A2FD-1DC7-4D29-86A8-51D546E3A2C4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3590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37F4A05-B3B3-429B-B6AF-4AAC8FF0B59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3147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7E5C1B1-79BD-4C2B-8DF6-AAAFDC31D4E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52704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A0F457-BA31-458F-B36F-869F673ADA6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590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C675381-77C0-419D-99B9-16471F4F9A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47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33EE2B0-3C6A-4F7E-BD70-00D5834A15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04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F0F2B2CB-3337-458C-8742-CD64EDBB5A7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72261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06226EB7-DC79-4415-9F31-120925FC7DB0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181800" y="1925638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8BD9D58A-9730-4689-82FF-3880AD4EB5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61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4FA9470-3E08-4A55-BB56-6A291847C1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81800" y="3576238"/>
            <a:ext cx="1650600" cy="252000"/>
          </a:xfrm>
        </p:spPr>
        <p:txBody>
          <a:bodyPr anchor="ctr"/>
          <a:lstStyle>
            <a:lvl1pPr algn="ctr"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74F72C97-0B91-4D13-BC93-502C0DDA63D5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3590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CA834CB8-8309-40CC-85CB-E847DDFEAA88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3147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A434F088-0196-49C1-B53B-EC3AFBDEA6FB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52704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AFE4E092-B0F3-402B-9C53-055B7286B5B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590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D0EEFE8D-FB7E-4184-B179-6802E6985B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147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3E886F9-8EBE-418C-A9C2-637AD066021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704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4E3663E3-789A-40E1-BABF-D31E612525FE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72261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36EF7152-E16E-465A-A125-AF45D3A0E37A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9181800" y="4053600"/>
            <a:ext cx="1650600" cy="1650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01E7611-82DD-4924-934D-F8701B5CD98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2261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5E1CA1F3-9B65-483E-B0E7-D4BB7ACD4F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81800" y="5714188"/>
            <a:ext cx="1650600" cy="252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47921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1"/>
            <a:ext cx="3600000" cy="13777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D3EE21-B105-4761-ACD1-C5BEE2805BD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4175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1814175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7436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1B9233A-DF33-49E3-8950-75A72BB6AB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77600" y="4597200"/>
            <a:ext cx="3314400" cy="2260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5004000"/>
            <a:ext cx="3600000" cy="137849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6000" y="5004000"/>
            <a:ext cx="3600000" cy="1377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8877600" cy="45972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CF7A6AE-FA80-4C09-887C-D512261AA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3120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5419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754" y="1387799"/>
            <a:ext cx="3596421" cy="1220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17754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29AAB2-BFFE-4231-81D6-7950E02D2C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277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7F3E19A-DFC7-42BB-8D77-9CC547ED65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17754" y="0"/>
            <a:ext cx="7200000" cy="638175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3E1F-B93C-43BE-95FC-0E6BE53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387800"/>
            <a:ext cx="3596421" cy="12217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10F0D-A983-4160-86AD-209E0D3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525F3-B2B6-4542-956B-C67A77F16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2B12-C03F-4C3B-A37D-2ABAB8B6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6427B-9B77-48C4-9A8F-FDA993BC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000" y="2778919"/>
            <a:ext cx="3600000" cy="3602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2F996A-EF8B-470C-B19C-614AB955A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900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and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30EF0-1BA1-49CF-B35E-118E146B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08C3D-9B0C-4E74-9AB5-9E79B445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ACBD4-335A-44B8-985A-019168B9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29767D4-6CBA-4EAD-AEB1-73F0D103F5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472" y="-3332"/>
            <a:ext cx="12192632" cy="6861331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0" fmla="*/ 0 w 9144000"/>
              <a:gd name="connsiteY0" fmla="*/ 4334 h 6862334"/>
              <a:gd name="connsiteX1" fmla="*/ 3826612 w 9144000"/>
              <a:gd name="connsiteY1" fmla="*/ 0 h 6862334"/>
              <a:gd name="connsiteX2" fmla="*/ 9144000 w 9144000"/>
              <a:gd name="connsiteY2" fmla="*/ 4334 h 6862334"/>
              <a:gd name="connsiteX3" fmla="*/ 9144000 w 9144000"/>
              <a:gd name="connsiteY3" fmla="*/ 6862334 h 6862334"/>
              <a:gd name="connsiteX4" fmla="*/ 0 w 9144000"/>
              <a:gd name="connsiteY4" fmla="*/ 6862334 h 6862334"/>
              <a:gd name="connsiteX5" fmla="*/ 0 w 9144000"/>
              <a:gd name="connsiteY5" fmla="*/ 4334 h 6862334"/>
              <a:gd name="connsiteX0" fmla="*/ 4334 w 9148334"/>
              <a:gd name="connsiteY0" fmla="*/ 4334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4334 w 9148334"/>
              <a:gd name="connsiteY6" fmla="*/ 4334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8607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8607 h 6862334"/>
              <a:gd name="connsiteX0" fmla="*/ 3826612 w 9148334"/>
              <a:gd name="connsiteY0" fmla="*/ 3744700 h 6862334"/>
              <a:gd name="connsiteX1" fmla="*/ 3830946 w 9148334"/>
              <a:gd name="connsiteY1" fmla="*/ 0 h 6862334"/>
              <a:gd name="connsiteX2" fmla="*/ 9148334 w 9148334"/>
              <a:gd name="connsiteY2" fmla="*/ 4334 h 6862334"/>
              <a:gd name="connsiteX3" fmla="*/ 9148334 w 9148334"/>
              <a:gd name="connsiteY3" fmla="*/ 6862334 h 6862334"/>
              <a:gd name="connsiteX4" fmla="*/ 4334 w 9148334"/>
              <a:gd name="connsiteY4" fmla="*/ 6862334 h 6862334"/>
              <a:gd name="connsiteX5" fmla="*/ 0 w 9148334"/>
              <a:gd name="connsiteY5" fmla="*/ 3744273 h 6862334"/>
              <a:gd name="connsiteX6" fmla="*/ 3826612 w 9148334"/>
              <a:gd name="connsiteY6" fmla="*/ 3744700 h 6862334"/>
              <a:gd name="connsiteX0" fmla="*/ 3822752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22752 w 9144474"/>
              <a:gd name="connsiteY6" fmla="*/ 3744700 h 6862334"/>
              <a:gd name="connsiteX0" fmla="*/ 3818844 w 9144474"/>
              <a:gd name="connsiteY0" fmla="*/ 3744700 h 6862334"/>
              <a:gd name="connsiteX1" fmla="*/ 3827086 w 9144474"/>
              <a:gd name="connsiteY1" fmla="*/ 0 h 6862334"/>
              <a:gd name="connsiteX2" fmla="*/ 9144474 w 9144474"/>
              <a:gd name="connsiteY2" fmla="*/ 4334 h 6862334"/>
              <a:gd name="connsiteX3" fmla="*/ 9144474 w 9144474"/>
              <a:gd name="connsiteY3" fmla="*/ 6862334 h 6862334"/>
              <a:gd name="connsiteX4" fmla="*/ 474 w 9144474"/>
              <a:gd name="connsiteY4" fmla="*/ 6862334 h 6862334"/>
              <a:gd name="connsiteX5" fmla="*/ 48 w 9144474"/>
              <a:gd name="connsiteY5" fmla="*/ 3744273 h 6862334"/>
              <a:gd name="connsiteX6" fmla="*/ 3818844 w 9144474"/>
              <a:gd name="connsiteY6" fmla="*/ 3744700 h 6862334"/>
              <a:gd name="connsiteX0" fmla="*/ 3818844 w 9144474"/>
              <a:gd name="connsiteY0" fmla="*/ 3740792 h 6858426"/>
              <a:gd name="connsiteX1" fmla="*/ 3819270 w 9144474"/>
              <a:gd name="connsiteY1" fmla="*/ 0 h 6858426"/>
              <a:gd name="connsiteX2" fmla="*/ 9144474 w 9144474"/>
              <a:gd name="connsiteY2" fmla="*/ 426 h 6858426"/>
              <a:gd name="connsiteX3" fmla="*/ 9144474 w 9144474"/>
              <a:gd name="connsiteY3" fmla="*/ 6858426 h 6858426"/>
              <a:gd name="connsiteX4" fmla="*/ 474 w 9144474"/>
              <a:gd name="connsiteY4" fmla="*/ 6858426 h 6858426"/>
              <a:gd name="connsiteX5" fmla="*/ 48 w 9144474"/>
              <a:gd name="connsiteY5" fmla="*/ 3740365 h 6858426"/>
              <a:gd name="connsiteX6" fmla="*/ 3818844 w 9144474"/>
              <a:gd name="connsiteY6" fmla="*/ 3740792 h 6858426"/>
              <a:gd name="connsiteX0" fmla="*/ 3818844 w 12163899"/>
              <a:gd name="connsiteY0" fmla="*/ 3740792 h 6858426"/>
              <a:gd name="connsiteX1" fmla="*/ 3819270 w 12163899"/>
              <a:gd name="connsiteY1" fmla="*/ 0 h 6858426"/>
              <a:gd name="connsiteX2" fmla="*/ 12163899 w 12163899"/>
              <a:gd name="connsiteY2" fmla="*/ 426 h 6858426"/>
              <a:gd name="connsiteX3" fmla="*/ 9144474 w 12163899"/>
              <a:gd name="connsiteY3" fmla="*/ 6858426 h 6858426"/>
              <a:gd name="connsiteX4" fmla="*/ 474 w 12163899"/>
              <a:gd name="connsiteY4" fmla="*/ 6858426 h 6858426"/>
              <a:gd name="connsiteX5" fmla="*/ 48 w 12163899"/>
              <a:gd name="connsiteY5" fmla="*/ 3740365 h 6858426"/>
              <a:gd name="connsiteX6" fmla="*/ 3818844 w 12163899"/>
              <a:gd name="connsiteY6" fmla="*/ 3740792 h 6858426"/>
              <a:gd name="connsiteX0" fmla="*/ 3818844 w 12192474"/>
              <a:gd name="connsiteY0" fmla="*/ 3740792 h 6858426"/>
              <a:gd name="connsiteX1" fmla="*/ 3819270 w 12192474"/>
              <a:gd name="connsiteY1" fmla="*/ 0 h 6858426"/>
              <a:gd name="connsiteX2" fmla="*/ 12163899 w 12192474"/>
              <a:gd name="connsiteY2" fmla="*/ 426 h 6858426"/>
              <a:gd name="connsiteX3" fmla="*/ 12192474 w 12192474"/>
              <a:gd name="connsiteY3" fmla="*/ 6858426 h 6858426"/>
              <a:gd name="connsiteX4" fmla="*/ 474 w 12192474"/>
              <a:gd name="connsiteY4" fmla="*/ 6858426 h 6858426"/>
              <a:gd name="connsiteX5" fmla="*/ 48 w 12192474"/>
              <a:gd name="connsiteY5" fmla="*/ 3740365 h 6858426"/>
              <a:gd name="connsiteX6" fmla="*/ 3818844 w 12192474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3696"/>
              <a:gd name="connsiteY0" fmla="*/ 3740792 h 6858426"/>
              <a:gd name="connsiteX1" fmla="*/ 3819270 w 12193696"/>
              <a:gd name="connsiteY1" fmla="*/ 0 h 6858426"/>
              <a:gd name="connsiteX2" fmla="*/ 12193696 w 12193696"/>
              <a:gd name="connsiteY2" fmla="*/ 426 h 6858426"/>
              <a:gd name="connsiteX3" fmla="*/ 12192474 w 12193696"/>
              <a:gd name="connsiteY3" fmla="*/ 6858426 h 6858426"/>
              <a:gd name="connsiteX4" fmla="*/ 474 w 12193696"/>
              <a:gd name="connsiteY4" fmla="*/ 6858426 h 6858426"/>
              <a:gd name="connsiteX5" fmla="*/ 48 w 12193696"/>
              <a:gd name="connsiteY5" fmla="*/ 3740365 h 6858426"/>
              <a:gd name="connsiteX6" fmla="*/ 3818844 w 12193696"/>
              <a:gd name="connsiteY6" fmla="*/ 3740792 h 6858426"/>
              <a:gd name="connsiteX0" fmla="*/ 3818844 w 12192508"/>
              <a:gd name="connsiteY0" fmla="*/ 3740792 h 6858426"/>
              <a:gd name="connsiteX1" fmla="*/ 3819270 w 12192508"/>
              <a:gd name="connsiteY1" fmla="*/ 0 h 6858426"/>
              <a:gd name="connsiteX2" fmla="*/ 12189971 w 12192508"/>
              <a:gd name="connsiteY2" fmla="*/ 426 h 6858426"/>
              <a:gd name="connsiteX3" fmla="*/ 12192474 w 12192508"/>
              <a:gd name="connsiteY3" fmla="*/ 6858426 h 6858426"/>
              <a:gd name="connsiteX4" fmla="*/ 474 w 12192508"/>
              <a:gd name="connsiteY4" fmla="*/ 6858426 h 6858426"/>
              <a:gd name="connsiteX5" fmla="*/ 48 w 12192508"/>
              <a:gd name="connsiteY5" fmla="*/ 3740365 h 6858426"/>
              <a:gd name="connsiteX6" fmla="*/ 3818844 w 12192508"/>
              <a:gd name="connsiteY6" fmla="*/ 3740792 h 6858426"/>
              <a:gd name="connsiteX0" fmla="*/ 3818844 w 12192633"/>
              <a:gd name="connsiteY0" fmla="*/ 3740792 h 6858426"/>
              <a:gd name="connsiteX1" fmla="*/ 3819270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3818844 w 12192633"/>
              <a:gd name="connsiteY0" fmla="*/ 3740366 h 6858000"/>
              <a:gd name="connsiteX1" fmla="*/ 4590795 w 12192633"/>
              <a:gd name="connsiteY1" fmla="*/ 9099 h 6858000"/>
              <a:gd name="connsiteX2" fmla="*/ 12192633 w 12192633"/>
              <a:gd name="connsiteY2" fmla="*/ 0 h 6858000"/>
              <a:gd name="connsiteX3" fmla="*/ 12192474 w 12192633"/>
              <a:gd name="connsiteY3" fmla="*/ 6858000 h 6858000"/>
              <a:gd name="connsiteX4" fmla="*/ 474 w 12192633"/>
              <a:gd name="connsiteY4" fmla="*/ 6858000 h 6858000"/>
              <a:gd name="connsiteX5" fmla="*/ 48 w 12192633"/>
              <a:gd name="connsiteY5" fmla="*/ 3739939 h 6858000"/>
              <a:gd name="connsiteX6" fmla="*/ 3818844 w 12192633"/>
              <a:gd name="connsiteY6" fmla="*/ 3740366 h 6858000"/>
              <a:gd name="connsiteX0" fmla="*/ 3818844 w 12192633"/>
              <a:gd name="connsiteY0" fmla="*/ 374079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3818844 w 12192633"/>
              <a:gd name="connsiteY6" fmla="*/ 3740792 h 6858426"/>
              <a:gd name="connsiteX0" fmla="*/ 4590369 w 12192633"/>
              <a:gd name="connsiteY0" fmla="*/ 4026542 h 6858426"/>
              <a:gd name="connsiteX1" fmla="*/ 4590795 w 12192633"/>
              <a:gd name="connsiteY1" fmla="*/ 0 h 6858426"/>
              <a:gd name="connsiteX2" fmla="*/ 12192633 w 12192633"/>
              <a:gd name="connsiteY2" fmla="*/ 426 h 6858426"/>
              <a:gd name="connsiteX3" fmla="*/ 12192474 w 12192633"/>
              <a:gd name="connsiteY3" fmla="*/ 6858426 h 6858426"/>
              <a:gd name="connsiteX4" fmla="*/ 474 w 12192633"/>
              <a:gd name="connsiteY4" fmla="*/ 6858426 h 6858426"/>
              <a:gd name="connsiteX5" fmla="*/ 48 w 12192633"/>
              <a:gd name="connsiteY5" fmla="*/ 3740365 h 6858426"/>
              <a:gd name="connsiteX6" fmla="*/ 4590369 w 12192633"/>
              <a:gd name="connsiteY6" fmla="*/ 4026542 h 6858426"/>
              <a:gd name="connsiteX0" fmla="*/ 4590017 w 12192281"/>
              <a:gd name="connsiteY0" fmla="*/ 4026542 h 6858426"/>
              <a:gd name="connsiteX1" fmla="*/ 4590443 w 12192281"/>
              <a:gd name="connsiteY1" fmla="*/ 0 h 6858426"/>
              <a:gd name="connsiteX2" fmla="*/ 12192281 w 12192281"/>
              <a:gd name="connsiteY2" fmla="*/ 426 h 6858426"/>
              <a:gd name="connsiteX3" fmla="*/ 12192122 w 12192281"/>
              <a:gd name="connsiteY3" fmla="*/ 6858426 h 6858426"/>
              <a:gd name="connsiteX4" fmla="*/ 122 w 12192281"/>
              <a:gd name="connsiteY4" fmla="*/ 6858426 h 6858426"/>
              <a:gd name="connsiteX5" fmla="*/ 9221 w 12192281"/>
              <a:gd name="connsiteY5" fmla="*/ 4054690 h 6858426"/>
              <a:gd name="connsiteX6" fmla="*/ 4590017 w 12192281"/>
              <a:gd name="connsiteY6" fmla="*/ 4026542 h 6858426"/>
              <a:gd name="connsiteX0" fmla="*/ 4590368 w 12192632"/>
              <a:gd name="connsiteY0" fmla="*/ 402654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26542 h 6858426"/>
              <a:gd name="connsiteX0" fmla="*/ 4590368 w 12192632"/>
              <a:gd name="connsiteY0" fmla="*/ 403606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36067 h 6858426"/>
              <a:gd name="connsiteX0" fmla="*/ 4590368 w 12192632"/>
              <a:gd name="connsiteY0" fmla="*/ 4045592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5592 h 6858426"/>
              <a:gd name="connsiteX0" fmla="*/ 4590368 w 12192632"/>
              <a:gd name="connsiteY0" fmla="*/ 4055117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55117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54690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4696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90794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90368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90368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1793 h 6858426"/>
              <a:gd name="connsiteX1" fmla="*/ 4587462 w 12192632"/>
              <a:gd name="connsiteY1" fmla="*/ 0 h 6858426"/>
              <a:gd name="connsiteX2" fmla="*/ 12192632 w 12192632"/>
              <a:gd name="connsiteY2" fmla="*/ 426 h 6858426"/>
              <a:gd name="connsiteX3" fmla="*/ 12192473 w 12192632"/>
              <a:gd name="connsiteY3" fmla="*/ 6858426 h 6858426"/>
              <a:gd name="connsiteX4" fmla="*/ 473 w 12192632"/>
              <a:gd name="connsiteY4" fmla="*/ 6858426 h 6858426"/>
              <a:gd name="connsiteX5" fmla="*/ 47 w 12192632"/>
              <a:gd name="connsiteY5" fmla="*/ 4041365 h 6858426"/>
              <a:gd name="connsiteX6" fmla="*/ 4587036 w 12192632"/>
              <a:gd name="connsiteY6" fmla="*/ 4041793 h 6858426"/>
              <a:gd name="connsiteX0" fmla="*/ 4587036 w 12192632"/>
              <a:gd name="connsiteY0" fmla="*/ 4044698 h 6861331"/>
              <a:gd name="connsiteX1" fmla="*/ 4587462 w 12192632"/>
              <a:gd name="connsiteY1" fmla="*/ 2905 h 6861331"/>
              <a:gd name="connsiteX2" fmla="*/ 12192632 w 12192632"/>
              <a:gd name="connsiteY2" fmla="*/ 0 h 6861331"/>
              <a:gd name="connsiteX3" fmla="*/ 12192473 w 12192632"/>
              <a:gd name="connsiteY3" fmla="*/ 6861331 h 6861331"/>
              <a:gd name="connsiteX4" fmla="*/ 473 w 12192632"/>
              <a:gd name="connsiteY4" fmla="*/ 6861331 h 6861331"/>
              <a:gd name="connsiteX5" fmla="*/ 47 w 12192632"/>
              <a:gd name="connsiteY5" fmla="*/ 4044270 h 6861331"/>
              <a:gd name="connsiteX6" fmla="*/ 4587036 w 12192632"/>
              <a:gd name="connsiteY6" fmla="*/ 4044698 h 6861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32" h="6861331">
                <a:moveTo>
                  <a:pt x="4587036" y="4044698"/>
                </a:moveTo>
                <a:cubicBezTo>
                  <a:pt x="4588481" y="2795162"/>
                  <a:pt x="4586017" y="1252441"/>
                  <a:pt x="4587462" y="2905"/>
                </a:cubicBezTo>
                <a:lnTo>
                  <a:pt x="12192632" y="0"/>
                </a:lnTo>
                <a:cubicBezTo>
                  <a:pt x="12192225" y="2286000"/>
                  <a:pt x="12192880" y="4575331"/>
                  <a:pt x="12192473" y="6861331"/>
                </a:cubicBezTo>
                <a:lnTo>
                  <a:pt x="473" y="6861331"/>
                </a:lnTo>
                <a:cubicBezTo>
                  <a:pt x="-972" y="5821977"/>
                  <a:pt x="1492" y="5083624"/>
                  <a:pt x="47" y="4044270"/>
                </a:cubicBezTo>
                <a:lnTo>
                  <a:pt x="4587036" y="404469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7F807A-F369-4FBC-B5EB-675732DA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98" y="377826"/>
            <a:ext cx="3860802" cy="30511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8693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4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0A01-DDD8-40C4-8091-30F2078FD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C3F16-B816-4EDA-91D0-6F39180C10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354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ED25-48F6-4AA3-8101-076C3DE23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4D8D6-9B83-4B48-B8BA-B8908EAA6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952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A8FB-C22C-4816-B876-7FE31AE5B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91510-3C20-412D-A078-1E4C575512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73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E57F7F5-FC77-425E-A2A6-DDD1D50110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7175" y="377825"/>
            <a:ext cx="5157000" cy="39816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BD5DBD-2FA9-4215-9F27-75581AAE1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A93B3-E055-4858-9A45-84EE75DE5C27}"/>
              </a:ext>
            </a:extLst>
          </p:cNvPr>
          <p:cNvSpPr/>
          <p:nvPr userDrawn="1"/>
        </p:nvSpPr>
        <p:spPr>
          <a:xfrm>
            <a:off x="11814175" y="-175"/>
            <a:ext cx="378000" cy="37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6C4A4-DF29-478E-9317-46F97AE65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547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25" y="2952000"/>
            <a:ext cx="4932000" cy="1503000"/>
          </a:xfrm>
        </p:spPr>
        <p:txBody>
          <a:bodyPr anchor="t"/>
          <a:lstStyle>
            <a:lvl1pPr algn="l">
              <a:defRPr sz="575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9BCDAA-3E86-4330-AE34-33DA3205BC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5011200"/>
            <a:ext cx="3607594" cy="1370550"/>
          </a:xfrm>
        </p:spPr>
        <p:txBody>
          <a:bodyPr anchor="b"/>
          <a:lstStyle>
            <a:lvl1pPr>
              <a:spcAft>
                <a:spcPts val="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None/>
              <a:defRPr sz="1200" b="1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4920EE-2A7C-44F3-99E1-0A99C5AA9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19B1F-62DB-4F9A-A399-9A062D6B27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25" y="377825"/>
            <a:ext cx="1602538" cy="5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902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1468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380D-5F44-41E8-971E-CDD19ED6F8E3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543380-1CBA-418A-AA1A-23C03A138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185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Te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4">
            <a:extLst>
              <a:ext uri="{FF2B5EF4-FFF2-40B4-BE49-F238E27FC236}">
                <a16:creationId xmlns:a16="http://schemas.microsoft.com/office/drawing/2014/main" id="{91FE0E31-D28A-483A-8E8D-D75FA4AD72F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0" cy="1363375"/>
            <a:chOff x="0" y="1321"/>
            <a:chExt cx="5760" cy="1678"/>
          </a:xfrm>
          <a:solidFill>
            <a:schemeClr val="bg1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2A10299-9B1E-409C-849A-0A4F3F2350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75F8D0A-6793-4ED9-8E04-27C70C04CE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124790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4">
            <a:extLst>
              <a:ext uri="{FF2B5EF4-FFF2-40B4-BE49-F238E27FC236}">
                <a16:creationId xmlns:a16="http://schemas.microsoft.com/office/drawing/2014/main" id="{83090E8D-909D-40BB-B419-7229490FB63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0" cy="1363375"/>
            <a:chOff x="0" y="1321"/>
            <a:chExt cx="5760" cy="1678"/>
          </a:xfrm>
          <a:solidFill>
            <a:schemeClr val="bg1"/>
          </a:solidFill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BC0F81D3-7DDD-494A-A3A5-8A4229D595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DD381674-1DAE-4039-A4C7-2D1ED64EE4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53968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BBAE651-35F9-40D5-8296-C77C4FDB56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86400" y="2674800"/>
            <a:ext cx="4680002" cy="1363375"/>
            <a:chOff x="0" y="1321"/>
            <a:chExt cx="5760" cy="167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FCE3D8A-D7FC-43FD-9355-EAAA6B74C0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18" y="1636"/>
              <a:ext cx="3642" cy="1087"/>
            </a:xfrm>
            <a:custGeom>
              <a:avLst/>
              <a:gdLst>
                <a:gd name="T0" fmla="*/ 673 w 3966"/>
                <a:gd name="T1" fmla="*/ 114 h 1183"/>
                <a:gd name="T2" fmla="*/ 956 w 3966"/>
                <a:gd name="T3" fmla="*/ 114 h 1183"/>
                <a:gd name="T4" fmla="*/ 956 w 3966"/>
                <a:gd name="T5" fmla="*/ 1027 h 1183"/>
                <a:gd name="T6" fmla="*/ 746 w 3966"/>
                <a:gd name="T7" fmla="*/ 1027 h 1183"/>
                <a:gd name="T8" fmla="*/ 746 w 3966"/>
                <a:gd name="T9" fmla="*/ 413 h 1183"/>
                <a:gd name="T10" fmla="*/ 478 w 3966"/>
                <a:gd name="T11" fmla="*/ 1027 h 1183"/>
                <a:gd name="T12" fmla="*/ 195 w 3966"/>
                <a:gd name="T13" fmla="*/ 412 h 1183"/>
                <a:gd name="T14" fmla="*/ 195 w 3966"/>
                <a:gd name="T15" fmla="*/ 1027 h 1183"/>
                <a:gd name="T16" fmla="*/ 0 w 3966"/>
                <a:gd name="T17" fmla="*/ 1027 h 1183"/>
                <a:gd name="T18" fmla="*/ 0 w 3966"/>
                <a:gd name="T19" fmla="*/ 114 h 1183"/>
                <a:gd name="T20" fmla="*/ 279 w 3966"/>
                <a:gd name="T21" fmla="*/ 114 h 1183"/>
                <a:gd name="T22" fmla="*/ 481 w 3966"/>
                <a:gd name="T23" fmla="*/ 586 h 1183"/>
                <a:gd name="T24" fmla="*/ 673 w 3966"/>
                <a:gd name="T25" fmla="*/ 114 h 1183"/>
                <a:gd name="T26" fmla="*/ 1061 w 3966"/>
                <a:gd name="T27" fmla="*/ 114 h 1183"/>
                <a:gd name="T28" fmla="*/ 1061 w 3966"/>
                <a:gd name="T29" fmla="*/ 1027 h 1183"/>
                <a:gd name="T30" fmla="*/ 1588 w 3966"/>
                <a:gd name="T31" fmla="*/ 1027 h 1183"/>
                <a:gd name="T32" fmla="*/ 1588 w 3966"/>
                <a:gd name="T33" fmla="*/ 873 h 1183"/>
                <a:gd name="T34" fmla="*/ 1266 w 3966"/>
                <a:gd name="T35" fmla="*/ 873 h 1183"/>
                <a:gd name="T36" fmla="*/ 1266 w 3966"/>
                <a:gd name="T37" fmla="*/ 641 h 1183"/>
                <a:gd name="T38" fmla="*/ 1575 w 3966"/>
                <a:gd name="T39" fmla="*/ 641 h 1183"/>
                <a:gd name="T40" fmla="*/ 1575 w 3966"/>
                <a:gd name="T41" fmla="*/ 484 h 1183"/>
                <a:gd name="T42" fmla="*/ 1266 w 3966"/>
                <a:gd name="T43" fmla="*/ 484 h 1183"/>
                <a:gd name="T44" fmla="*/ 1266 w 3966"/>
                <a:gd name="T45" fmla="*/ 274 h 1183"/>
                <a:gd name="T46" fmla="*/ 1588 w 3966"/>
                <a:gd name="T47" fmla="*/ 274 h 1183"/>
                <a:gd name="T48" fmla="*/ 1588 w 3966"/>
                <a:gd name="T49" fmla="*/ 114 h 1183"/>
                <a:gd name="T50" fmla="*/ 1061 w 3966"/>
                <a:gd name="T51" fmla="*/ 114 h 1183"/>
                <a:gd name="T52" fmla="*/ 2375 w 3966"/>
                <a:gd name="T53" fmla="*/ 571 h 1183"/>
                <a:gd name="T54" fmla="*/ 3104 w 3966"/>
                <a:gd name="T55" fmla="*/ 1002 h 1183"/>
                <a:gd name="T56" fmla="*/ 3104 w 3966"/>
                <a:gd name="T57" fmla="*/ 806 h 1183"/>
                <a:gd name="T58" fmla="*/ 2569 w 3966"/>
                <a:gd name="T59" fmla="*/ 580 h 1183"/>
                <a:gd name="T60" fmla="*/ 2869 w 3966"/>
                <a:gd name="T61" fmla="*/ 275 h 1183"/>
                <a:gd name="T62" fmla="*/ 3104 w 3966"/>
                <a:gd name="T63" fmla="*/ 364 h 1183"/>
                <a:gd name="T64" fmla="*/ 3104 w 3966"/>
                <a:gd name="T65" fmla="*/ 161 h 1183"/>
                <a:gd name="T66" fmla="*/ 2375 w 3966"/>
                <a:gd name="T67" fmla="*/ 571 h 1183"/>
                <a:gd name="T68" fmla="*/ 3190 w 3966"/>
                <a:gd name="T69" fmla="*/ 1027 h 1183"/>
                <a:gd name="T70" fmla="*/ 3385 w 3966"/>
                <a:gd name="T71" fmla="*/ 1027 h 1183"/>
                <a:gd name="T72" fmla="*/ 3385 w 3966"/>
                <a:gd name="T73" fmla="*/ 114 h 1183"/>
                <a:gd name="T74" fmla="*/ 3190 w 3966"/>
                <a:gd name="T75" fmla="*/ 114 h 1183"/>
                <a:gd name="T76" fmla="*/ 3190 w 3966"/>
                <a:gd name="T77" fmla="*/ 1027 h 1183"/>
                <a:gd name="T78" fmla="*/ 3629 w 3966"/>
                <a:gd name="T79" fmla="*/ 538 h 1183"/>
                <a:gd name="T80" fmla="*/ 3931 w 3966"/>
                <a:gd name="T81" fmla="*/ 114 h 1183"/>
                <a:gd name="T82" fmla="*/ 3703 w 3966"/>
                <a:gd name="T83" fmla="*/ 114 h 1183"/>
                <a:gd name="T84" fmla="*/ 3405 w 3966"/>
                <a:gd name="T85" fmla="*/ 537 h 1183"/>
                <a:gd name="T86" fmla="*/ 3743 w 3966"/>
                <a:gd name="T87" fmla="*/ 1027 h 1183"/>
                <a:gd name="T88" fmla="*/ 3966 w 3966"/>
                <a:gd name="T89" fmla="*/ 1027 h 1183"/>
                <a:gd name="T90" fmla="*/ 3629 w 3966"/>
                <a:gd name="T91" fmla="*/ 538 h 1183"/>
                <a:gd name="T92" fmla="*/ 2174 w 3966"/>
                <a:gd name="T93" fmla="*/ 644 h 1183"/>
                <a:gd name="T94" fmla="*/ 2442 w 3966"/>
                <a:gd name="T95" fmla="*/ 1027 h 1183"/>
                <a:gd name="T96" fmla="*/ 2224 w 3966"/>
                <a:gd name="T97" fmla="*/ 1027 h 1183"/>
                <a:gd name="T98" fmla="*/ 1884 w 3966"/>
                <a:gd name="T99" fmla="*/ 536 h 1183"/>
                <a:gd name="T100" fmla="*/ 1884 w 3966"/>
                <a:gd name="T101" fmla="*/ 1027 h 1183"/>
                <a:gd name="T102" fmla="*/ 1679 w 3966"/>
                <a:gd name="T103" fmla="*/ 1027 h 1183"/>
                <a:gd name="T104" fmla="*/ 1679 w 3966"/>
                <a:gd name="T105" fmla="*/ 114 h 1183"/>
                <a:gd name="T106" fmla="*/ 2039 w 3966"/>
                <a:gd name="T107" fmla="*/ 114 h 1183"/>
                <a:gd name="T108" fmla="*/ 2338 w 3966"/>
                <a:gd name="T109" fmla="*/ 389 h 1183"/>
                <a:gd name="T110" fmla="*/ 2174 w 3966"/>
                <a:gd name="T111" fmla="*/ 644 h 1183"/>
                <a:gd name="T112" fmla="*/ 2133 w 3966"/>
                <a:gd name="T113" fmla="*/ 402 h 1183"/>
                <a:gd name="T114" fmla="*/ 1974 w 3966"/>
                <a:gd name="T115" fmla="*/ 266 h 1183"/>
                <a:gd name="T116" fmla="*/ 1884 w 3966"/>
                <a:gd name="T117" fmla="*/ 266 h 1183"/>
                <a:gd name="T118" fmla="*/ 1884 w 3966"/>
                <a:gd name="T119" fmla="*/ 532 h 1183"/>
                <a:gd name="T120" fmla="*/ 1996 w 3966"/>
                <a:gd name="T121" fmla="*/ 532 h 1183"/>
                <a:gd name="T122" fmla="*/ 2133 w 3966"/>
                <a:gd name="T123" fmla="*/ 402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6" h="1183">
                  <a:moveTo>
                    <a:pt x="673" y="114"/>
                  </a:moveTo>
                  <a:cubicBezTo>
                    <a:pt x="956" y="114"/>
                    <a:pt x="956" y="114"/>
                    <a:pt x="956" y="114"/>
                  </a:cubicBezTo>
                  <a:cubicBezTo>
                    <a:pt x="956" y="1027"/>
                    <a:pt x="956" y="1027"/>
                    <a:pt x="956" y="1027"/>
                  </a:cubicBezTo>
                  <a:cubicBezTo>
                    <a:pt x="746" y="1027"/>
                    <a:pt x="746" y="1027"/>
                    <a:pt x="746" y="1027"/>
                  </a:cubicBezTo>
                  <a:cubicBezTo>
                    <a:pt x="746" y="413"/>
                    <a:pt x="746" y="413"/>
                    <a:pt x="746" y="413"/>
                  </a:cubicBezTo>
                  <a:cubicBezTo>
                    <a:pt x="478" y="1027"/>
                    <a:pt x="478" y="1027"/>
                    <a:pt x="478" y="1027"/>
                  </a:cubicBezTo>
                  <a:cubicBezTo>
                    <a:pt x="195" y="412"/>
                    <a:pt x="195" y="412"/>
                    <a:pt x="195" y="412"/>
                  </a:cubicBezTo>
                  <a:cubicBezTo>
                    <a:pt x="195" y="1027"/>
                    <a:pt x="195" y="1027"/>
                    <a:pt x="195" y="102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279" y="114"/>
                    <a:pt x="279" y="114"/>
                    <a:pt x="279" y="114"/>
                  </a:cubicBezTo>
                  <a:cubicBezTo>
                    <a:pt x="481" y="586"/>
                    <a:pt x="481" y="586"/>
                    <a:pt x="481" y="586"/>
                  </a:cubicBezTo>
                  <a:lnTo>
                    <a:pt x="673" y="114"/>
                  </a:lnTo>
                  <a:close/>
                  <a:moveTo>
                    <a:pt x="1061" y="114"/>
                  </a:moveTo>
                  <a:cubicBezTo>
                    <a:pt x="1061" y="1027"/>
                    <a:pt x="1061" y="1027"/>
                    <a:pt x="1061" y="1027"/>
                  </a:cubicBezTo>
                  <a:cubicBezTo>
                    <a:pt x="1588" y="1027"/>
                    <a:pt x="1588" y="1027"/>
                    <a:pt x="1588" y="1027"/>
                  </a:cubicBezTo>
                  <a:cubicBezTo>
                    <a:pt x="1588" y="873"/>
                    <a:pt x="1588" y="873"/>
                    <a:pt x="1588" y="873"/>
                  </a:cubicBezTo>
                  <a:cubicBezTo>
                    <a:pt x="1266" y="873"/>
                    <a:pt x="1266" y="873"/>
                    <a:pt x="1266" y="873"/>
                  </a:cubicBezTo>
                  <a:cubicBezTo>
                    <a:pt x="1266" y="641"/>
                    <a:pt x="1266" y="641"/>
                    <a:pt x="1266" y="641"/>
                  </a:cubicBezTo>
                  <a:cubicBezTo>
                    <a:pt x="1575" y="641"/>
                    <a:pt x="1575" y="641"/>
                    <a:pt x="1575" y="641"/>
                  </a:cubicBezTo>
                  <a:cubicBezTo>
                    <a:pt x="1575" y="484"/>
                    <a:pt x="1575" y="484"/>
                    <a:pt x="1575" y="484"/>
                  </a:cubicBezTo>
                  <a:cubicBezTo>
                    <a:pt x="1266" y="484"/>
                    <a:pt x="1266" y="484"/>
                    <a:pt x="1266" y="484"/>
                  </a:cubicBezTo>
                  <a:cubicBezTo>
                    <a:pt x="1266" y="274"/>
                    <a:pt x="1266" y="274"/>
                    <a:pt x="1266" y="274"/>
                  </a:cubicBezTo>
                  <a:cubicBezTo>
                    <a:pt x="1588" y="274"/>
                    <a:pt x="1588" y="274"/>
                    <a:pt x="1588" y="274"/>
                  </a:cubicBezTo>
                  <a:cubicBezTo>
                    <a:pt x="1588" y="114"/>
                    <a:pt x="1588" y="114"/>
                    <a:pt x="1588" y="114"/>
                  </a:cubicBezTo>
                  <a:lnTo>
                    <a:pt x="1061" y="114"/>
                  </a:lnTo>
                  <a:close/>
                  <a:moveTo>
                    <a:pt x="2375" y="571"/>
                  </a:moveTo>
                  <a:cubicBezTo>
                    <a:pt x="2375" y="911"/>
                    <a:pt x="2730" y="1183"/>
                    <a:pt x="3104" y="1002"/>
                  </a:cubicBezTo>
                  <a:cubicBezTo>
                    <a:pt x="3104" y="806"/>
                    <a:pt x="3104" y="806"/>
                    <a:pt x="3104" y="806"/>
                  </a:cubicBezTo>
                  <a:cubicBezTo>
                    <a:pt x="2816" y="1009"/>
                    <a:pt x="2566" y="806"/>
                    <a:pt x="2569" y="580"/>
                  </a:cubicBezTo>
                  <a:cubicBezTo>
                    <a:pt x="2573" y="430"/>
                    <a:pt x="2673" y="286"/>
                    <a:pt x="2869" y="275"/>
                  </a:cubicBezTo>
                  <a:cubicBezTo>
                    <a:pt x="2965" y="269"/>
                    <a:pt x="3030" y="294"/>
                    <a:pt x="3104" y="364"/>
                  </a:cubicBezTo>
                  <a:cubicBezTo>
                    <a:pt x="3104" y="161"/>
                    <a:pt x="3104" y="161"/>
                    <a:pt x="3104" y="161"/>
                  </a:cubicBezTo>
                  <a:cubicBezTo>
                    <a:pt x="2833" y="0"/>
                    <a:pt x="2375" y="175"/>
                    <a:pt x="2375" y="571"/>
                  </a:cubicBezTo>
                  <a:close/>
                  <a:moveTo>
                    <a:pt x="3190" y="1027"/>
                  </a:moveTo>
                  <a:cubicBezTo>
                    <a:pt x="3385" y="1027"/>
                    <a:pt x="3385" y="1027"/>
                    <a:pt x="3385" y="1027"/>
                  </a:cubicBezTo>
                  <a:cubicBezTo>
                    <a:pt x="3385" y="114"/>
                    <a:pt x="3385" y="114"/>
                    <a:pt x="3385" y="114"/>
                  </a:cubicBezTo>
                  <a:cubicBezTo>
                    <a:pt x="3190" y="114"/>
                    <a:pt x="3190" y="114"/>
                    <a:pt x="3190" y="114"/>
                  </a:cubicBezTo>
                  <a:lnTo>
                    <a:pt x="3190" y="1027"/>
                  </a:lnTo>
                  <a:close/>
                  <a:moveTo>
                    <a:pt x="3629" y="538"/>
                  </a:moveTo>
                  <a:cubicBezTo>
                    <a:pt x="3931" y="114"/>
                    <a:pt x="3931" y="114"/>
                    <a:pt x="3931" y="114"/>
                  </a:cubicBezTo>
                  <a:cubicBezTo>
                    <a:pt x="3703" y="114"/>
                    <a:pt x="3703" y="114"/>
                    <a:pt x="3703" y="114"/>
                  </a:cubicBezTo>
                  <a:cubicBezTo>
                    <a:pt x="3405" y="537"/>
                    <a:pt x="3405" y="537"/>
                    <a:pt x="3405" y="537"/>
                  </a:cubicBezTo>
                  <a:cubicBezTo>
                    <a:pt x="3743" y="1027"/>
                    <a:pt x="3743" y="1027"/>
                    <a:pt x="3743" y="1027"/>
                  </a:cubicBezTo>
                  <a:cubicBezTo>
                    <a:pt x="3966" y="1027"/>
                    <a:pt x="3966" y="1027"/>
                    <a:pt x="3966" y="1027"/>
                  </a:cubicBezTo>
                  <a:lnTo>
                    <a:pt x="3629" y="538"/>
                  </a:lnTo>
                  <a:close/>
                  <a:moveTo>
                    <a:pt x="2174" y="644"/>
                  </a:moveTo>
                  <a:cubicBezTo>
                    <a:pt x="2442" y="1027"/>
                    <a:pt x="2442" y="1027"/>
                    <a:pt x="2442" y="1027"/>
                  </a:cubicBezTo>
                  <a:cubicBezTo>
                    <a:pt x="2224" y="1027"/>
                    <a:pt x="2224" y="1027"/>
                    <a:pt x="2224" y="1027"/>
                  </a:cubicBezTo>
                  <a:cubicBezTo>
                    <a:pt x="1884" y="536"/>
                    <a:pt x="1884" y="536"/>
                    <a:pt x="1884" y="536"/>
                  </a:cubicBezTo>
                  <a:cubicBezTo>
                    <a:pt x="1884" y="1027"/>
                    <a:pt x="1884" y="1027"/>
                    <a:pt x="1884" y="1027"/>
                  </a:cubicBezTo>
                  <a:cubicBezTo>
                    <a:pt x="1679" y="1027"/>
                    <a:pt x="1679" y="1027"/>
                    <a:pt x="1679" y="1027"/>
                  </a:cubicBezTo>
                  <a:cubicBezTo>
                    <a:pt x="1679" y="114"/>
                    <a:pt x="1679" y="114"/>
                    <a:pt x="1679" y="114"/>
                  </a:cubicBezTo>
                  <a:cubicBezTo>
                    <a:pt x="2039" y="114"/>
                    <a:pt x="2039" y="114"/>
                    <a:pt x="2039" y="114"/>
                  </a:cubicBezTo>
                  <a:cubicBezTo>
                    <a:pt x="2251" y="114"/>
                    <a:pt x="2338" y="284"/>
                    <a:pt x="2338" y="389"/>
                  </a:cubicBezTo>
                  <a:cubicBezTo>
                    <a:pt x="2338" y="493"/>
                    <a:pt x="2299" y="596"/>
                    <a:pt x="2174" y="644"/>
                  </a:cubicBezTo>
                  <a:close/>
                  <a:moveTo>
                    <a:pt x="2133" y="402"/>
                  </a:moveTo>
                  <a:cubicBezTo>
                    <a:pt x="2133" y="365"/>
                    <a:pt x="2125" y="266"/>
                    <a:pt x="1974" y="266"/>
                  </a:cubicBezTo>
                  <a:cubicBezTo>
                    <a:pt x="1884" y="266"/>
                    <a:pt x="1884" y="266"/>
                    <a:pt x="1884" y="266"/>
                  </a:cubicBezTo>
                  <a:cubicBezTo>
                    <a:pt x="1884" y="532"/>
                    <a:pt x="1884" y="532"/>
                    <a:pt x="1884" y="532"/>
                  </a:cubicBezTo>
                  <a:cubicBezTo>
                    <a:pt x="1996" y="532"/>
                    <a:pt x="1996" y="532"/>
                    <a:pt x="1996" y="532"/>
                  </a:cubicBezTo>
                  <a:cubicBezTo>
                    <a:pt x="2070" y="535"/>
                    <a:pt x="2132" y="476"/>
                    <a:pt x="2133" y="402"/>
                  </a:cubicBezTo>
                  <a:close/>
                </a:path>
              </a:pathLst>
            </a:custGeom>
            <a:solidFill>
              <a:srgbClr val="3743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4107D62-E698-4355-9041-E793743A6F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21"/>
              <a:ext cx="1679" cy="1678"/>
            </a:xfrm>
            <a:custGeom>
              <a:avLst/>
              <a:gdLst>
                <a:gd name="T0" fmla="*/ 456 w 1828"/>
                <a:gd name="T1" fmla="*/ 457 h 1827"/>
                <a:gd name="T2" fmla="*/ 913 w 1828"/>
                <a:gd name="T3" fmla="*/ 0 h 1827"/>
                <a:gd name="T4" fmla="*/ 1370 w 1828"/>
                <a:gd name="T5" fmla="*/ 457 h 1827"/>
                <a:gd name="T6" fmla="*/ 456 w 1828"/>
                <a:gd name="T7" fmla="*/ 457 h 1827"/>
                <a:gd name="T8" fmla="*/ 456 w 1828"/>
                <a:gd name="T9" fmla="*/ 1370 h 1827"/>
                <a:gd name="T10" fmla="*/ 913 w 1828"/>
                <a:gd name="T11" fmla="*/ 913 h 1827"/>
                <a:gd name="T12" fmla="*/ 456 w 1828"/>
                <a:gd name="T13" fmla="*/ 455 h 1827"/>
                <a:gd name="T14" fmla="*/ 456 w 1828"/>
                <a:gd name="T15" fmla="*/ 455 h 1827"/>
                <a:gd name="T16" fmla="*/ 0 w 1828"/>
                <a:gd name="T17" fmla="*/ 913 h 1827"/>
                <a:gd name="T18" fmla="*/ 456 w 1828"/>
                <a:gd name="T19" fmla="*/ 1370 h 1827"/>
                <a:gd name="T20" fmla="*/ 456 w 1828"/>
                <a:gd name="T21" fmla="*/ 1370 h 1827"/>
                <a:gd name="T22" fmla="*/ 913 w 1828"/>
                <a:gd name="T23" fmla="*/ 1827 h 1827"/>
                <a:gd name="T24" fmla="*/ 1370 w 1828"/>
                <a:gd name="T25" fmla="*/ 1370 h 1827"/>
                <a:gd name="T26" fmla="*/ 456 w 1828"/>
                <a:gd name="T27" fmla="*/ 1370 h 1827"/>
                <a:gd name="T28" fmla="*/ 913 w 1828"/>
                <a:gd name="T29" fmla="*/ 914 h 1827"/>
                <a:gd name="T30" fmla="*/ 1371 w 1828"/>
                <a:gd name="T31" fmla="*/ 1371 h 1827"/>
                <a:gd name="T32" fmla="*/ 1371 w 1828"/>
                <a:gd name="T33" fmla="*/ 1371 h 1827"/>
                <a:gd name="T34" fmla="*/ 1828 w 1828"/>
                <a:gd name="T35" fmla="*/ 915 h 1827"/>
                <a:gd name="T36" fmla="*/ 1372 w 1828"/>
                <a:gd name="T37" fmla="*/ 458 h 1827"/>
                <a:gd name="T38" fmla="*/ 1371 w 1828"/>
                <a:gd name="T39" fmla="*/ 458 h 1827"/>
                <a:gd name="T40" fmla="*/ 913 w 1828"/>
                <a:gd name="T41" fmla="*/ 914 h 1827"/>
                <a:gd name="T42" fmla="*/ 913 w 1828"/>
                <a:gd name="T43" fmla="*/ 914 h 1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8" h="1827">
                  <a:moveTo>
                    <a:pt x="456" y="457"/>
                  </a:moveTo>
                  <a:cubicBezTo>
                    <a:pt x="456" y="205"/>
                    <a:pt x="662" y="0"/>
                    <a:pt x="913" y="0"/>
                  </a:cubicBezTo>
                  <a:cubicBezTo>
                    <a:pt x="1165" y="0"/>
                    <a:pt x="1370" y="205"/>
                    <a:pt x="1370" y="457"/>
                  </a:cubicBezTo>
                  <a:lnTo>
                    <a:pt x="456" y="457"/>
                  </a:lnTo>
                  <a:close/>
                  <a:moveTo>
                    <a:pt x="456" y="1370"/>
                  </a:moveTo>
                  <a:cubicBezTo>
                    <a:pt x="456" y="1118"/>
                    <a:pt x="660" y="913"/>
                    <a:pt x="913" y="913"/>
                  </a:cubicBezTo>
                  <a:cubicBezTo>
                    <a:pt x="662" y="913"/>
                    <a:pt x="456" y="708"/>
                    <a:pt x="456" y="455"/>
                  </a:cubicBezTo>
                  <a:cubicBezTo>
                    <a:pt x="456" y="455"/>
                    <a:pt x="456" y="455"/>
                    <a:pt x="456" y="455"/>
                  </a:cubicBezTo>
                  <a:cubicBezTo>
                    <a:pt x="204" y="455"/>
                    <a:pt x="0" y="661"/>
                    <a:pt x="0" y="913"/>
                  </a:cubicBezTo>
                  <a:cubicBezTo>
                    <a:pt x="0" y="1166"/>
                    <a:pt x="204" y="1370"/>
                    <a:pt x="456" y="1370"/>
                  </a:cubicBezTo>
                  <a:close/>
                  <a:moveTo>
                    <a:pt x="456" y="1370"/>
                  </a:moveTo>
                  <a:cubicBezTo>
                    <a:pt x="456" y="1622"/>
                    <a:pt x="662" y="1827"/>
                    <a:pt x="913" y="1827"/>
                  </a:cubicBezTo>
                  <a:cubicBezTo>
                    <a:pt x="1165" y="1827"/>
                    <a:pt x="1370" y="1622"/>
                    <a:pt x="1370" y="1370"/>
                  </a:cubicBezTo>
                  <a:lnTo>
                    <a:pt x="456" y="1370"/>
                  </a:lnTo>
                  <a:close/>
                  <a:moveTo>
                    <a:pt x="913" y="914"/>
                  </a:moveTo>
                  <a:cubicBezTo>
                    <a:pt x="1165" y="914"/>
                    <a:pt x="1371" y="1118"/>
                    <a:pt x="1371" y="1371"/>
                  </a:cubicBezTo>
                  <a:cubicBezTo>
                    <a:pt x="1371" y="1371"/>
                    <a:pt x="1371" y="1371"/>
                    <a:pt x="1371" y="1371"/>
                  </a:cubicBezTo>
                  <a:cubicBezTo>
                    <a:pt x="1623" y="1371"/>
                    <a:pt x="1828" y="1167"/>
                    <a:pt x="1828" y="915"/>
                  </a:cubicBezTo>
                  <a:cubicBezTo>
                    <a:pt x="1828" y="663"/>
                    <a:pt x="1624" y="458"/>
                    <a:pt x="1372" y="458"/>
                  </a:cubicBezTo>
                  <a:cubicBezTo>
                    <a:pt x="1371" y="458"/>
                    <a:pt x="1371" y="458"/>
                    <a:pt x="1371" y="458"/>
                  </a:cubicBezTo>
                  <a:cubicBezTo>
                    <a:pt x="1371" y="710"/>
                    <a:pt x="1165" y="914"/>
                    <a:pt x="913" y="914"/>
                  </a:cubicBezTo>
                  <a:cubicBezTo>
                    <a:pt x="913" y="914"/>
                    <a:pt x="913" y="914"/>
                    <a:pt x="913" y="914"/>
                  </a:cubicBezTo>
                  <a:close/>
                </a:path>
              </a:pathLst>
            </a:custGeom>
            <a:solidFill>
              <a:srgbClr val="0086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7044357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3248"/>
            <a:ext cx="11262360" cy="753435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449053" y="6403251"/>
            <a:ext cx="5929575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6095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33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2024, Amazon Web Services, Inc. or its Affiliates.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41E4D-1555-5C4E-997E-3D8427FF0F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1601" b="-2716"/>
          <a:stretch/>
        </p:blipFill>
        <p:spPr>
          <a:xfrm>
            <a:off x="11051378" y="6251995"/>
            <a:ext cx="699773" cy="44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56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89738-6604-5BA6-F38B-4667EEA3F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CE6BF-F933-3D6E-9247-C2807A848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D8718-8780-774E-95D1-6D76256F2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44E30-3A0D-434C-A8BE-3A01A96D31A2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3A35B-F7CD-7273-8443-CAE1929A1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32267-ED9C-2BFF-6E01-9F74E3B01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8FA27-5C7C-455D-A0F1-3F646C34F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1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825" y="377825"/>
            <a:ext cx="7523163" cy="850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825" y="1925636"/>
            <a:ext cx="11436350" cy="4456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7755" y="6480175"/>
            <a:ext cx="722264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9" y="6480175"/>
            <a:ext cx="4114844" cy="21415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 cap="all" baseline="0">
                <a:solidFill>
                  <a:srgbClr val="9EA7B3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4744" y="6480175"/>
            <a:ext cx="229431" cy="216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9EA7B3"/>
                </a:solidFill>
              </a:defRPr>
            </a:lvl1pPr>
          </a:lstStyle>
          <a:p>
            <a:fld id="{29CC380D-5F44-41E8-971E-CDD19ED6F8E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4A57FA-CBE0-4527-848B-CD3B986A4345}"/>
              </a:ext>
            </a:extLst>
          </p:cNvPr>
          <p:cNvCxnSpPr/>
          <p:nvPr userDrawn="1"/>
        </p:nvCxnSpPr>
        <p:spPr>
          <a:xfrm>
            <a:off x="377825" y="1227932"/>
            <a:ext cx="1143635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233FD-7C73-4D80-95D2-8DFB5EA69D46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1600" y="6477467"/>
            <a:ext cx="740666" cy="21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7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16" r:id="rId51"/>
    <p:sldLayoutId id="2147483817" r:id="rId52"/>
    <p:sldLayoutId id="2147483818" r:id="rId53"/>
    <p:sldLayoutId id="2147483819" r:id="rId54"/>
    <p:sldLayoutId id="2147483820" r:id="rId55"/>
    <p:sldLayoutId id="2147483821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5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1pPr>
      <a:lvl2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2pPr>
      <a:lvl3pPr marL="216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3pPr>
      <a:lvl4pPr marL="324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4pPr>
      <a:lvl5pPr marL="432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Char char="•"/>
        <a:defRPr sz="1200" b="0" kern="1200">
          <a:solidFill>
            <a:schemeClr val="accent4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600" kern="1200">
          <a:solidFill>
            <a:schemeClr val="accent4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400"/>
        </a:spcAft>
        <a:buFont typeface="Arial" panose="020B0604020202020204" pitchFamily="34" charset="0"/>
        <a:buNone/>
        <a:defRPr sz="12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30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38">
          <p15:clr>
            <a:srgbClr val="F26B43"/>
          </p15:clr>
        </p15:guide>
        <p15:guide id="4" pos="2511">
          <p15:clr>
            <a:srgbClr val="F26B43"/>
          </p15:clr>
        </p15:guide>
        <p15:guide id="5" pos="2704">
          <p15:clr>
            <a:srgbClr val="F26B43"/>
          </p15:clr>
        </p15:guide>
        <p15:guide id="6" pos="4977">
          <p15:clr>
            <a:srgbClr val="F26B43"/>
          </p15:clr>
        </p15:guide>
        <p15:guide id="7" pos="5169">
          <p15:clr>
            <a:srgbClr val="F26B43"/>
          </p15:clr>
        </p15:guide>
        <p15:guide id="8" pos="7442">
          <p15:clr>
            <a:srgbClr val="F26B43"/>
          </p15:clr>
        </p15:guide>
        <p15:guide id="9" orient="horz" pos="238">
          <p15:clr>
            <a:srgbClr val="F26B43"/>
          </p15:clr>
        </p15:guide>
        <p15:guide id="10" orient="horz" pos="4020">
          <p15:clr>
            <a:srgbClr val="F26B43"/>
          </p15:clr>
        </p15:guide>
        <p15:guide id="11" orient="horz" pos="1751">
          <p15:clr>
            <a:srgbClr val="F26B43"/>
          </p15:clr>
        </p15:guide>
        <p15:guide id="12" orient="horz" pos="1213">
          <p15:clr>
            <a:srgbClr val="F26B43"/>
          </p15:clr>
        </p15:guide>
        <p15:guide id="13" orient="horz" pos="7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svg"/><Relationship Id="rId3" Type="http://schemas.openxmlformats.org/officeDocument/2006/relationships/image" Target="../media/image12.png"/><Relationship Id="rId21" Type="http://schemas.openxmlformats.org/officeDocument/2006/relationships/image" Target="../media/image30.JP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7.svg"/><Relationship Id="rId18" Type="http://schemas.openxmlformats.org/officeDocument/2006/relationships/image" Target="../media/image25.png"/><Relationship Id="rId3" Type="http://schemas.openxmlformats.org/officeDocument/2006/relationships/image" Target="../media/image12.pn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36.png"/><Relationship Id="rId1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5" Type="http://schemas.openxmlformats.org/officeDocument/2006/relationships/image" Target="../media/image20.svg"/><Relationship Id="rId15" Type="http://schemas.openxmlformats.org/officeDocument/2006/relationships/image" Target="../media/image22.svg"/><Relationship Id="rId23" Type="http://schemas.openxmlformats.org/officeDocument/2006/relationships/image" Target="../media/image30.JP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7.svg"/><Relationship Id="rId18" Type="http://schemas.openxmlformats.org/officeDocument/2006/relationships/image" Target="../media/image25.png"/><Relationship Id="rId26" Type="http://schemas.openxmlformats.org/officeDocument/2006/relationships/image" Target="../media/image39.svg"/><Relationship Id="rId3" Type="http://schemas.openxmlformats.org/officeDocument/2006/relationships/image" Target="../media/image12.pn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36.png"/><Relationship Id="rId17" Type="http://schemas.openxmlformats.org/officeDocument/2006/relationships/image" Target="../media/image24.sv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5" Type="http://schemas.openxmlformats.org/officeDocument/2006/relationships/image" Target="../media/image20.svg"/><Relationship Id="rId15" Type="http://schemas.openxmlformats.org/officeDocument/2006/relationships/image" Target="../media/image22.svg"/><Relationship Id="rId23" Type="http://schemas.openxmlformats.org/officeDocument/2006/relationships/image" Target="../media/image30.JPG"/><Relationship Id="rId28" Type="http://schemas.openxmlformats.org/officeDocument/2006/relationships/image" Target="../media/image41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9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40.png"/><Relationship Id="rId30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svg"/><Relationship Id="rId18" Type="http://schemas.openxmlformats.org/officeDocument/2006/relationships/image" Target="../media/image13.png"/><Relationship Id="rId26" Type="http://schemas.openxmlformats.org/officeDocument/2006/relationships/image" Target="../media/image15.png"/><Relationship Id="rId39" Type="http://schemas.openxmlformats.org/officeDocument/2006/relationships/image" Target="../media/image23.png"/><Relationship Id="rId21" Type="http://schemas.openxmlformats.org/officeDocument/2006/relationships/image" Target="../media/image53.svg"/><Relationship Id="rId34" Type="http://schemas.openxmlformats.org/officeDocument/2006/relationships/image" Target="../media/image62.png"/><Relationship Id="rId42" Type="http://schemas.openxmlformats.org/officeDocument/2006/relationships/image" Target="../media/image66.svg"/><Relationship Id="rId47" Type="http://schemas.openxmlformats.org/officeDocument/2006/relationships/image" Target="../media/image30.JPG"/><Relationship Id="rId50" Type="http://schemas.openxmlformats.org/officeDocument/2006/relationships/image" Target="../media/image68.svg"/><Relationship Id="rId55" Type="http://schemas.openxmlformats.org/officeDocument/2006/relationships/image" Target="../media/image38.png"/><Relationship Id="rId7" Type="http://schemas.openxmlformats.org/officeDocument/2006/relationships/image" Target="../media/image47.svg"/><Relationship Id="rId2" Type="http://schemas.openxmlformats.org/officeDocument/2006/relationships/image" Target="../media/image44.png"/><Relationship Id="rId16" Type="http://schemas.openxmlformats.org/officeDocument/2006/relationships/image" Target="../media/image27.png"/><Relationship Id="rId29" Type="http://schemas.openxmlformats.org/officeDocument/2006/relationships/image" Target="../media/image36.png"/><Relationship Id="rId11" Type="http://schemas.openxmlformats.org/officeDocument/2006/relationships/image" Target="../media/image33.svg"/><Relationship Id="rId24" Type="http://schemas.openxmlformats.org/officeDocument/2006/relationships/image" Target="../media/image56.png"/><Relationship Id="rId32" Type="http://schemas.openxmlformats.org/officeDocument/2006/relationships/image" Target="../media/image60.svg"/><Relationship Id="rId37" Type="http://schemas.openxmlformats.org/officeDocument/2006/relationships/image" Target="../media/image21.png"/><Relationship Id="rId40" Type="http://schemas.openxmlformats.org/officeDocument/2006/relationships/image" Target="../media/image24.svg"/><Relationship Id="rId45" Type="http://schemas.openxmlformats.org/officeDocument/2006/relationships/image" Target="../media/image12.png"/><Relationship Id="rId53" Type="http://schemas.openxmlformats.org/officeDocument/2006/relationships/image" Target="../media/image40.png"/><Relationship Id="rId58" Type="http://schemas.openxmlformats.org/officeDocument/2006/relationships/image" Target="../media/image43.svg"/><Relationship Id="rId5" Type="http://schemas.openxmlformats.org/officeDocument/2006/relationships/image" Target="../media/image20.svg"/><Relationship Id="rId61" Type="http://schemas.openxmlformats.org/officeDocument/2006/relationships/image" Target="../media/image71.png"/><Relationship Id="rId19" Type="http://schemas.openxmlformats.org/officeDocument/2006/relationships/image" Target="../media/image14.svg"/><Relationship Id="rId14" Type="http://schemas.openxmlformats.org/officeDocument/2006/relationships/image" Target="../media/image50.png"/><Relationship Id="rId22" Type="http://schemas.openxmlformats.org/officeDocument/2006/relationships/image" Target="../media/image54.png"/><Relationship Id="rId27" Type="http://schemas.openxmlformats.org/officeDocument/2006/relationships/image" Target="../media/image16.svg"/><Relationship Id="rId30" Type="http://schemas.openxmlformats.org/officeDocument/2006/relationships/image" Target="../media/image37.svg"/><Relationship Id="rId35" Type="http://schemas.openxmlformats.org/officeDocument/2006/relationships/image" Target="../media/image63.png"/><Relationship Id="rId43" Type="http://schemas.openxmlformats.org/officeDocument/2006/relationships/image" Target="../media/image25.png"/><Relationship Id="rId48" Type="http://schemas.openxmlformats.org/officeDocument/2006/relationships/image" Target="../media/image31.png"/><Relationship Id="rId56" Type="http://schemas.openxmlformats.org/officeDocument/2006/relationships/image" Target="../media/image39.svg"/><Relationship Id="rId8" Type="http://schemas.openxmlformats.org/officeDocument/2006/relationships/image" Target="../media/image17.png"/><Relationship Id="rId51" Type="http://schemas.openxmlformats.org/officeDocument/2006/relationships/image" Target="../media/image34.png"/><Relationship Id="rId3" Type="http://schemas.openxmlformats.org/officeDocument/2006/relationships/image" Target="../media/image45.svg"/><Relationship Id="rId12" Type="http://schemas.openxmlformats.org/officeDocument/2006/relationships/image" Target="../media/image48.png"/><Relationship Id="rId17" Type="http://schemas.openxmlformats.org/officeDocument/2006/relationships/image" Target="../media/image28.svg"/><Relationship Id="rId25" Type="http://schemas.openxmlformats.org/officeDocument/2006/relationships/image" Target="../media/image57.svg"/><Relationship Id="rId33" Type="http://schemas.openxmlformats.org/officeDocument/2006/relationships/image" Target="../media/image61.png"/><Relationship Id="rId38" Type="http://schemas.openxmlformats.org/officeDocument/2006/relationships/image" Target="../media/image22.svg"/><Relationship Id="rId46" Type="http://schemas.openxmlformats.org/officeDocument/2006/relationships/image" Target="../media/image29.png"/><Relationship Id="rId59" Type="http://schemas.openxmlformats.org/officeDocument/2006/relationships/image" Target="../media/image69.png"/><Relationship Id="rId20" Type="http://schemas.openxmlformats.org/officeDocument/2006/relationships/image" Target="../media/image52.png"/><Relationship Id="rId41" Type="http://schemas.openxmlformats.org/officeDocument/2006/relationships/image" Target="../media/image65.png"/><Relationship Id="rId54" Type="http://schemas.openxmlformats.org/officeDocument/2006/relationships/image" Target="../media/image41.svg"/><Relationship Id="rId62" Type="http://schemas.openxmlformats.org/officeDocument/2006/relationships/image" Target="../media/image7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5" Type="http://schemas.openxmlformats.org/officeDocument/2006/relationships/image" Target="../media/image51.svg"/><Relationship Id="rId23" Type="http://schemas.openxmlformats.org/officeDocument/2006/relationships/image" Target="../media/image55.svg"/><Relationship Id="rId28" Type="http://schemas.openxmlformats.org/officeDocument/2006/relationships/image" Target="../media/image58.png"/><Relationship Id="rId36" Type="http://schemas.openxmlformats.org/officeDocument/2006/relationships/image" Target="../media/image64.png"/><Relationship Id="rId49" Type="http://schemas.openxmlformats.org/officeDocument/2006/relationships/image" Target="../media/image67.png"/><Relationship Id="rId57" Type="http://schemas.openxmlformats.org/officeDocument/2006/relationships/image" Target="../media/image42.png"/><Relationship Id="rId10" Type="http://schemas.openxmlformats.org/officeDocument/2006/relationships/image" Target="../media/image32.png"/><Relationship Id="rId31" Type="http://schemas.openxmlformats.org/officeDocument/2006/relationships/image" Target="../media/image59.png"/><Relationship Id="rId44" Type="http://schemas.openxmlformats.org/officeDocument/2006/relationships/image" Target="../media/image26.svg"/><Relationship Id="rId52" Type="http://schemas.openxmlformats.org/officeDocument/2006/relationships/image" Target="../media/image35.svg"/><Relationship Id="rId60" Type="http://schemas.openxmlformats.org/officeDocument/2006/relationships/image" Target="../media/image70.svg"/><Relationship Id="rId4" Type="http://schemas.openxmlformats.org/officeDocument/2006/relationships/image" Target="../media/image19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52C5A8-06C8-419E-8031-9265739B4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25" y="1228725"/>
            <a:ext cx="10583958" cy="2200275"/>
          </a:xfrm>
        </p:spPr>
        <p:txBody>
          <a:bodyPr/>
          <a:lstStyle/>
          <a:p>
            <a:r>
              <a:rPr lang="en-US" dirty="0"/>
              <a:t>ASM Transformation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12351-58FF-4E2C-BFCC-2604F5F72D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61813" y="6480175"/>
            <a:ext cx="230187" cy="215900"/>
          </a:xfrm>
        </p:spPr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CC380D-5F44-41E8-971E-CDD19ED6F8E3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9EA7B3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EA7B3"/>
              </a:solidFill>
              <a:effectLst/>
              <a:uLnTx/>
              <a:uFillTx/>
              <a:latin typeface="Invention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72856-AA66-4F72-A9AB-516CFBD24F9C}"/>
              </a:ext>
            </a:extLst>
          </p:cNvPr>
          <p:cNvSpPr txBox="1"/>
          <p:nvPr/>
        </p:nvSpPr>
        <p:spPr>
          <a:xfrm>
            <a:off x="499621" y="3629320"/>
            <a:ext cx="164543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t>Date: </a:t>
            </a:r>
            <a:r>
              <a:rPr lang="en-US" sz="1600" dirty="0">
                <a:solidFill>
                  <a:prstClr val="white"/>
                </a:solidFill>
                <a:latin typeface="Invention"/>
              </a:rPr>
              <a:t>12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vention"/>
                <a:ea typeface="+mn-ea"/>
                <a:cs typeface="+mn-cs"/>
              </a:rPr>
              <a:t>/08/2025</a:t>
            </a:r>
          </a:p>
        </p:txBody>
      </p:sp>
    </p:spTree>
    <p:extLst>
      <p:ext uri="{BB962C8B-B14F-4D97-AF65-F5344CB8AC3E}">
        <p14:creationId xmlns:p14="http://schemas.microsoft.com/office/powerpoint/2010/main" val="260414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EC8339-8C1B-799A-CFE3-E175CAC3AA33}"/>
              </a:ext>
            </a:extLst>
          </p:cNvPr>
          <p:cNvSpPr/>
          <p:nvPr/>
        </p:nvSpPr>
        <p:spPr>
          <a:xfrm>
            <a:off x="375458" y="1625600"/>
            <a:ext cx="804164" cy="3560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C5691-3C38-965E-A2C5-AFCF589CBA93}"/>
              </a:ext>
            </a:extLst>
          </p:cNvPr>
          <p:cNvSpPr/>
          <p:nvPr/>
        </p:nvSpPr>
        <p:spPr>
          <a:xfrm>
            <a:off x="1767378" y="1625600"/>
            <a:ext cx="804164" cy="35608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CED9A-C9E1-7250-95E8-B6DB7BE9028B}"/>
              </a:ext>
            </a:extLst>
          </p:cNvPr>
          <p:cNvSpPr/>
          <p:nvPr/>
        </p:nvSpPr>
        <p:spPr>
          <a:xfrm>
            <a:off x="3159297" y="1625599"/>
            <a:ext cx="4380484" cy="35755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58A53-4A04-C78A-EB0A-FFB155BC1019}"/>
              </a:ext>
            </a:extLst>
          </p:cNvPr>
          <p:cNvSpPr/>
          <p:nvPr/>
        </p:nvSpPr>
        <p:spPr>
          <a:xfrm>
            <a:off x="8127538" y="1625600"/>
            <a:ext cx="804164" cy="357550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9DF6B7-EE90-8733-DC24-BA1AB8E13673}"/>
              </a:ext>
            </a:extLst>
          </p:cNvPr>
          <p:cNvSpPr/>
          <p:nvPr/>
        </p:nvSpPr>
        <p:spPr>
          <a:xfrm>
            <a:off x="470548" y="3430918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Solution analyzer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76772C-8ACF-15B7-2FD9-A839D466CCD4}"/>
              </a:ext>
            </a:extLst>
          </p:cNvPr>
          <p:cNvSpPr/>
          <p:nvPr/>
        </p:nvSpPr>
        <p:spPr>
          <a:xfrm>
            <a:off x="466898" y="2762466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Cell counter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D31C13-65F5-71B2-D42E-D6B49F6C8446}"/>
              </a:ext>
            </a:extLst>
          </p:cNvPr>
          <p:cNvSpPr/>
          <p:nvPr/>
        </p:nvSpPr>
        <p:spPr>
          <a:xfrm>
            <a:off x="478580" y="2094014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Plate reader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D01B2-774D-6253-75E9-66C4D1E02486}"/>
              </a:ext>
            </a:extLst>
          </p:cNvPr>
          <p:cNvSpPr/>
          <p:nvPr/>
        </p:nvSpPr>
        <p:spPr>
          <a:xfrm>
            <a:off x="3509901" y="2034283"/>
            <a:ext cx="3764585" cy="98331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1CFED-2DC5-D6CC-6750-0ABE5ED5460E}"/>
              </a:ext>
            </a:extLst>
          </p:cNvPr>
          <p:cNvSpPr txBox="1"/>
          <p:nvPr/>
        </p:nvSpPr>
        <p:spPr>
          <a:xfrm>
            <a:off x="4386760" y="2024618"/>
            <a:ext cx="20858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Format detection &amp; code generation 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9E055-CB7A-AAE7-E02B-E231993A583C}"/>
              </a:ext>
            </a:extLst>
          </p:cNvPr>
          <p:cNvSpPr txBox="1"/>
          <p:nvPr/>
        </p:nvSpPr>
        <p:spPr>
          <a:xfrm>
            <a:off x="4471857" y="2172210"/>
            <a:ext cx="1762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Auto-detect file format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Route to appropriate processing strategy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4D5F6-A195-866D-B677-5818D2C251D3}"/>
              </a:ext>
            </a:extLst>
          </p:cNvPr>
          <p:cNvSpPr/>
          <p:nvPr/>
        </p:nvSpPr>
        <p:spPr>
          <a:xfrm>
            <a:off x="3451090" y="3307689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EE1433-4C97-7E41-F699-F5670CFC9599}"/>
              </a:ext>
            </a:extLst>
          </p:cNvPr>
          <p:cNvSpPr/>
          <p:nvPr/>
        </p:nvSpPr>
        <p:spPr>
          <a:xfrm>
            <a:off x="4443520" y="3297529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B3132-42A4-586E-5BD5-3ECE416A8B06}"/>
              </a:ext>
            </a:extLst>
          </p:cNvPr>
          <p:cNvSpPr/>
          <p:nvPr/>
        </p:nvSpPr>
        <p:spPr>
          <a:xfrm>
            <a:off x="5426195" y="3297529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1D0FC9-8131-6D9C-25EA-A38BED9E9642}"/>
              </a:ext>
            </a:extLst>
          </p:cNvPr>
          <p:cNvSpPr/>
          <p:nvPr/>
        </p:nvSpPr>
        <p:spPr>
          <a:xfrm>
            <a:off x="6427970" y="3287369"/>
            <a:ext cx="807720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2BE90-46AF-CC32-2F59-55B48113B498}"/>
              </a:ext>
            </a:extLst>
          </p:cNvPr>
          <p:cNvSpPr txBox="1"/>
          <p:nvPr/>
        </p:nvSpPr>
        <p:spPr>
          <a:xfrm>
            <a:off x="3471105" y="3303099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Plate reader converter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8C1BC0-C189-69AD-9A7C-934D1361EA91}"/>
              </a:ext>
            </a:extLst>
          </p:cNvPr>
          <p:cNvSpPr txBox="1"/>
          <p:nvPr/>
        </p:nvSpPr>
        <p:spPr>
          <a:xfrm>
            <a:off x="4475323" y="3298510"/>
            <a:ext cx="899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Cell counter converter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B5017-6A10-3FCF-3A43-799E78BEB748}"/>
              </a:ext>
            </a:extLst>
          </p:cNvPr>
          <p:cNvSpPr txBox="1"/>
          <p:nvPr/>
        </p:nvSpPr>
        <p:spPr>
          <a:xfrm>
            <a:off x="5359852" y="3312117"/>
            <a:ext cx="874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Solution analyzer converter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CB0F8-D708-C060-FF4F-AE212F7ECA16}"/>
              </a:ext>
            </a:extLst>
          </p:cNvPr>
          <p:cNvSpPr txBox="1"/>
          <p:nvPr/>
        </p:nvSpPr>
        <p:spPr>
          <a:xfrm>
            <a:off x="6403540" y="3298510"/>
            <a:ext cx="8997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Other  file converter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91BCF1-D589-59F6-72E4-7E91D4A668D8}"/>
              </a:ext>
            </a:extLst>
          </p:cNvPr>
          <p:cNvCxnSpPr>
            <a:endCxn id="19" idx="0"/>
          </p:cNvCxnSpPr>
          <p:nvPr/>
        </p:nvCxnSpPr>
        <p:spPr>
          <a:xfrm>
            <a:off x="3874965" y="3017602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49952B-8321-31F7-92FA-3182B85F0C89}"/>
              </a:ext>
            </a:extLst>
          </p:cNvPr>
          <p:cNvCxnSpPr/>
          <p:nvPr/>
        </p:nvCxnSpPr>
        <p:spPr>
          <a:xfrm>
            <a:off x="4846664" y="3010854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66D6FF-5217-66A7-D5F6-45987C71EB8A}"/>
              </a:ext>
            </a:extLst>
          </p:cNvPr>
          <p:cNvCxnSpPr/>
          <p:nvPr/>
        </p:nvCxnSpPr>
        <p:spPr>
          <a:xfrm>
            <a:off x="5797643" y="3001752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5612BDE-0B49-1CE9-DE8D-66EDCB809980}"/>
              </a:ext>
            </a:extLst>
          </p:cNvPr>
          <p:cNvCxnSpPr/>
          <p:nvPr/>
        </p:nvCxnSpPr>
        <p:spPr>
          <a:xfrm>
            <a:off x="6807143" y="3009070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E8B16C2-83A8-D74E-78DA-3DB6183BC7C6}"/>
              </a:ext>
            </a:extLst>
          </p:cNvPr>
          <p:cNvSpPr/>
          <p:nvPr/>
        </p:nvSpPr>
        <p:spPr>
          <a:xfrm>
            <a:off x="3446720" y="3985736"/>
            <a:ext cx="3784600" cy="7823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C79D5F-B9B3-29F6-FF54-15E2A6C1805E}"/>
              </a:ext>
            </a:extLst>
          </p:cNvPr>
          <p:cNvSpPr txBox="1"/>
          <p:nvPr/>
        </p:nvSpPr>
        <p:spPr>
          <a:xfrm>
            <a:off x="4454640" y="3982490"/>
            <a:ext cx="13981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ASM File Generation engine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AF577B-EC08-C62F-4243-B34E29FF3B7D}"/>
              </a:ext>
            </a:extLst>
          </p:cNvPr>
          <p:cNvSpPr txBox="1"/>
          <p:nvPr/>
        </p:nvSpPr>
        <p:spPr>
          <a:xfrm>
            <a:off x="3481980" y="4200439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Apply converter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Generate compliant ASM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Schema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/>
              <a:t>Quality scoring and certification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AAC34F-00FE-BAC8-04F7-D175D46DE05E}"/>
              </a:ext>
            </a:extLst>
          </p:cNvPr>
          <p:cNvCxnSpPr/>
          <p:nvPr/>
        </p:nvCxnSpPr>
        <p:spPr>
          <a:xfrm>
            <a:off x="3844484" y="3674750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CC121B-BD9F-F140-188E-D3E261C97AD7}"/>
              </a:ext>
            </a:extLst>
          </p:cNvPr>
          <p:cNvCxnSpPr/>
          <p:nvPr/>
        </p:nvCxnSpPr>
        <p:spPr>
          <a:xfrm>
            <a:off x="4839346" y="3682063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C0B31F-20C9-8447-AB26-7561C73854DD}"/>
              </a:ext>
            </a:extLst>
          </p:cNvPr>
          <p:cNvCxnSpPr/>
          <p:nvPr/>
        </p:nvCxnSpPr>
        <p:spPr>
          <a:xfrm>
            <a:off x="5797642" y="3674751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D4A378-AB98-A2D7-7005-5200A994ACFE}"/>
              </a:ext>
            </a:extLst>
          </p:cNvPr>
          <p:cNvCxnSpPr/>
          <p:nvPr/>
        </p:nvCxnSpPr>
        <p:spPr>
          <a:xfrm>
            <a:off x="6807139" y="3682062"/>
            <a:ext cx="0" cy="285497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7046DC-4296-D96A-15A7-C9ACE00EF438}"/>
              </a:ext>
            </a:extLst>
          </p:cNvPr>
          <p:cNvSpPr/>
          <p:nvPr/>
        </p:nvSpPr>
        <p:spPr>
          <a:xfrm>
            <a:off x="466898" y="4099370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Instrument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35EE48-FA28-049C-D875-E1DD456BFBDA}"/>
              </a:ext>
            </a:extLst>
          </p:cNvPr>
          <p:cNvCxnSpPr/>
          <p:nvPr/>
        </p:nvCxnSpPr>
        <p:spPr>
          <a:xfrm>
            <a:off x="1179622" y="2270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FD009D-82E5-4803-9710-30CBF26C180B}"/>
              </a:ext>
            </a:extLst>
          </p:cNvPr>
          <p:cNvCxnSpPr/>
          <p:nvPr/>
        </p:nvCxnSpPr>
        <p:spPr>
          <a:xfrm flipV="1">
            <a:off x="1179622" y="2931567"/>
            <a:ext cx="587756" cy="731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5BFAAD-63EF-7278-FE11-270AF427405F}"/>
              </a:ext>
            </a:extLst>
          </p:cNvPr>
          <p:cNvCxnSpPr/>
          <p:nvPr/>
        </p:nvCxnSpPr>
        <p:spPr>
          <a:xfrm>
            <a:off x="1179622" y="3604565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04A16A-347E-3920-062B-064E4234FFC7}"/>
              </a:ext>
            </a:extLst>
          </p:cNvPr>
          <p:cNvCxnSpPr/>
          <p:nvPr/>
        </p:nvCxnSpPr>
        <p:spPr>
          <a:xfrm>
            <a:off x="1179622" y="428225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BAD5EC-9734-3E20-86F3-6B117DB97318}"/>
              </a:ext>
            </a:extLst>
          </p:cNvPr>
          <p:cNvCxnSpPr/>
          <p:nvPr/>
        </p:nvCxnSpPr>
        <p:spPr>
          <a:xfrm>
            <a:off x="2571542" y="2270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3D08BC-0052-4862-B5FE-55602635AB50}"/>
              </a:ext>
            </a:extLst>
          </p:cNvPr>
          <p:cNvCxnSpPr/>
          <p:nvPr/>
        </p:nvCxnSpPr>
        <p:spPr>
          <a:xfrm>
            <a:off x="2571542" y="2961151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3F5ABE-C803-3A9A-60F3-565CB72D09F7}"/>
              </a:ext>
            </a:extLst>
          </p:cNvPr>
          <p:cNvCxnSpPr/>
          <p:nvPr/>
        </p:nvCxnSpPr>
        <p:spPr>
          <a:xfrm>
            <a:off x="2571542" y="359176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F3EA8A7-74C1-4664-E5AB-258324A51B52}"/>
              </a:ext>
            </a:extLst>
          </p:cNvPr>
          <p:cNvCxnSpPr/>
          <p:nvPr/>
        </p:nvCxnSpPr>
        <p:spPr>
          <a:xfrm>
            <a:off x="2571542" y="4282250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1F7C336-6F6C-50A1-679D-7692E2A31226}"/>
              </a:ext>
            </a:extLst>
          </p:cNvPr>
          <p:cNvSpPr/>
          <p:nvPr/>
        </p:nvSpPr>
        <p:spPr>
          <a:xfrm>
            <a:off x="1870433" y="213915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FTP/SFTP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E8962B2-EF8E-AFC9-B40D-55D3F47E2B3A}"/>
              </a:ext>
            </a:extLst>
          </p:cNvPr>
          <p:cNvSpPr/>
          <p:nvPr/>
        </p:nvSpPr>
        <p:spPr>
          <a:xfrm>
            <a:off x="1883426" y="2761062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File watcher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ABC7C38-9664-0B29-A305-AB1C7C6FB13C}"/>
              </a:ext>
            </a:extLst>
          </p:cNvPr>
          <p:cNvSpPr/>
          <p:nvPr/>
        </p:nvSpPr>
        <p:spPr>
          <a:xfrm>
            <a:off x="1855161" y="3382965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API endpoint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0746D5F-D50C-BEBA-DADA-5EC24DD3A54D}"/>
              </a:ext>
            </a:extLst>
          </p:cNvPr>
          <p:cNvSpPr/>
          <p:nvPr/>
        </p:nvSpPr>
        <p:spPr>
          <a:xfrm>
            <a:off x="1869304" y="400486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Push gateway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80FFEA-1BDD-5BAB-522C-3EE24A835399}"/>
              </a:ext>
            </a:extLst>
          </p:cNvPr>
          <p:cNvCxnSpPr/>
          <p:nvPr/>
        </p:nvCxnSpPr>
        <p:spPr>
          <a:xfrm>
            <a:off x="7551972" y="3023007"/>
            <a:ext cx="58775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A33085C-677B-784C-B5F5-A8DA2C577B2B}"/>
              </a:ext>
            </a:extLst>
          </p:cNvPr>
          <p:cNvSpPr txBox="1"/>
          <p:nvPr/>
        </p:nvSpPr>
        <p:spPr>
          <a:xfrm>
            <a:off x="144385" y="1410165"/>
            <a:ext cx="1350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Laboratory instruments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875A0A-CA90-E469-9900-12E5F70902C1}"/>
              </a:ext>
            </a:extLst>
          </p:cNvPr>
          <p:cNvSpPr txBox="1"/>
          <p:nvPr/>
        </p:nvSpPr>
        <p:spPr>
          <a:xfrm>
            <a:off x="1613973" y="1415044"/>
            <a:ext cx="1170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Data ingestion layer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D1D0BE-2AE6-1982-8E90-78F093233519}"/>
              </a:ext>
            </a:extLst>
          </p:cNvPr>
          <p:cNvSpPr txBox="1"/>
          <p:nvPr/>
        </p:nvSpPr>
        <p:spPr>
          <a:xfrm>
            <a:off x="4412885" y="1410165"/>
            <a:ext cx="14189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Intelligent converter Hub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9810B8-A36B-C074-0635-F3BBF7B097FC}"/>
              </a:ext>
            </a:extLst>
          </p:cNvPr>
          <p:cNvSpPr txBox="1"/>
          <p:nvPr/>
        </p:nvSpPr>
        <p:spPr>
          <a:xfrm>
            <a:off x="7935120" y="1433693"/>
            <a:ext cx="11897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ASM Files Data Lake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667090C-D64B-AAE7-4967-9409F4B81524}"/>
              </a:ext>
            </a:extLst>
          </p:cNvPr>
          <p:cNvSpPr/>
          <p:nvPr/>
        </p:nvSpPr>
        <p:spPr>
          <a:xfrm>
            <a:off x="8254335" y="2139159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 certified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DF3799D-A7CD-0E9F-070B-6D6E67B7B90C}"/>
              </a:ext>
            </a:extLst>
          </p:cNvPr>
          <p:cNvSpPr/>
          <p:nvPr/>
        </p:nvSpPr>
        <p:spPr>
          <a:xfrm>
            <a:off x="8231599" y="3040274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Schema compliant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BB6F2D8-4A2A-CBE5-8532-EFBA49ED9ED5}"/>
              </a:ext>
            </a:extLst>
          </p:cNvPr>
          <p:cNvSpPr/>
          <p:nvPr/>
        </p:nvSpPr>
        <p:spPr>
          <a:xfrm>
            <a:off x="8229692" y="4060763"/>
            <a:ext cx="589280" cy="36576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Audit trail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2F2F46B-57AD-70EA-9FB8-018BE8102890}"/>
              </a:ext>
            </a:extLst>
          </p:cNvPr>
          <p:cNvSpPr/>
          <p:nvPr/>
        </p:nvSpPr>
        <p:spPr>
          <a:xfrm>
            <a:off x="9327041" y="1625599"/>
            <a:ext cx="1377132" cy="3575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85E6537-CEF1-BE51-F49F-916C5491CC03}"/>
              </a:ext>
            </a:extLst>
          </p:cNvPr>
          <p:cNvSpPr/>
          <p:nvPr/>
        </p:nvSpPr>
        <p:spPr>
          <a:xfrm>
            <a:off x="9403420" y="3408880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Instrument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7317DBA-5000-06CC-8C1D-4A5CE65CEDBA}"/>
              </a:ext>
            </a:extLst>
          </p:cNvPr>
          <p:cNvSpPr/>
          <p:nvPr/>
        </p:nvSpPr>
        <p:spPr>
          <a:xfrm>
            <a:off x="9397856" y="2810766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19576BB-916D-C0DD-8A90-7568C048C897}"/>
              </a:ext>
            </a:extLst>
          </p:cNvPr>
          <p:cNvSpPr/>
          <p:nvPr/>
        </p:nvSpPr>
        <p:spPr>
          <a:xfrm>
            <a:off x="9401175" y="2171965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Sample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4E87985-C4DA-1A03-77AF-AF5F36BD96F5}"/>
              </a:ext>
            </a:extLst>
          </p:cNvPr>
          <p:cNvSpPr/>
          <p:nvPr/>
        </p:nvSpPr>
        <p:spPr>
          <a:xfrm>
            <a:off x="9397856" y="4033823"/>
            <a:ext cx="475488" cy="292608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509898-5C93-AFDC-CFE7-15BBBE594847}"/>
              </a:ext>
            </a:extLst>
          </p:cNvPr>
          <p:cNvSpPr/>
          <p:nvPr/>
        </p:nvSpPr>
        <p:spPr>
          <a:xfrm>
            <a:off x="10090387" y="2171384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Project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54D56C-1D03-3CAC-1D17-E8B67A28053C}"/>
              </a:ext>
            </a:extLst>
          </p:cNvPr>
          <p:cNvCxnSpPr>
            <a:stCxn id="66" idx="2"/>
            <a:endCxn id="65" idx="0"/>
          </p:cNvCxnSpPr>
          <p:nvPr/>
        </p:nvCxnSpPr>
        <p:spPr>
          <a:xfrm flipH="1">
            <a:off x="9635600" y="2459774"/>
            <a:ext cx="3202" cy="350992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32C3C3-A4BC-5FCD-80B2-312DEF0A4F93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>
            <a:off x="9635600" y="3103374"/>
            <a:ext cx="5564" cy="305506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50FBE1-200C-AEED-6288-3F952DA846F3}"/>
              </a:ext>
            </a:extLst>
          </p:cNvPr>
          <p:cNvCxnSpPr>
            <a:stCxn id="64" idx="2"/>
            <a:endCxn id="67" idx="0"/>
          </p:cNvCxnSpPr>
          <p:nvPr/>
        </p:nvCxnSpPr>
        <p:spPr>
          <a:xfrm flipH="1">
            <a:off x="9635600" y="3701488"/>
            <a:ext cx="5564" cy="33233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A598F8-6F0A-73E8-4E49-6F8C8119E1B9}"/>
              </a:ext>
            </a:extLst>
          </p:cNvPr>
          <p:cNvSpPr/>
          <p:nvPr/>
        </p:nvSpPr>
        <p:spPr>
          <a:xfrm>
            <a:off x="10108563" y="2813176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Protocol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709E21F-4E85-D96A-8CE3-B8B8277C6153}"/>
              </a:ext>
            </a:extLst>
          </p:cNvPr>
          <p:cNvSpPr/>
          <p:nvPr/>
        </p:nvSpPr>
        <p:spPr>
          <a:xfrm>
            <a:off x="10090387" y="3410302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Calibration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ABEAD79-6A35-0267-99B1-F9F4C7A93C57}"/>
              </a:ext>
            </a:extLst>
          </p:cNvPr>
          <p:cNvSpPr/>
          <p:nvPr/>
        </p:nvSpPr>
        <p:spPr>
          <a:xfrm>
            <a:off x="10090387" y="4031540"/>
            <a:ext cx="475254" cy="28780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E761332-C66E-F6EE-0B38-9627A917A8F6}"/>
              </a:ext>
            </a:extLst>
          </p:cNvPr>
          <p:cNvCxnSpPr>
            <a:stCxn id="66" idx="3"/>
            <a:endCxn id="9" idx="1"/>
          </p:cNvCxnSpPr>
          <p:nvPr/>
        </p:nvCxnSpPr>
        <p:spPr>
          <a:xfrm flipV="1">
            <a:off x="9876429" y="2315289"/>
            <a:ext cx="213958" cy="581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6DE4EAC-4DA2-823C-A11F-B34AD222400E}"/>
              </a:ext>
            </a:extLst>
          </p:cNvPr>
          <p:cNvCxnSpPr>
            <a:stCxn id="65" idx="3"/>
            <a:endCxn id="42" idx="1"/>
          </p:cNvCxnSpPr>
          <p:nvPr/>
        </p:nvCxnSpPr>
        <p:spPr>
          <a:xfrm>
            <a:off x="9873344" y="2957070"/>
            <a:ext cx="235219" cy="11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BEF8273-122E-23DD-1E0F-CD0CD148C172}"/>
              </a:ext>
            </a:extLst>
          </p:cNvPr>
          <p:cNvCxnSpPr>
            <a:stCxn id="64" idx="3"/>
            <a:endCxn id="68" idx="1"/>
          </p:cNvCxnSpPr>
          <p:nvPr/>
        </p:nvCxnSpPr>
        <p:spPr>
          <a:xfrm flipV="1">
            <a:off x="9878908" y="3554207"/>
            <a:ext cx="211479" cy="977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BF0E0BF-6AA8-DCA8-9066-115C5F42D3CD}"/>
              </a:ext>
            </a:extLst>
          </p:cNvPr>
          <p:cNvCxnSpPr>
            <a:stCxn id="67" idx="3"/>
            <a:endCxn id="69" idx="1"/>
          </p:cNvCxnSpPr>
          <p:nvPr/>
        </p:nvCxnSpPr>
        <p:spPr>
          <a:xfrm flipV="1">
            <a:off x="9873344" y="4175445"/>
            <a:ext cx="217043" cy="4682"/>
          </a:xfrm>
          <a:prstGeom prst="straightConnector1">
            <a:avLst/>
          </a:prstGeom>
          <a:ln w="3175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F5F7D0A5-9C80-11E4-8328-88F11D3834CE}"/>
              </a:ext>
            </a:extLst>
          </p:cNvPr>
          <p:cNvSpPr/>
          <p:nvPr/>
        </p:nvSpPr>
        <p:spPr>
          <a:xfrm>
            <a:off x="11099512" y="1595213"/>
            <a:ext cx="804164" cy="3575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B50F688-6C7E-A7B0-E555-F884F296A9A2}"/>
              </a:ext>
            </a:extLst>
          </p:cNvPr>
          <p:cNvSpPr/>
          <p:nvPr/>
        </p:nvSpPr>
        <p:spPr>
          <a:xfrm>
            <a:off x="11179427" y="2131069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Visualization Dashboard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DBB57B1-CD62-3B71-2BF7-B95D8933170F}"/>
              </a:ext>
            </a:extLst>
          </p:cNvPr>
          <p:cNvSpPr/>
          <p:nvPr/>
        </p:nvSpPr>
        <p:spPr>
          <a:xfrm>
            <a:off x="11172459" y="2788362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Method Development Analytics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C14D161-6D95-FB59-2FAE-EE7F550F8F3E}"/>
              </a:ext>
            </a:extLst>
          </p:cNvPr>
          <p:cNvSpPr/>
          <p:nvPr/>
        </p:nvSpPr>
        <p:spPr>
          <a:xfrm>
            <a:off x="11179427" y="3421925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Quality Certification Service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46AC887-00BF-2DF1-9CD6-653EC98D9D89}"/>
              </a:ext>
            </a:extLst>
          </p:cNvPr>
          <p:cNvSpPr/>
          <p:nvPr/>
        </p:nvSpPr>
        <p:spPr>
          <a:xfrm>
            <a:off x="11181557" y="4004908"/>
            <a:ext cx="637115" cy="2743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AI Insights Engine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851F79-CAE5-D14D-8A19-EDADB702A4E6}"/>
              </a:ext>
            </a:extLst>
          </p:cNvPr>
          <p:cNvSpPr txBox="1"/>
          <p:nvPr/>
        </p:nvSpPr>
        <p:spPr>
          <a:xfrm>
            <a:off x="9229850" y="1387266"/>
            <a:ext cx="15231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Knowledge Graph Platform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6EC2CB-9F4A-043E-BAA9-E8B709C3D5A0}"/>
              </a:ext>
            </a:extLst>
          </p:cNvPr>
          <p:cNvSpPr txBox="1"/>
          <p:nvPr/>
        </p:nvSpPr>
        <p:spPr>
          <a:xfrm>
            <a:off x="10944231" y="1395969"/>
            <a:ext cx="10935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Scientist Interface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A7BCE42-AD08-4C03-75B7-A3ECFB562E2A}"/>
              </a:ext>
            </a:extLst>
          </p:cNvPr>
          <p:cNvSpPr txBox="1"/>
          <p:nvPr/>
        </p:nvSpPr>
        <p:spPr>
          <a:xfrm>
            <a:off x="463700" y="242684"/>
            <a:ext cx="11213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Allotrope Converter Architecture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8711DF1-C89A-8BCB-5FA8-FA8B0F5245B8}"/>
              </a:ext>
            </a:extLst>
          </p:cNvPr>
          <p:cNvSpPr/>
          <p:nvPr/>
        </p:nvSpPr>
        <p:spPr>
          <a:xfrm>
            <a:off x="2861481" y="1305636"/>
            <a:ext cx="6281235" cy="4142198"/>
          </a:xfrm>
          <a:prstGeom prst="rect">
            <a:avLst/>
          </a:prstGeom>
          <a:noFill/>
          <a:ln w="127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CA222C3-7239-B1E5-3D23-A7F261B00F01}"/>
              </a:ext>
            </a:extLst>
          </p:cNvPr>
          <p:cNvCxnSpPr/>
          <p:nvPr/>
        </p:nvCxnSpPr>
        <p:spPr>
          <a:xfrm>
            <a:off x="8931702" y="3062682"/>
            <a:ext cx="395339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21F331E-0317-1D5A-C165-4D5631DB0B78}"/>
              </a:ext>
            </a:extLst>
          </p:cNvPr>
          <p:cNvCxnSpPr/>
          <p:nvPr/>
        </p:nvCxnSpPr>
        <p:spPr>
          <a:xfrm>
            <a:off x="10704173" y="3062682"/>
            <a:ext cx="3953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F9A6702-5868-F765-DB04-75ABE3F1234C}"/>
              </a:ext>
            </a:extLst>
          </p:cNvPr>
          <p:cNvSpPr txBox="1"/>
          <p:nvPr/>
        </p:nvSpPr>
        <p:spPr>
          <a:xfrm>
            <a:off x="9412372" y="1680109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Sample-Centric Approach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86FA83-E99B-BD72-4A6C-712302471B5B}"/>
              </a:ext>
            </a:extLst>
          </p:cNvPr>
          <p:cNvSpPr/>
          <p:nvPr/>
        </p:nvSpPr>
        <p:spPr>
          <a:xfrm>
            <a:off x="5426194" y="2518211"/>
            <a:ext cx="1762057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</a:rPr>
              <a:t>Dynamic code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</a:rPr>
              <a:t>Scientific review and approval workflow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</a:rPr>
              <a:t>Converter added to library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0FFE83-C54C-B4AF-65E7-47C10BFA8B35}"/>
              </a:ext>
            </a:extLst>
          </p:cNvPr>
          <p:cNvSpPr/>
          <p:nvPr/>
        </p:nvSpPr>
        <p:spPr>
          <a:xfrm>
            <a:off x="3573599" y="2523781"/>
            <a:ext cx="1762055" cy="3601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</a:rPr>
              <a:t>Select an approved converter from library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</a:rPr>
              <a:t>Scientific approval if new version is available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BBE3BAA-FD3F-0607-4B40-FA7161F5833F}"/>
              </a:ext>
            </a:extLst>
          </p:cNvPr>
          <p:cNvCxnSpPr>
            <a:cxnSpLocks/>
          </p:cNvCxnSpPr>
          <p:nvPr/>
        </p:nvCxnSpPr>
        <p:spPr>
          <a:xfrm flipH="1">
            <a:off x="4846664" y="2407035"/>
            <a:ext cx="330037" cy="128721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BF8974E-4E06-F004-50CB-18AE5E35CA93}"/>
              </a:ext>
            </a:extLst>
          </p:cNvPr>
          <p:cNvCxnSpPr>
            <a:cxnSpLocks/>
          </p:cNvCxnSpPr>
          <p:nvPr/>
        </p:nvCxnSpPr>
        <p:spPr>
          <a:xfrm>
            <a:off x="5431260" y="2403025"/>
            <a:ext cx="365623" cy="129425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52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0F0E2332-8AB5-90F5-94C5-A5F4240A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579743-DD1C-CE81-D13C-83AE63B28E5F}"/>
              </a:ext>
            </a:extLst>
          </p:cNvPr>
          <p:cNvSpPr/>
          <p:nvPr/>
        </p:nvSpPr>
        <p:spPr>
          <a:xfrm>
            <a:off x="2849417" y="489527"/>
            <a:ext cx="7638473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4E6A5-5BB2-AD62-1CBB-1A51AF1C4D77}"/>
              </a:ext>
            </a:extLst>
          </p:cNvPr>
          <p:cNvSpPr/>
          <p:nvPr/>
        </p:nvSpPr>
        <p:spPr>
          <a:xfrm>
            <a:off x="864906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292F81F5-A194-2B8D-D914-447CB47B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4333307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6CF98-F633-9A34-FB54-3E18C7E70496}"/>
              </a:ext>
            </a:extLst>
          </p:cNvPr>
          <p:cNvCxnSpPr/>
          <p:nvPr/>
        </p:nvCxnSpPr>
        <p:spPr>
          <a:xfrm flipV="1">
            <a:off x="4043311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3F863E1-FE9D-A912-5F8B-1B2CF10C4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201062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383C4A2E-240B-D400-EEE4-5935B00F94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384066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7D51CD75-CD1A-FCB9-0D06-215A906B3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421" y="255134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API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BE3CAD1E-6640-0A18-BF2C-5BDC6EE4A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1BD60829-2E8B-6CF0-F4E6-D6E6E4B8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613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13" name="TextBox 62">
            <a:extLst>
              <a:ext uri="{FF2B5EF4-FFF2-40B4-BE49-F238E27FC236}">
                <a16:creationId xmlns:a16="http://schemas.microsoft.com/office/drawing/2014/main" id="{06A38CDC-810A-AFD6-9D5D-362DAD73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06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589DDBF5-01F0-8460-8C38-3CC2966F2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139B61DC-382C-9A32-6CE3-6854A7BDD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54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82ADD69F-C92D-25F2-4F65-FC8C25410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64" name="TextBox 62">
            <a:extLst>
              <a:ext uri="{FF2B5EF4-FFF2-40B4-BE49-F238E27FC236}">
                <a16:creationId xmlns:a16="http://schemas.microsoft.com/office/drawing/2014/main" id="{709B537B-DBAB-8AAD-FE61-AD06D76CA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97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5ACB76C-F0DE-D3CA-B39B-D653B6F55B74}"/>
              </a:ext>
            </a:extLst>
          </p:cNvPr>
          <p:cNvSpPr/>
          <p:nvPr/>
        </p:nvSpPr>
        <p:spPr>
          <a:xfrm>
            <a:off x="1905104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2891FA3-C776-3C3C-8BC1-3039DD423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288050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65B81136-F952-8040-BB02-15002C1DF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03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30E72B-9790-1C11-5C4D-AB7089B910F1}"/>
              </a:ext>
            </a:extLst>
          </p:cNvPr>
          <p:cNvCxnSpPr>
            <a:endCxn id="17" idx="1"/>
          </p:cNvCxnSpPr>
          <p:nvPr/>
        </p:nvCxnSpPr>
        <p:spPr>
          <a:xfrm>
            <a:off x="4827083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7E33C1D-27CD-26AC-50AE-00CDCE201BA4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694838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6E0BC803-1E9C-655E-EB81-7AE5BC64B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8813922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00D8E9B2-8C53-BF00-A878-CB637C4EB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673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FE5B936-FBE8-552D-051C-819F587F2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7392316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8A85892C-0F8F-19D4-A3CE-5505B743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921FFD-BC09-35B4-3EE2-0C9F3CFFC479}"/>
              </a:ext>
            </a:extLst>
          </p:cNvPr>
          <p:cNvCxnSpPr>
            <a:endCxn id="14" idx="1"/>
          </p:cNvCxnSpPr>
          <p:nvPr/>
        </p:nvCxnSpPr>
        <p:spPr>
          <a:xfrm>
            <a:off x="6910758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3D0C587F-DAA9-98FD-7539-09F194C9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288049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9B3C8C0F-22B4-FBD6-1BBA-948ACF86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354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C66C5435-C736-30FD-B415-503CAFF4DD05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735293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8E78945-03B6-4865-95F7-0CD158F608AD}"/>
              </a:ext>
            </a:extLst>
          </p:cNvPr>
          <p:cNvCxnSpPr>
            <a:endCxn id="18" idx="1"/>
          </p:cNvCxnSpPr>
          <p:nvPr/>
        </p:nvCxnSpPr>
        <p:spPr>
          <a:xfrm>
            <a:off x="6781825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812951F5-75E2-AE11-C08E-6CC48810FE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6029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A18281-69B4-6C8B-6E09-57D139134709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4582880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7AA31629-B03C-4F94-9C77-EAF65A3F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586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1691F54-1ECA-7877-5ACF-4B51B369B4EE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877842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02D771F5-6D22-6448-D63F-4E4FCEE63DDF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6219260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76D5D2A-FF70-0CE0-4107-7B213B8257B6}"/>
              </a:ext>
            </a:extLst>
          </p:cNvPr>
          <p:cNvCxnSpPr>
            <a:endCxn id="4" idx="0"/>
          </p:cNvCxnSpPr>
          <p:nvPr/>
        </p:nvCxnSpPr>
        <p:spPr>
          <a:xfrm>
            <a:off x="7886092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D308F5C7-66D7-8242-2195-F76C89EAD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 flipH="1">
            <a:off x="4327989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B9F05F7-3F24-9E9E-FBAC-9D2C654238A2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4562939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6D4C76EA-196A-3CCC-8490-7CBF9C9CF56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9811486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03AFE89-4E46-B914-ADE0-47C4F69D34B1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9303222" y="2315901"/>
            <a:ext cx="50826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CF3CBD23-42DA-046B-A6A0-18F1F4AE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 flipH="1">
            <a:off x="10876086" y="207703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1CD6E22-FBD4-04C6-FC93-4706ED311AE1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305262" y="2311980"/>
            <a:ext cx="570824" cy="392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7A4DFC1-5424-3150-110F-CDDF278E7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275477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FB85AE6-3224-CAE3-EEAC-D0903112CD05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8318372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F96A02C7-B1BA-60B1-8A53-B9B229540902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9EF724-81C2-B77C-784C-C5271C5703C4}"/>
              </a:ext>
            </a:extLst>
          </p:cNvPr>
          <p:cNvSpPr/>
          <p:nvPr/>
        </p:nvSpPr>
        <p:spPr>
          <a:xfrm>
            <a:off x="2210827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78C1FE-162B-6EB9-CFC2-1C7551BE3082}"/>
              </a:ext>
            </a:extLst>
          </p:cNvPr>
          <p:cNvSpPr/>
          <p:nvPr/>
        </p:nvSpPr>
        <p:spPr>
          <a:xfrm>
            <a:off x="4092050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115648-D695-0AC3-4685-4F899F8D397D}"/>
              </a:ext>
            </a:extLst>
          </p:cNvPr>
          <p:cNvSpPr/>
          <p:nvPr/>
        </p:nvSpPr>
        <p:spPr>
          <a:xfrm>
            <a:off x="5729401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8BAB7F-5F6C-4823-CA0A-BB6A066DE914}"/>
              </a:ext>
            </a:extLst>
          </p:cNvPr>
          <p:cNvSpPr/>
          <p:nvPr/>
        </p:nvSpPr>
        <p:spPr>
          <a:xfrm>
            <a:off x="4967291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FA041A-53F7-704F-E6F5-165945B6A7D4}"/>
              </a:ext>
            </a:extLst>
          </p:cNvPr>
          <p:cNvSpPr/>
          <p:nvPr/>
        </p:nvSpPr>
        <p:spPr>
          <a:xfrm>
            <a:off x="6114256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493BDC-60C7-F1B8-D987-B0E682384423}"/>
              </a:ext>
            </a:extLst>
          </p:cNvPr>
          <p:cNvSpPr/>
          <p:nvPr/>
        </p:nvSpPr>
        <p:spPr>
          <a:xfrm>
            <a:off x="4138691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FEC704D-2084-1288-3F89-4A660F518B98}"/>
              </a:ext>
            </a:extLst>
          </p:cNvPr>
          <p:cNvSpPr/>
          <p:nvPr/>
        </p:nvSpPr>
        <p:spPr>
          <a:xfrm>
            <a:off x="7790113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31E5793-14A6-5F11-CFD7-57BE2A9F0149}"/>
              </a:ext>
            </a:extLst>
          </p:cNvPr>
          <p:cNvSpPr/>
          <p:nvPr/>
        </p:nvSpPr>
        <p:spPr>
          <a:xfrm>
            <a:off x="6664327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561FC9C-F7F1-04BD-AF14-8211F830C303}"/>
              </a:ext>
            </a:extLst>
          </p:cNvPr>
          <p:cNvSpPr/>
          <p:nvPr/>
        </p:nvSpPr>
        <p:spPr>
          <a:xfrm>
            <a:off x="10022044" y="2546930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A515281-F523-7D84-1410-0B1C51FE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4447"/>
              </p:ext>
            </p:extLst>
          </p:nvPr>
        </p:nvGraphicFramePr>
        <p:xfrm>
          <a:off x="401781" y="5510509"/>
          <a:ext cx="11480800" cy="1142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Code generated is submitted for review and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</a:t>
                      </a:r>
                      <a:r>
                        <a:rPr lang="en-US" sz="600" dirty="0"/>
                        <a:t>File conversion is triggered and send for validation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8AA4A37B-25EE-B733-3E63-ABA9B6943088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F79A4F4-20F5-0DA1-2C64-0FF314E56B5D}"/>
              </a:ext>
            </a:extLst>
          </p:cNvPr>
          <p:cNvSpPr/>
          <p:nvPr/>
        </p:nvSpPr>
        <p:spPr>
          <a:xfrm>
            <a:off x="3332879" y="553713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F03FF20-3582-EB8B-7146-5BB7402C4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7003435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516752B5-EC62-43BE-3B05-526565A4F783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827083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D6E62F2-0B0E-A8F1-B496-6BBD0CB00433}"/>
              </a:ext>
            </a:extLst>
          </p:cNvPr>
          <p:cNvCxnSpPr>
            <a:endCxn id="83" idx="1"/>
          </p:cNvCxnSpPr>
          <p:nvPr/>
        </p:nvCxnSpPr>
        <p:spPr>
          <a:xfrm>
            <a:off x="7497211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8697FF18-7C72-90F9-D832-C5591C0AE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970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2D6939B2-9FDB-483E-B4D7-5FBE7A519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012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51FC14-7EB9-2263-FFB0-451003265EAD}"/>
              </a:ext>
            </a:extLst>
          </p:cNvPr>
          <p:cNvSpPr txBox="1"/>
          <p:nvPr/>
        </p:nvSpPr>
        <p:spPr>
          <a:xfrm>
            <a:off x="6365275" y="993577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A49FF3C-ED31-074E-C766-DA212BBE3E81}"/>
              </a:ext>
            </a:extLst>
          </p:cNvPr>
          <p:cNvSpPr/>
          <p:nvPr/>
        </p:nvSpPr>
        <p:spPr>
          <a:xfrm>
            <a:off x="6221722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0469A24-B4F1-38AF-E000-34FB805C6039}"/>
              </a:ext>
            </a:extLst>
          </p:cNvPr>
          <p:cNvSpPr/>
          <p:nvPr/>
        </p:nvSpPr>
        <p:spPr>
          <a:xfrm>
            <a:off x="9059087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AF758D-3B3F-7C1C-D5A1-44C0788BEF23}"/>
              </a:ext>
            </a:extLst>
          </p:cNvPr>
          <p:cNvSpPr/>
          <p:nvPr/>
        </p:nvSpPr>
        <p:spPr>
          <a:xfrm>
            <a:off x="444036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FEF6274-454D-E595-C907-CE6A35645BAC}"/>
              </a:ext>
            </a:extLst>
          </p:cNvPr>
          <p:cNvSpPr/>
          <p:nvPr/>
        </p:nvSpPr>
        <p:spPr>
          <a:xfrm>
            <a:off x="3312956" y="616078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73FB93D-3572-FD54-D325-677E02E56BD9}"/>
              </a:ext>
            </a:extLst>
          </p:cNvPr>
          <p:cNvSpPr/>
          <p:nvPr/>
        </p:nvSpPr>
        <p:spPr>
          <a:xfrm>
            <a:off x="6219469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CDE53E3-F3BD-5154-58EE-131D7AEF888D}"/>
              </a:ext>
            </a:extLst>
          </p:cNvPr>
          <p:cNvSpPr/>
          <p:nvPr/>
        </p:nvSpPr>
        <p:spPr>
          <a:xfrm>
            <a:off x="9089980" y="618206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DC17BF27-6B4C-6A7D-9DA0-ED00A9CA9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5153651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F51E3390-5294-B1B9-AF2B-4EFD1216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241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69AA0D62-CBB9-CAB1-4690-118C8178E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1227711B-BC40-3FAF-7BFC-200453913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6145" y="251548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64F3F67-832F-2C67-C3B3-B91C01003350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6F58474A-3907-473C-A119-F23D49220F0C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62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D1DA85B6-9BCA-81A3-C54D-CC0C5D0D6528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267" y="3516453"/>
            <a:ext cx="381269" cy="485664"/>
          </a:xfrm>
          <a:prstGeom prst="rect">
            <a:avLst/>
          </a:prstGeom>
        </p:spPr>
      </p:pic>
      <p:pic>
        <p:nvPicPr>
          <p:cNvPr id="12" name="Graphic 7" descr="Amazon API Gateway service icon.">
            <a:extLst>
              <a:ext uri="{FF2B5EF4-FFF2-40B4-BE49-F238E27FC236}">
                <a16:creationId xmlns:a16="http://schemas.microsoft.com/office/drawing/2014/main" id="{24AA8B14-BD6A-4C6E-BEE2-8A0986E8F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3521258" y="2066601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6F74CD-EA5B-EEB9-581B-7A348CCF6898}"/>
              </a:ext>
            </a:extLst>
          </p:cNvPr>
          <p:cNvCxnSpPr>
            <a:stCxn id="100" idx="3"/>
          </p:cNvCxnSpPr>
          <p:nvPr/>
        </p:nvCxnSpPr>
        <p:spPr>
          <a:xfrm flipV="1">
            <a:off x="1486205" y="1176284"/>
            <a:ext cx="418899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843000-CAF3-81DD-600B-F2016C1E8529}"/>
              </a:ext>
            </a:extLst>
          </p:cNvPr>
          <p:cNvCxnSpPr>
            <a:stCxn id="101" idx="3"/>
          </p:cNvCxnSpPr>
          <p:nvPr/>
        </p:nvCxnSpPr>
        <p:spPr>
          <a:xfrm flipV="1">
            <a:off x="1480938" y="1917032"/>
            <a:ext cx="424166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DD4797-2DA8-0429-8BF8-9688F34D7D85}"/>
              </a:ext>
            </a:extLst>
          </p:cNvPr>
          <p:cNvCxnSpPr>
            <a:stCxn id="102" idx="3"/>
          </p:cNvCxnSpPr>
          <p:nvPr/>
        </p:nvCxnSpPr>
        <p:spPr>
          <a:xfrm flipV="1">
            <a:off x="1469365" y="2946304"/>
            <a:ext cx="435739" cy="689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F1B2DA0-3DA9-4076-4906-332AB36C6930}"/>
              </a:ext>
            </a:extLst>
          </p:cNvPr>
          <p:cNvCxnSpPr>
            <a:stCxn id="103" idx="3"/>
          </p:cNvCxnSpPr>
          <p:nvPr/>
        </p:nvCxnSpPr>
        <p:spPr>
          <a:xfrm>
            <a:off x="1406536" y="3759285"/>
            <a:ext cx="49856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F61D9F8-303C-26F2-7DDF-C06364218FBC}"/>
              </a:ext>
            </a:extLst>
          </p:cNvPr>
          <p:cNvCxnSpPr>
            <a:endCxn id="12" idx="1"/>
          </p:cNvCxnSpPr>
          <p:nvPr/>
        </p:nvCxnSpPr>
        <p:spPr>
          <a:xfrm flipV="1">
            <a:off x="2699431" y="2313489"/>
            <a:ext cx="821827" cy="1874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Graphic 90" descr="Gateway resource icon for the AWS Direct Connect service.">
            <a:extLst>
              <a:ext uri="{FF2B5EF4-FFF2-40B4-BE49-F238E27FC236}">
                <a16:creationId xmlns:a16="http://schemas.microsoft.com/office/drawing/2014/main" id="{C612D2D7-FF97-767D-5DC4-5A212B86C9A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3735" y="2096656"/>
            <a:ext cx="457200" cy="457200"/>
          </a:xfrm>
          <a:prstGeom prst="rect">
            <a:avLst/>
          </a:prstGeom>
        </p:spPr>
      </p:pic>
      <p:sp>
        <p:nvSpPr>
          <p:cNvPr id="97" name="TextBox 62">
            <a:extLst>
              <a:ext uri="{FF2B5EF4-FFF2-40B4-BE49-F238E27FC236}">
                <a16:creationId xmlns:a16="http://schemas.microsoft.com/office/drawing/2014/main" id="{DACBD8E1-C27A-D9FC-0878-53100263C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0168" y="2529492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Edge Gateway</a:t>
            </a:r>
          </a:p>
        </p:txBody>
      </p:sp>
    </p:spTree>
    <p:extLst>
      <p:ext uri="{BB962C8B-B14F-4D97-AF65-F5344CB8AC3E}">
        <p14:creationId xmlns:p14="http://schemas.microsoft.com/office/powerpoint/2010/main" val="262062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60D94-7CCE-89F0-7402-BE9423BE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B7C648F0-FCF4-1434-C0AC-551A263A8C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C5CE0B-FC6A-061B-1DDD-7954D770CA2D}"/>
              </a:ext>
            </a:extLst>
          </p:cNvPr>
          <p:cNvSpPr/>
          <p:nvPr/>
        </p:nvSpPr>
        <p:spPr>
          <a:xfrm>
            <a:off x="2849417" y="489527"/>
            <a:ext cx="7638473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6E7301-1373-0ED4-7C44-B32E463508FD}"/>
              </a:ext>
            </a:extLst>
          </p:cNvPr>
          <p:cNvSpPr/>
          <p:nvPr/>
        </p:nvSpPr>
        <p:spPr>
          <a:xfrm>
            <a:off x="864906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8" descr="Amazon Simple Storage Service (Amazon S3) service icon.">
            <a:extLst>
              <a:ext uri="{FF2B5EF4-FFF2-40B4-BE49-F238E27FC236}">
                <a16:creationId xmlns:a16="http://schemas.microsoft.com/office/drawing/2014/main" id="{F9314C5E-A4E6-75A1-21CD-8913E4BE9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3554011" y="2057630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2AF19F12-4551-71A9-3A27-C42816CFD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333307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C82CE0-39FE-4673-F247-4EDFC1488954}"/>
              </a:ext>
            </a:extLst>
          </p:cNvPr>
          <p:cNvCxnSpPr/>
          <p:nvPr/>
        </p:nvCxnSpPr>
        <p:spPr>
          <a:xfrm flipV="1">
            <a:off x="4043311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4942C122-8561-0279-CB09-F73E61EE6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201062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7497AE4F-443A-3FD8-88BE-17B097261C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384066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D4F26755-538E-E0E8-0839-71772F486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9421" y="252312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Raw files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70917AE2-2A18-3F50-47CD-3D4D2DEAA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497B5429-9D42-AFD2-116A-DFBE92E74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9613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pic>
        <p:nvPicPr>
          <p:cNvPr id="7" name="Graphic 21" descr="AWS DataSync service icon.">
            <a:extLst>
              <a:ext uri="{FF2B5EF4-FFF2-40B4-BE49-F238E27FC236}">
                <a16:creationId xmlns:a16="http://schemas.microsoft.com/office/drawing/2014/main" id="{4ED06B3B-52CD-F79C-BE91-6E5D8EBBE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2103932" y="1180067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62">
            <a:extLst>
              <a:ext uri="{FF2B5EF4-FFF2-40B4-BE49-F238E27FC236}">
                <a16:creationId xmlns:a16="http://schemas.microsoft.com/office/drawing/2014/main" id="{7B1A2D7F-E2A7-76F6-10B4-A0CC36718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06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841ED6DB-A685-C49F-1CC0-B55AD4E2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77E4B32C-312B-D7A0-7960-41096065D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54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A619098C-037D-C93E-F847-CAB24E64B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43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BD63568-B09B-2FEE-C19C-B5E46DC38A3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493796" y="1055231"/>
            <a:ext cx="610136" cy="3717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5EE6730-D830-FB02-954C-4F8953CBEDC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455125" y="1426955"/>
            <a:ext cx="648807" cy="5760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57B45AA-513A-E44E-9D95-B58CC05C8033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429662" y="2950515"/>
            <a:ext cx="683506" cy="176931"/>
          </a:xfrm>
          <a:prstGeom prst="bentConnector3">
            <a:avLst/>
          </a:prstGeom>
          <a:ln w="3175"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21" descr="AWS DataSync service icon.">
            <a:extLst>
              <a:ext uri="{FF2B5EF4-FFF2-40B4-BE49-F238E27FC236}">
                <a16:creationId xmlns:a16="http://schemas.microsoft.com/office/drawing/2014/main" id="{D33D4173-BB0D-AFA8-8D56-E5B9DBC3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2113168" y="288055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963CE8A-9AAB-FEB3-CA72-C309785327C7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1429662" y="3127446"/>
            <a:ext cx="683506" cy="663663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4FDE212-A601-2D06-0A31-BEAA10A7BC8A}"/>
              </a:ext>
            </a:extLst>
          </p:cNvPr>
          <p:cNvCxnSpPr/>
          <p:nvPr/>
        </p:nvCxnSpPr>
        <p:spPr>
          <a:xfrm>
            <a:off x="2606944" y="1426955"/>
            <a:ext cx="947067" cy="766624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51163A4-7D86-54CF-9B89-204286297F93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2606944" y="2444208"/>
            <a:ext cx="947067" cy="68323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2">
            <a:extLst>
              <a:ext uri="{FF2B5EF4-FFF2-40B4-BE49-F238E27FC236}">
                <a16:creationId xmlns:a16="http://schemas.microsoft.com/office/drawing/2014/main" id="{5C4C1E82-0597-108B-86B2-B2BDE9A32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97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281296-FDC6-A088-4547-6BB03CD07471}"/>
              </a:ext>
            </a:extLst>
          </p:cNvPr>
          <p:cNvSpPr/>
          <p:nvPr/>
        </p:nvSpPr>
        <p:spPr>
          <a:xfrm>
            <a:off x="1905104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FF8F45BB-3C6C-7B9D-5AAD-E1A9F5248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288050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703E6F1A-A993-4367-4E9A-8FA92BC9F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03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AAA524-4DE4-99E8-7B12-DFFA5B7FFAD7}"/>
              </a:ext>
            </a:extLst>
          </p:cNvPr>
          <p:cNvCxnSpPr>
            <a:endCxn id="17" idx="1"/>
          </p:cNvCxnSpPr>
          <p:nvPr/>
        </p:nvCxnSpPr>
        <p:spPr>
          <a:xfrm>
            <a:off x="4827083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9A5CD5C-B7D0-4045-3787-F1559E924697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694838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50307EA5-FBDA-1E03-D77A-9122EEC6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813922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D1D47AB3-DF9D-6E59-7568-077A43DE0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673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9EE71805-4DA5-EBD7-9088-9CD34B5AF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392316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496088AD-2598-093F-1C95-FD50D6D54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6601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A6525E-B32F-99E0-FEA8-C6A8E8C18C63}"/>
              </a:ext>
            </a:extLst>
          </p:cNvPr>
          <p:cNvCxnSpPr>
            <a:endCxn id="14" idx="1"/>
          </p:cNvCxnSpPr>
          <p:nvPr/>
        </p:nvCxnSpPr>
        <p:spPr>
          <a:xfrm>
            <a:off x="6910758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AFBB7B4-B7CF-E383-910D-BCB33BD61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288049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49FBC89C-C7E8-312F-6C5F-98423344F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354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5AD7A0E-3F7D-3BDD-5187-B5023D64D327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735293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04C5CE-7D22-BB9C-7F62-4F58081FFF75}"/>
              </a:ext>
            </a:extLst>
          </p:cNvPr>
          <p:cNvCxnSpPr>
            <a:endCxn id="18" idx="1"/>
          </p:cNvCxnSpPr>
          <p:nvPr/>
        </p:nvCxnSpPr>
        <p:spPr>
          <a:xfrm>
            <a:off x="6781825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A650AFEF-344C-C326-CEF2-A013718554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6029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649838-AFD4-84E3-941C-2D26AEFAE8B4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4582880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FE41700B-42D4-E98C-23F2-33ECE8BFF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586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BE891DD-6630-C837-E859-17015FD4C5E5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877842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D1372AD-E029-FBEA-6B8F-1C0D4A4AF3BF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6219260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4528DD7-F7AB-6DA0-3B32-D31D621C3370}"/>
              </a:ext>
            </a:extLst>
          </p:cNvPr>
          <p:cNvCxnSpPr>
            <a:endCxn id="4" idx="0"/>
          </p:cNvCxnSpPr>
          <p:nvPr/>
        </p:nvCxnSpPr>
        <p:spPr>
          <a:xfrm>
            <a:off x="7886092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7EC5FE5B-7EAB-A270-C864-821D16CD9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4327989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2C2ED4D-F35E-7851-1DD5-D5CB5057D9A1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4562939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B87D320E-992D-9742-6D0D-31677C4530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811486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B258E3-430A-DDC6-93BF-73AC17520927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9303222" y="2315901"/>
            <a:ext cx="50826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310418BD-8682-AF4C-F38A-B55943F15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10876086" y="207703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013157D-5D72-B506-166D-0C42F1FA48F7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305262" y="2311980"/>
            <a:ext cx="570824" cy="392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DCDB11E-5F51-05A1-1F2A-D3A5207B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8275477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1DD7F1FE-E23D-511F-3D7D-CBBA2D913514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8318372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7713426-7262-7B4F-7256-FD1B155A4DFB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A8FBE8-F87C-BFA5-0D2A-59B9866D93E8}"/>
              </a:ext>
            </a:extLst>
          </p:cNvPr>
          <p:cNvSpPr/>
          <p:nvPr/>
        </p:nvSpPr>
        <p:spPr>
          <a:xfrm>
            <a:off x="2210827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7FA7A8-ED11-A8A1-74A3-049DEB90814F}"/>
              </a:ext>
            </a:extLst>
          </p:cNvPr>
          <p:cNvSpPr/>
          <p:nvPr/>
        </p:nvSpPr>
        <p:spPr>
          <a:xfrm>
            <a:off x="4092050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9883C9-77EA-753C-8D2B-BD70B55990E6}"/>
              </a:ext>
            </a:extLst>
          </p:cNvPr>
          <p:cNvSpPr/>
          <p:nvPr/>
        </p:nvSpPr>
        <p:spPr>
          <a:xfrm>
            <a:off x="5729401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B86A99-68A5-C5EC-31A2-9493F088DE0A}"/>
              </a:ext>
            </a:extLst>
          </p:cNvPr>
          <p:cNvSpPr/>
          <p:nvPr/>
        </p:nvSpPr>
        <p:spPr>
          <a:xfrm>
            <a:off x="4967291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8DCC83B-7248-4CE2-8B41-B479B4BF4BB0}"/>
              </a:ext>
            </a:extLst>
          </p:cNvPr>
          <p:cNvSpPr/>
          <p:nvPr/>
        </p:nvSpPr>
        <p:spPr>
          <a:xfrm>
            <a:off x="6114256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DB2213-B054-3F87-4D2A-FE22F6E4373D}"/>
              </a:ext>
            </a:extLst>
          </p:cNvPr>
          <p:cNvSpPr/>
          <p:nvPr/>
        </p:nvSpPr>
        <p:spPr>
          <a:xfrm>
            <a:off x="4138691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5AC567-73C8-3B0D-7AA8-8BB806E4C31B}"/>
              </a:ext>
            </a:extLst>
          </p:cNvPr>
          <p:cNvSpPr/>
          <p:nvPr/>
        </p:nvSpPr>
        <p:spPr>
          <a:xfrm>
            <a:off x="7790113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FEC4B0E-0193-D116-6BEC-FA54783C5EDC}"/>
              </a:ext>
            </a:extLst>
          </p:cNvPr>
          <p:cNvSpPr/>
          <p:nvPr/>
        </p:nvSpPr>
        <p:spPr>
          <a:xfrm>
            <a:off x="6664327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5C6719A-B65F-5F7C-4BCE-80742F7992A6}"/>
              </a:ext>
            </a:extLst>
          </p:cNvPr>
          <p:cNvSpPr/>
          <p:nvPr/>
        </p:nvSpPr>
        <p:spPr>
          <a:xfrm>
            <a:off x="10022044" y="2546930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75605402-7522-E744-05C7-65F2E7683AE9}"/>
              </a:ext>
            </a:extLst>
          </p:cNvPr>
          <p:cNvGraphicFramePr>
            <a:graphicFrameLocks noGrp="1"/>
          </p:cNvGraphicFramePr>
          <p:nvPr/>
        </p:nvGraphicFramePr>
        <p:xfrm>
          <a:off x="401781" y="5510509"/>
          <a:ext cx="11480800" cy="1142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Code generated is submitted for review and approval.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</a:t>
                      </a:r>
                      <a:r>
                        <a:rPr lang="en-US" sz="600" dirty="0"/>
                        <a:t>File conversion is triggered and send for validation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00040317-25C7-3624-342C-0E56CF107AA8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948D087-D7C5-88FB-A491-4D189F2149FA}"/>
              </a:ext>
            </a:extLst>
          </p:cNvPr>
          <p:cNvSpPr/>
          <p:nvPr/>
        </p:nvSpPr>
        <p:spPr>
          <a:xfrm>
            <a:off x="3332879" y="553713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F513BC8D-D8DD-6ADE-7BD9-7FE945D37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003435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0E19832-EF17-9A09-6972-3D25707F0694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827083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9CFF060-3436-4FFB-9D16-F418C113EABD}"/>
              </a:ext>
            </a:extLst>
          </p:cNvPr>
          <p:cNvCxnSpPr>
            <a:endCxn id="83" idx="1"/>
          </p:cNvCxnSpPr>
          <p:nvPr/>
        </p:nvCxnSpPr>
        <p:spPr>
          <a:xfrm>
            <a:off x="7497211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2D5CC0C7-F888-D42F-6843-527AEC6AC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970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BD84C0C9-BC78-7E2C-09CC-4215FEA09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012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0DEA0F-7ED8-778C-BF38-4F0ACF1B14CD}"/>
              </a:ext>
            </a:extLst>
          </p:cNvPr>
          <p:cNvSpPr txBox="1"/>
          <p:nvPr/>
        </p:nvSpPr>
        <p:spPr>
          <a:xfrm>
            <a:off x="6365275" y="998458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6E6F46D-4CD4-D837-BB7F-5B488A54FA30}"/>
              </a:ext>
            </a:extLst>
          </p:cNvPr>
          <p:cNvSpPr/>
          <p:nvPr/>
        </p:nvSpPr>
        <p:spPr>
          <a:xfrm>
            <a:off x="6221722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CAC9EA-7FC6-C663-39D5-A74020F7BAB5}"/>
              </a:ext>
            </a:extLst>
          </p:cNvPr>
          <p:cNvSpPr/>
          <p:nvPr/>
        </p:nvSpPr>
        <p:spPr>
          <a:xfrm>
            <a:off x="9059087" y="554462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8737A00-FFA9-9F84-4000-EED76E3F79E7}"/>
              </a:ext>
            </a:extLst>
          </p:cNvPr>
          <p:cNvSpPr/>
          <p:nvPr/>
        </p:nvSpPr>
        <p:spPr>
          <a:xfrm>
            <a:off x="444036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702D002-A795-5FC6-6629-1A31A6A4752F}"/>
              </a:ext>
            </a:extLst>
          </p:cNvPr>
          <p:cNvSpPr/>
          <p:nvPr/>
        </p:nvSpPr>
        <p:spPr>
          <a:xfrm>
            <a:off x="3312956" y="616078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5278A59-FB61-73B7-F97F-E8445C09F5FE}"/>
              </a:ext>
            </a:extLst>
          </p:cNvPr>
          <p:cNvSpPr/>
          <p:nvPr/>
        </p:nvSpPr>
        <p:spPr>
          <a:xfrm>
            <a:off x="6219469" y="615030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1957C34-72DD-8EBA-557E-B1C17755EAAF}"/>
              </a:ext>
            </a:extLst>
          </p:cNvPr>
          <p:cNvSpPr/>
          <p:nvPr/>
        </p:nvSpPr>
        <p:spPr>
          <a:xfrm>
            <a:off x="9089980" y="618206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E38EE939-7DE7-F432-4690-AF8FFD13B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5153651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6B99E8D2-4AF5-54EB-996F-D9A2D4B95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5241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84603EEB-61BB-77D8-E3D8-A15F0B008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A536F368-9CCA-6E27-8B75-F962DD9B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6145" y="251548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8" name="TextBox 62">
            <a:extLst>
              <a:ext uri="{FF2B5EF4-FFF2-40B4-BE49-F238E27FC236}">
                <a16:creationId xmlns:a16="http://schemas.microsoft.com/office/drawing/2014/main" id="{80E9C1D3-E0E8-BA4F-0F12-7F6DAD6B0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582" y="333554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sp>
        <p:nvSpPr>
          <p:cNvPr id="99" name="TextBox 62">
            <a:extLst>
              <a:ext uri="{FF2B5EF4-FFF2-40B4-BE49-F238E27FC236}">
                <a16:creationId xmlns:a16="http://schemas.microsoft.com/office/drawing/2014/main" id="{46A8D56B-FE73-86D3-3F77-E74EB0417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457" y="1653339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B5DE862-6B92-A53B-1DD4-23014C827937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695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63009782-3E50-71CD-8513-7585ED845028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62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4D08B393-A25E-1B77-BAF6-48240A1ED0A0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267" y="3516453"/>
            <a:ext cx="381269" cy="4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82E6-F60F-AAA5-7B11-D3B058C9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>
            <a:extLst>
              <a:ext uri="{FF2B5EF4-FFF2-40B4-BE49-F238E27FC236}">
                <a16:creationId xmlns:a16="http://schemas.microsoft.com/office/drawing/2014/main" id="{203B67B1-1F73-614C-7763-3329E1DA99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971" y="810001"/>
            <a:ext cx="466510" cy="7325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04EA2A-136F-B7A6-8F81-A07F20B089EF}"/>
              </a:ext>
            </a:extLst>
          </p:cNvPr>
          <p:cNvSpPr/>
          <p:nvPr/>
        </p:nvSpPr>
        <p:spPr>
          <a:xfrm>
            <a:off x="2156692" y="489527"/>
            <a:ext cx="8624099" cy="4304145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2CADA9-82EC-4EDF-F163-A91B9EB67A33}"/>
              </a:ext>
            </a:extLst>
          </p:cNvPr>
          <p:cNvSpPr/>
          <p:nvPr/>
        </p:nvSpPr>
        <p:spPr>
          <a:xfrm>
            <a:off x="172182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8" descr="Amazon Simple Storage Service (Amazon S3) service icon.">
            <a:extLst>
              <a:ext uri="{FF2B5EF4-FFF2-40B4-BE49-F238E27FC236}">
                <a16:creationId xmlns:a16="http://schemas.microsoft.com/office/drawing/2014/main" id="{052FDFC4-EE2E-1E28-6898-555E9DD0B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861287" y="2057630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lambda" descr="Lambda service icon.">
            <a:extLst>
              <a:ext uri="{FF2B5EF4-FFF2-40B4-BE49-F238E27FC236}">
                <a16:creationId xmlns:a16="http://schemas.microsoft.com/office/drawing/2014/main" id="{E4EA4869-0CDD-0566-D010-05284469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3640583" y="2057126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C347C0-E568-575B-A934-81624FE9927D}"/>
              </a:ext>
            </a:extLst>
          </p:cNvPr>
          <p:cNvCxnSpPr/>
          <p:nvPr/>
        </p:nvCxnSpPr>
        <p:spPr>
          <a:xfrm flipV="1">
            <a:off x="3350587" y="2307723"/>
            <a:ext cx="294472" cy="35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4BA45FFF-2D6B-4E34-53CC-B99ECD400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4508338" y="206083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7" descr="Amazon Bedrock service icon.">
            <a:extLst>
              <a:ext uri="{FF2B5EF4-FFF2-40B4-BE49-F238E27FC236}">
                <a16:creationId xmlns:a16="http://schemas.microsoft.com/office/drawing/2014/main" id="{2A063D5C-50F3-239A-F4A1-2382A1644A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691342" y="2905604"/>
            <a:ext cx="493776" cy="493776"/>
          </a:xfrm>
          <a:prstGeom prst="rect">
            <a:avLst/>
          </a:prstGeom>
        </p:spPr>
      </p:pic>
      <p:sp>
        <p:nvSpPr>
          <p:cNvPr id="19" name="TextBox 62">
            <a:extLst>
              <a:ext uri="{FF2B5EF4-FFF2-40B4-BE49-F238E27FC236}">
                <a16:creationId xmlns:a16="http://schemas.microsoft.com/office/drawing/2014/main" id="{541D20B8-EEDF-F526-DAEC-49260BCC4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697" y="2523123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Raw files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0D941376-B9EA-6163-4E5A-4053A51C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877" y="33975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916417FE-5156-CEEB-AE48-1B15E2832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889" y="193835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pic>
        <p:nvPicPr>
          <p:cNvPr id="7" name="Graphic 21" descr="AWS DataSync service icon.">
            <a:extLst>
              <a:ext uri="{FF2B5EF4-FFF2-40B4-BE49-F238E27FC236}">
                <a16:creationId xmlns:a16="http://schemas.microsoft.com/office/drawing/2014/main" id="{4A5B9DA1-28D5-96F3-4C52-8F89A6ECE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411208" y="1180067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62">
            <a:extLst>
              <a:ext uri="{FF2B5EF4-FFF2-40B4-BE49-F238E27FC236}">
                <a16:creationId xmlns:a16="http://schemas.microsoft.com/office/drawing/2014/main" id="{C57B9190-D245-CE63-9701-2606ED7D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82" y="125924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 1</a:t>
            </a:r>
          </a:p>
        </p:txBody>
      </p:sp>
      <p:sp>
        <p:nvSpPr>
          <p:cNvPr id="24" name="TextBox 62">
            <a:extLst>
              <a:ext uri="{FF2B5EF4-FFF2-40B4-BE49-F238E27FC236}">
                <a16:creationId xmlns:a16="http://schemas.microsoft.com/office/drawing/2014/main" id="{CBC050E0-346F-B9EC-BB8F-43449CFFF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19" y="2249810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Instrument 2</a:t>
            </a:r>
          </a:p>
        </p:txBody>
      </p:sp>
      <p:sp>
        <p:nvSpPr>
          <p:cNvPr id="26" name="TextBox 62">
            <a:extLst>
              <a:ext uri="{FF2B5EF4-FFF2-40B4-BE49-F238E27FC236}">
                <a16:creationId xmlns:a16="http://schemas.microsoft.com/office/drawing/2014/main" id="{42D779AB-D69E-FBB7-D297-F16FEF3E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30" y="3183000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A6F71135-A1EA-DCDD-C14C-1CD7CF6E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19" y="3932484"/>
            <a:ext cx="7791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Instrument</a:t>
            </a: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4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E8BB3E5-188D-2770-88F8-F39CF773C5A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01072" y="1055231"/>
            <a:ext cx="610136" cy="3717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82C94DD-3BBD-FA36-A35D-764E7E43527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62401" y="1426955"/>
            <a:ext cx="648807" cy="576024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B7A5EA5-C787-9F59-5B05-36C37E2E32AE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736938" y="2950515"/>
            <a:ext cx="683506" cy="176931"/>
          </a:xfrm>
          <a:prstGeom prst="bentConnector3">
            <a:avLst/>
          </a:prstGeom>
          <a:ln w="3175"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Graphic 21" descr="AWS DataSync service icon.">
            <a:extLst>
              <a:ext uri="{FF2B5EF4-FFF2-40B4-BE49-F238E27FC236}">
                <a16:creationId xmlns:a16="http://schemas.microsoft.com/office/drawing/2014/main" id="{37884586-F893-9985-4C94-F6A66E1CF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1420444" y="288055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76585D7-C4C7-A7AC-79F0-ABB5BECCC1C6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736938" y="3127446"/>
            <a:ext cx="683506" cy="663663"/>
          </a:xfrm>
          <a:prstGeom prst="bentConnector3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16072DB-E4EC-0C23-441A-DB7090026656}"/>
              </a:ext>
            </a:extLst>
          </p:cNvPr>
          <p:cNvCxnSpPr/>
          <p:nvPr/>
        </p:nvCxnSpPr>
        <p:spPr>
          <a:xfrm>
            <a:off x="1914220" y="1426955"/>
            <a:ext cx="947067" cy="766624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F32D33C-4017-AB29-92C1-4BCB19C016E2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1914220" y="2444208"/>
            <a:ext cx="947067" cy="68323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2">
            <a:extLst>
              <a:ext uri="{FF2B5EF4-FFF2-40B4-BE49-F238E27FC236}">
                <a16:creationId xmlns:a16="http://schemas.microsoft.com/office/drawing/2014/main" id="{96036BF8-960F-F355-EA70-5A443405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573" y="250773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Routing Service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4B5FA2D-9C3F-53B8-F64D-286A9B7B0594}"/>
              </a:ext>
            </a:extLst>
          </p:cNvPr>
          <p:cNvSpPr/>
          <p:nvPr/>
        </p:nvSpPr>
        <p:spPr>
          <a:xfrm>
            <a:off x="1212380" y="521856"/>
            <a:ext cx="794327" cy="4064000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D6529F5-DA4D-B000-EF7D-F857E5B83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595326" y="1476744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2">
            <a:extLst>
              <a:ext uri="{FF2B5EF4-FFF2-40B4-BE49-F238E27FC236}">
                <a16:creationId xmlns:a16="http://schemas.microsoft.com/office/drawing/2014/main" id="{39AEF064-E5AA-98A6-CC9B-DA7CBD60C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079" y="2546930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Format Detector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E91F8D-9CDC-8E5B-EACB-2037809FEBE1}"/>
              </a:ext>
            </a:extLst>
          </p:cNvPr>
          <p:cNvCxnSpPr>
            <a:endCxn id="17" idx="1"/>
          </p:cNvCxnSpPr>
          <p:nvPr/>
        </p:nvCxnSpPr>
        <p:spPr>
          <a:xfrm>
            <a:off x="4134359" y="2307723"/>
            <a:ext cx="373979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7431B3A-EDFB-5D41-6836-5A7B31A49149}"/>
              </a:ext>
            </a:extLst>
          </p:cNvPr>
          <p:cNvCxnSpPr>
            <a:stCxn id="17" idx="3"/>
            <a:endCxn id="8" idx="1"/>
          </p:cNvCxnSpPr>
          <p:nvPr/>
        </p:nvCxnSpPr>
        <p:spPr>
          <a:xfrm flipV="1">
            <a:off x="5002114" y="1723632"/>
            <a:ext cx="593212" cy="584091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B0831321-A324-2C09-CDF5-2F90F9FD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121198" y="2072878"/>
            <a:ext cx="489300" cy="4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2">
            <a:extLst>
              <a:ext uri="{FF2B5EF4-FFF2-40B4-BE49-F238E27FC236}">
                <a16:creationId xmlns:a16="http://schemas.microsoft.com/office/drawing/2014/main" id="{E5D236B9-DAC1-1A80-599B-8052AA00D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0949" y="2553856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Document</a:t>
            </a:r>
          </a:p>
        </p:txBody>
      </p:sp>
      <p:pic>
        <p:nvPicPr>
          <p:cNvPr id="14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225929BA-00A8-89FC-2550-D04933B7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699592" y="147657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62">
            <a:extLst>
              <a:ext uri="{FF2B5EF4-FFF2-40B4-BE49-F238E27FC236}">
                <a16:creationId xmlns:a16="http://schemas.microsoft.com/office/drawing/2014/main" id="{6A81ADF7-5D4E-53CA-8813-6F474F4DF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877" y="1930145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996B0C-1E75-091E-56D7-56D3A0E7D1BB}"/>
              </a:ext>
            </a:extLst>
          </p:cNvPr>
          <p:cNvCxnSpPr>
            <a:endCxn id="14" idx="1"/>
          </p:cNvCxnSpPr>
          <p:nvPr/>
        </p:nvCxnSpPr>
        <p:spPr>
          <a:xfrm>
            <a:off x="6218034" y="1723461"/>
            <a:ext cx="48155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AF316832-912D-43F4-029D-F4F77DD55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5595325" y="290466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6A2EBB46-0F22-7991-7438-8BB417AD8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630" y="3374334"/>
            <a:ext cx="77916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Analyzer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7ED9234-538D-E6C9-5543-1326A83B0930}"/>
              </a:ext>
            </a:extLst>
          </p:cNvPr>
          <p:cNvCxnSpPr>
            <a:stCxn id="9" idx="2"/>
            <a:endCxn id="36" idx="1"/>
          </p:cNvCxnSpPr>
          <p:nvPr/>
        </p:nvCxnSpPr>
        <p:spPr>
          <a:xfrm rot="16200000" flipH="1">
            <a:off x="5042569" y="2598799"/>
            <a:ext cx="296849" cy="808663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FD0DFC0-2D5C-2443-2FB6-80BECB200EDC}"/>
              </a:ext>
            </a:extLst>
          </p:cNvPr>
          <p:cNvCxnSpPr>
            <a:endCxn id="18" idx="1"/>
          </p:cNvCxnSpPr>
          <p:nvPr/>
        </p:nvCxnSpPr>
        <p:spPr>
          <a:xfrm>
            <a:off x="6089101" y="3151556"/>
            <a:ext cx="602241" cy="93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Table resource icon for the Amazon DynamoDB service.">
            <a:extLst>
              <a:ext uri="{FF2B5EF4-FFF2-40B4-BE49-F238E27FC236}">
                <a16:creationId xmlns:a16="http://schemas.microsoft.com/office/drawing/2014/main" id="{3E0E9A1B-9D62-D6C0-08CC-BB2FFEB4E4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3305" y="3471107"/>
            <a:ext cx="457200" cy="4572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7749050-04B3-0C74-7190-73E9CC5A60F8}"/>
              </a:ext>
            </a:extLst>
          </p:cNvPr>
          <p:cNvCxnSpPr>
            <a:stCxn id="64" idx="2"/>
            <a:endCxn id="50" idx="0"/>
          </p:cNvCxnSpPr>
          <p:nvPr/>
        </p:nvCxnSpPr>
        <p:spPr>
          <a:xfrm>
            <a:off x="3890156" y="2815511"/>
            <a:ext cx="1749" cy="65559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62">
            <a:extLst>
              <a:ext uri="{FF2B5EF4-FFF2-40B4-BE49-F238E27FC236}">
                <a16:creationId xmlns:a16="http://schemas.microsoft.com/office/drawing/2014/main" id="{C5EDCE9F-085A-364E-46F1-A3AD9D7C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862" y="3902090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1B7006A-2981-0FEA-51D4-EA311E8E3AEC}"/>
              </a:ext>
            </a:extLst>
          </p:cNvPr>
          <p:cNvCxnSpPr>
            <a:stCxn id="18" idx="3"/>
            <a:endCxn id="10" idx="2"/>
          </p:cNvCxnSpPr>
          <p:nvPr/>
        </p:nvCxnSpPr>
        <p:spPr>
          <a:xfrm flipV="1">
            <a:off x="7185118" y="2753911"/>
            <a:ext cx="1190184" cy="39858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7B368BE-A8CB-70D6-695D-8D6066490C7B}"/>
              </a:ext>
            </a:extLst>
          </p:cNvPr>
          <p:cNvCxnSpPr>
            <a:stCxn id="22" idx="2"/>
            <a:endCxn id="50" idx="3"/>
          </p:cNvCxnSpPr>
          <p:nvPr/>
        </p:nvCxnSpPr>
        <p:spPr>
          <a:xfrm rot="5400000" flipH="1">
            <a:off x="5526536" y="2293677"/>
            <a:ext cx="5664" cy="2817725"/>
          </a:xfrm>
          <a:prstGeom prst="bentConnector4">
            <a:avLst>
              <a:gd name="adj1" fmla="val -4036017"/>
              <a:gd name="adj2" fmla="val 57175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917B351-30E6-C0DB-27FE-3C72337FF53F}"/>
              </a:ext>
            </a:extLst>
          </p:cNvPr>
          <p:cNvCxnSpPr>
            <a:endCxn id="4" idx="0"/>
          </p:cNvCxnSpPr>
          <p:nvPr/>
        </p:nvCxnSpPr>
        <p:spPr>
          <a:xfrm>
            <a:off x="7193368" y="1714967"/>
            <a:ext cx="1172480" cy="357911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phic 6" descr="General resource icon.">
            <a:extLst>
              <a:ext uri="{FF2B5EF4-FFF2-40B4-BE49-F238E27FC236}">
                <a16:creationId xmlns:a16="http://schemas.microsoft.com/office/drawing/2014/main" id="{F51EB133-0B82-237F-ABF0-13FDA388E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3635265" y="485872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EAC9A2E-E979-A9AF-5F92-F220F1A73FDF}"/>
              </a:ext>
            </a:extLst>
          </p:cNvPr>
          <p:cNvCxnSpPr>
            <a:stCxn id="68" idx="0"/>
            <a:endCxn id="54" idx="2"/>
          </p:cNvCxnSpPr>
          <p:nvPr/>
        </p:nvCxnSpPr>
        <p:spPr>
          <a:xfrm flipV="1">
            <a:off x="3870215" y="4102145"/>
            <a:ext cx="0" cy="756583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Graphic 70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5213C2E1-7A0E-4EA8-287F-18396D69F5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746832" y="2069013"/>
            <a:ext cx="493776" cy="493776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DEFAE01-E600-3439-3268-14C561CB317D}"/>
              </a:ext>
            </a:extLst>
          </p:cNvPr>
          <p:cNvCxnSpPr>
            <a:stCxn id="4" idx="3"/>
            <a:endCxn id="71" idx="1"/>
          </p:cNvCxnSpPr>
          <p:nvPr/>
        </p:nvCxnSpPr>
        <p:spPr>
          <a:xfrm flipV="1">
            <a:off x="8610498" y="2315901"/>
            <a:ext cx="1136334" cy="1627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Graphic 6" descr="General resource icon.">
            <a:extLst>
              <a:ext uri="{FF2B5EF4-FFF2-40B4-BE49-F238E27FC236}">
                <a16:creationId xmlns:a16="http://schemas.microsoft.com/office/drawing/2014/main" id="{344829C7-EF50-80F8-D4AE-0C0A84934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 flipH="1">
            <a:off x="11217662" y="207237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0646724-3AA8-A949-275B-8F1568E06E9C}"/>
              </a:ext>
            </a:extLst>
          </p:cNvPr>
          <p:cNvCxnSpPr>
            <a:cxnSpLocks/>
            <a:stCxn id="71" idx="3"/>
            <a:endCxn id="74" idx="3"/>
          </p:cNvCxnSpPr>
          <p:nvPr/>
        </p:nvCxnSpPr>
        <p:spPr>
          <a:xfrm flipV="1">
            <a:off x="10240608" y="2307320"/>
            <a:ext cx="977054" cy="858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C6C9B0FA-0710-F45D-B01B-14AAA5093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582753" y="386135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9D172D9D-EAB3-18A7-246C-081CFF195593}"/>
              </a:ext>
            </a:extLst>
          </p:cNvPr>
          <p:cNvCxnSpPr>
            <a:cxnSpLocks/>
            <a:stCxn id="83" idx="0"/>
          </p:cNvCxnSpPr>
          <p:nvPr/>
        </p:nvCxnSpPr>
        <p:spPr>
          <a:xfrm rot="5400000" flipH="1" flipV="1">
            <a:off x="7625648" y="3041262"/>
            <a:ext cx="1024084" cy="616098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7E9D2F21-6ACA-7044-FD50-99C7C18477F4}"/>
              </a:ext>
            </a:extLst>
          </p:cNvPr>
          <p:cNvSpPr/>
          <p:nvPr/>
        </p:nvSpPr>
        <p:spPr>
          <a:xfrm>
            <a:off x="401782" y="5486400"/>
            <a:ext cx="11480800" cy="10901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41B645-F07D-F6A8-602F-393A77D30F38}"/>
              </a:ext>
            </a:extLst>
          </p:cNvPr>
          <p:cNvSpPr/>
          <p:nvPr/>
        </p:nvSpPr>
        <p:spPr>
          <a:xfrm>
            <a:off x="1518103" y="72395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14769B-5BA3-DD6D-6DD1-3467FB2DACD7}"/>
              </a:ext>
            </a:extLst>
          </p:cNvPr>
          <p:cNvSpPr/>
          <p:nvPr/>
        </p:nvSpPr>
        <p:spPr>
          <a:xfrm>
            <a:off x="3399326" y="173725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FAB1D64-DE28-FAAB-C264-A4F9C2E00BFC}"/>
              </a:ext>
            </a:extLst>
          </p:cNvPr>
          <p:cNvSpPr/>
          <p:nvPr/>
        </p:nvSpPr>
        <p:spPr>
          <a:xfrm>
            <a:off x="5036677" y="189091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E58CD-DDCB-0931-97C2-859C04E175F0}"/>
              </a:ext>
            </a:extLst>
          </p:cNvPr>
          <p:cNvSpPr/>
          <p:nvPr/>
        </p:nvSpPr>
        <p:spPr>
          <a:xfrm>
            <a:off x="4274567" y="1241093"/>
            <a:ext cx="4505087" cy="341042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B60BAB-4732-F5D1-DF95-4602FD8929D9}"/>
              </a:ext>
            </a:extLst>
          </p:cNvPr>
          <p:cNvSpPr/>
          <p:nvPr/>
        </p:nvSpPr>
        <p:spPr>
          <a:xfrm>
            <a:off x="5421532" y="3245574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A6F9DE-ED82-1558-7F32-78B4C2CB585A}"/>
              </a:ext>
            </a:extLst>
          </p:cNvPr>
          <p:cNvSpPr/>
          <p:nvPr/>
        </p:nvSpPr>
        <p:spPr>
          <a:xfrm>
            <a:off x="3445967" y="4111202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84006D8-CBA5-475F-21A3-2BFD024A8DB7}"/>
              </a:ext>
            </a:extLst>
          </p:cNvPr>
          <p:cNvSpPr/>
          <p:nvPr/>
        </p:nvSpPr>
        <p:spPr>
          <a:xfrm>
            <a:off x="7097389" y="373368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07EA6BF-04F8-04E9-B575-0C374F55A57E}"/>
              </a:ext>
            </a:extLst>
          </p:cNvPr>
          <p:cNvSpPr/>
          <p:nvPr/>
        </p:nvSpPr>
        <p:spPr>
          <a:xfrm>
            <a:off x="5971603" y="4303639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9E1BF41-D952-B01B-214C-86C3F0BC2FE3}"/>
              </a:ext>
            </a:extLst>
          </p:cNvPr>
          <p:cNvSpPr/>
          <p:nvPr/>
        </p:nvSpPr>
        <p:spPr>
          <a:xfrm>
            <a:off x="9633414" y="187851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D8B77D0A-2DA8-71C4-609A-DF033303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71824"/>
              </p:ext>
            </p:extLst>
          </p:nvPr>
        </p:nvGraphicFramePr>
        <p:xfrm>
          <a:off x="401781" y="5510509"/>
          <a:ext cx="11480795" cy="1234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6159">
                  <a:extLst>
                    <a:ext uri="{9D8B030D-6E8A-4147-A177-3AD203B41FA5}">
                      <a16:colId xmlns:a16="http://schemas.microsoft.com/office/drawing/2014/main" val="3793043846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2561169564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4104787934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1665034415"/>
                    </a:ext>
                  </a:extLst>
                </a:gridCol>
                <a:gridCol w="2296159">
                  <a:extLst>
                    <a:ext uri="{9D8B030D-6E8A-4147-A177-3AD203B41FA5}">
                      <a16:colId xmlns:a16="http://schemas.microsoft.com/office/drawing/2014/main" val="2473307763"/>
                    </a:ext>
                  </a:extLst>
                </a:gridCol>
              </a:tblGrid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Instrument generates files and automatically pushes to the cloud for processing. </a:t>
                      </a:r>
                    </a:p>
                    <a:p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600" dirty="0"/>
                        <a:t>Format: instruments/{</a:t>
                      </a:r>
                      <a:r>
                        <a:rPr lang="en-US" sz="600" dirty="0" err="1"/>
                        <a:t>instrument_type</a:t>
                      </a:r>
                      <a:r>
                        <a:rPr lang="en-US" sz="600" dirty="0"/>
                        <a:t>}/{</a:t>
                      </a:r>
                      <a:r>
                        <a:rPr lang="en-US" sz="600" dirty="0" err="1"/>
                        <a:t>instrument_id</a:t>
                      </a:r>
                      <a:r>
                        <a:rPr lang="en-US" sz="600" dirty="0"/>
                        <a:t>}/{YYYY}/{MM}/{DD}/{filename}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Files are uploaded to a staging S3 bucket, an S3 event notification triggers the enhanced processor to initiate the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   </a:t>
                      </a:r>
                      <a:r>
                        <a:rPr lang="en-US" sz="600" dirty="0"/>
                        <a:t>File type is detected and routed to the existing converter, validated, and ASM compliant document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</a:t>
                      </a:r>
                      <a:r>
                        <a:rPr lang="en-US" sz="600" dirty="0"/>
                        <a:t>File type is unknown and routed to the analyzer for code generation.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 Code generated is submitted for review and approval.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5342"/>
                  </a:ext>
                </a:extLst>
              </a:tr>
              <a:tr h="533022"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Scientist reviews the code and approves/rejects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File conversion is triggered and send for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Knowledge graphs created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       </a:t>
                      </a:r>
                      <a:r>
                        <a:rPr lang="en-US" sz="600" dirty="0"/>
                        <a:t>Text analytics enabled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               Scientist monitors pipeline 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8815225"/>
                  </a:ext>
                </a:extLst>
              </a:tr>
            </a:tbl>
          </a:graphicData>
        </a:graphic>
      </p:graphicFrame>
      <p:sp>
        <p:nvSpPr>
          <p:cNvPr id="56" name="Oval 55">
            <a:extLst>
              <a:ext uri="{FF2B5EF4-FFF2-40B4-BE49-F238E27FC236}">
                <a16:creationId xmlns:a16="http://schemas.microsoft.com/office/drawing/2014/main" id="{E950BBDB-A49B-B61D-5D06-B89532AD17E2}"/>
              </a:ext>
            </a:extLst>
          </p:cNvPr>
          <p:cNvSpPr/>
          <p:nvPr/>
        </p:nvSpPr>
        <p:spPr>
          <a:xfrm>
            <a:off x="444036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F04DE9C-321D-7F55-47B3-61E4E3B0951C}"/>
              </a:ext>
            </a:extLst>
          </p:cNvPr>
          <p:cNvSpPr/>
          <p:nvPr/>
        </p:nvSpPr>
        <p:spPr>
          <a:xfrm>
            <a:off x="2724127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  <p:pic>
        <p:nvPicPr>
          <p:cNvPr id="62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926104C-0A72-BDB5-1FA7-E288E864D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310711" y="3947023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E928CE7-E0D0-1036-CEEF-D95A891DEB07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134359" y="3820222"/>
            <a:ext cx="2176352" cy="373689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B7AE15-9F92-3C30-2914-CB144D1BFBF0}"/>
              </a:ext>
            </a:extLst>
          </p:cNvPr>
          <p:cNvCxnSpPr>
            <a:endCxn id="83" idx="1"/>
          </p:cNvCxnSpPr>
          <p:nvPr/>
        </p:nvCxnSpPr>
        <p:spPr>
          <a:xfrm>
            <a:off x="6804487" y="4101549"/>
            <a:ext cx="778266" cy="669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62">
            <a:extLst>
              <a:ext uri="{FF2B5EF4-FFF2-40B4-BE49-F238E27FC236}">
                <a16:creationId xmlns:a16="http://schemas.microsoft.com/office/drawing/2014/main" id="{DADC3EAA-EC7B-BDB5-F020-748D5F92E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246" y="4447513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ASM Converter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96663F13-7461-3F07-3792-FDEC7DFB5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5288" y="430436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Validate Document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01D080-9E2B-92E8-05DF-93171FC3E926}"/>
              </a:ext>
            </a:extLst>
          </p:cNvPr>
          <p:cNvSpPr txBox="1"/>
          <p:nvPr/>
        </p:nvSpPr>
        <p:spPr>
          <a:xfrm>
            <a:off x="5777446" y="1017228"/>
            <a:ext cx="2054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Intelligent converter Hub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3D141B0-634B-61BE-940C-A8A0F24DEDDC}"/>
              </a:ext>
            </a:extLst>
          </p:cNvPr>
          <p:cNvSpPr/>
          <p:nvPr/>
        </p:nvSpPr>
        <p:spPr>
          <a:xfrm>
            <a:off x="5053833" y="5535711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CB1C9C4-F586-C669-694F-2991C90F5F40}"/>
              </a:ext>
            </a:extLst>
          </p:cNvPr>
          <p:cNvSpPr/>
          <p:nvPr/>
        </p:nvSpPr>
        <p:spPr>
          <a:xfrm>
            <a:off x="7356708" y="5540716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AC3D657-9317-7341-DD88-0546E397CA0F}"/>
              </a:ext>
            </a:extLst>
          </p:cNvPr>
          <p:cNvSpPr/>
          <p:nvPr/>
        </p:nvSpPr>
        <p:spPr>
          <a:xfrm>
            <a:off x="9659583" y="5555378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27B6F5C-12C9-23F6-7680-EDC60B03A286}"/>
              </a:ext>
            </a:extLst>
          </p:cNvPr>
          <p:cNvSpPr/>
          <p:nvPr/>
        </p:nvSpPr>
        <p:spPr>
          <a:xfrm>
            <a:off x="464221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6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FA29757-4214-BD98-A017-5CAA83D36AD5}"/>
              </a:ext>
            </a:extLst>
          </p:cNvPr>
          <p:cNvSpPr/>
          <p:nvPr/>
        </p:nvSpPr>
        <p:spPr>
          <a:xfrm>
            <a:off x="2785745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FABF837-810E-B0E0-BA03-6E5E30E5948D}"/>
              </a:ext>
            </a:extLst>
          </p:cNvPr>
          <p:cNvSpPr/>
          <p:nvPr/>
        </p:nvSpPr>
        <p:spPr>
          <a:xfrm>
            <a:off x="5053833" y="6258205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8</a:t>
            </a:r>
          </a:p>
        </p:txBody>
      </p:sp>
      <p:pic>
        <p:nvPicPr>
          <p:cNvPr id="93" name="Graphic 17" descr="AWS Step Functions service icon.">
            <a:extLst>
              <a:ext uri="{FF2B5EF4-FFF2-40B4-BE49-F238E27FC236}">
                <a16:creationId xmlns:a16="http://schemas.microsoft.com/office/drawing/2014/main" id="{1AAABA4B-67FD-A33F-15D0-F7D41958F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460927" y="1010279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TextBox 62">
            <a:extLst>
              <a:ext uri="{FF2B5EF4-FFF2-40B4-BE49-F238E27FC236}">
                <a16:creationId xmlns:a16="http://schemas.microsoft.com/office/drawing/2014/main" id="{A2FEFBBA-82F7-E130-D3FF-2531477F4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517" y="1474118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95" name="TextBox 62">
            <a:extLst>
              <a:ext uri="{FF2B5EF4-FFF2-40B4-BE49-F238E27FC236}">
                <a16:creationId xmlns:a16="http://schemas.microsoft.com/office/drawing/2014/main" id="{19C1A18F-BEEC-6E4A-9702-43B99EBBF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8184" y="5259165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6" name="TextBox 62">
            <a:extLst>
              <a:ext uri="{FF2B5EF4-FFF2-40B4-BE49-F238E27FC236}">
                <a16:creationId xmlns:a16="http://schemas.microsoft.com/office/drawing/2014/main" id="{AEB448BB-2AD2-B3B7-F096-C259F1EC2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3876" y="2507734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Scientist</a:t>
            </a:r>
          </a:p>
        </p:txBody>
      </p:sp>
      <p:sp>
        <p:nvSpPr>
          <p:cNvPr id="98" name="TextBox 62">
            <a:extLst>
              <a:ext uri="{FF2B5EF4-FFF2-40B4-BE49-F238E27FC236}">
                <a16:creationId xmlns:a16="http://schemas.microsoft.com/office/drawing/2014/main" id="{600CB219-281C-5169-91F0-3104FA200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858" y="3335544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sp>
        <p:nvSpPr>
          <p:cNvPr id="99" name="TextBox 62">
            <a:extLst>
              <a:ext uri="{FF2B5EF4-FFF2-40B4-BE49-F238E27FC236}">
                <a16:creationId xmlns:a16="http://schemas.microsoft.com/office/drawing/2014/main" id="{06791AA5-1257-E2BA-D047-FE9FFBFF0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33" y="1653339"/>
            <a:ext cx="779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Data Movement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81346435-9687-0DB8-313B-A8857E622EC8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971" y="1563178"/>
            <a:ext cx="461243" cy="707709"/>
          </a:xfrm>
          <a:prstGeom prst="rect">
            <a:avLst/>
          </a:prstGeom>
        </p:spPr>
      </p:pic>
      <p:pic>
        <p:nvPicPr>
          <p:cNvPr id="102" name="Picture 101" descr="A picture containing device&#10;&#10;Description automatically generated">
            <a:extLst>
              <a:ext uri="{FF2B5EF4-FFF2-40B4-BE49-F238E27FC236}">
                <a16:creationId xmlns:a16="http://schemas.microsoft.com/office/drawing/2014/main" id="{4EFABFC5-F999-DA4B-9D2D-539E9917F5B3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38" y="2692250"/>
            <a:ext cx="529003" cy="52190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0A2CAA1-F172-1822-6263-A590972180A9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543" y="3516453"/>
            <a:ext cx="381269" cy="485664"/>
          </a:xfrm>
          <a:prstGeom prst="rect">
            <a:avLst/>
          </a:prstGeom>
        </p:spPr>
      </p:pic>
      <p:pic>
        <p:nvPicPr>
          <p:cNvPr id="12" name="lambda" descr="Lambda service icon.">
            <a:extLst>
              <a:ext uri="{FF2B5EF4-FFF2-40B4-BE49-F238E27FC236}">
                <a16:creationId xmlns:a16="http://schemas.microsoft.com/office/drawing/2014/main" id="{C7F3D489-9BDF-E536-F956-8AD75C44E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9089633" y="1136188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14" descr="Amazon OpenSearch Service service icon.">
            <a:extLst>
              <a:ext uri="{FF2B5EF4-FFF2-40B4-BE49-F238E27FC236}">
                <a16:creationId xmlns:a16="http://schemas.microsoft.com/office/drawing/2014/main" id="{FBB336E8-6221-154E-D1AD-08F1EC0A6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9139638" y="3003130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23" descr="Amazon Neptune service icon.">
            <a:extLst>
              <a:ext uri="{FF2B5EF4-FFF2-40B4-BE49-F238E27FC236}">
                <a16:creationId xmlns:a16="http://schemas.microsoft.com/office/drawing/2014/main" id="{9BA02D6C-E8B2-F83E-7686-26579181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9825679" y="115466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CBF2C79E-CD7A-6176-27D5-5684AC21E9CE}"/>
              </a:ext>
            </a:extLst>
          </p:cNvPr>
          <p:cNvCxnSpPr>
            <a:cxnSpLocks/>
            <a:stCxn id="10" idx="0"/>
            <a:endCxn id="28" idx="1"/>
          </p:cNvCxnSpPr>
          <p:nvPr/>
        </p:nvCxnSpPr>
        <p:spPr>
          <a:xfrm rot="16200000" flipH="1">
            <a:off x="8409389" y="2519769"/>
            <a:ext cx="696162" cy="764336"/>
          </a:xfrm>
          <a:prstGeom prst="bentConnector4">
            <a:avLst>
              <a:gd name="adj1" fmla="val 6302"/>
              <a:gd name="adj2" fmla="val 76451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4316501F-EC9F-6963-1B54-6FB0430F38A8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8464855" y="1432348"/>
            <a:ext cx="674050" cy="575506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338E7FA-2FA1-E8D3-B2A6-DD8C672B8AC3}"/>
              </a:ext>
            </a:extLst>
          </p:cNvPr>
          <p:cNvCxnSpPr>
            <a:endCxn id="30" idx="1"/>
          </p:cNvCxnSpPr>
          <p:nvPr/>
        </p:nvCxnSpPr>
        <p:spPr>
          <a:xfrm>
            <a:off x="9582726" y="1392139"/>
            <a:ext cx="242953" cy="941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Graphic 107" descr="Amazon QuickSight service icon.">
            <a:extLst>
              <a:ext uri="{FF2B5EF4-FFF2-40B4-BE49-F238E27FC236}">
                <a16:creationId xmlns:a16="http://schemas.microsoft.com/office/drawing/2014/main" id="{138FAD8B-DE80-5D51-E8F0-2A8239131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9933290" y="2999585"/>
            <a:ext cx="493776" cy="493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7628609-C94F-B287-3279-5F65447DC4C6}"/>
              </a:ext>
            </a:extLst>
          </p:cNvPr>
          <p:cNvCxnSpPr>
            <a:endCxn id="108" idx="1"/>
          </p:cNvCxnSpPr>
          <p:nvPr/>
        </p:nvCxnSpPr>
        <p:spPr>
          <a:xfrm>
            <a:off x="9647382" y="3245574"/>
            <a:ext cx="285908" cy="89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62">
            <a:extLst>
              <a:ext uri="{FF2B5EF4-FFF2-40B4-BE49-F238E27FC236}">
                <a16:creationId xmlns:a16="http://schemas.microsoft.com/office/drawing/2014/main" id="{7E371F81-EC8B-AE92-FB60-36B8D3632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695" y="3487442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/>
              <a:t>Text </a:t>
            </a:r>
            <a:r>
              <a:rPr lang="en-US" altLang="en-US" dirty="0"/>
              <a:t>Analytics</a:t>
            </a:r>
          </a:p>
        </p:txBody>
      </p:sp>
      <p:sp>
        <p:nvSpPr>
          <p:cNvPr id="112" name="TextBox 62">
            <a:extLst>
              <a:ext uri="{FF2B5EF4-FFF2-40B4-BE49-F238E27FC236}">
                <a16:creationId xmlns:a16="http://schemas.microsoft.com/office/drawing/2014/main" id="{A4446919-0E21-6A7A-F2B4-6EDF280F9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967" y="1604094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Create Semantic Layer</a:t>
            </a:r>
          </a:p>
        </p:txBody>
      </p:sp>
      <p:sp>
        <p:nvSpPr>
          <p:cNvPr id="114" name="TextBox 62">
            <a:extLst>
              <a:ext uri="{FF2B5EF4-FFF2-40B4-BE49-F238E27FC236}">
                <a16:creationId xmlns:a16="http://schemas.microsoft.com/office/drawing/2014/main" id="{1F6D3BD8-C3BE-34DA-E9EC-8565CA6C8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1921" y="1622368"/>
            <a:ext cx="8087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Knowledge Graphs</a:t>
            </a:r>
          </a:p>
        </p:txBody>
      </p:sp>
      <p:sp>
        <p:nvSpPr>
          <p:cNvPr id="115" name="TextBox 62">
            <a:extLst>
              <a:ext uri="{FF2B5EF4-FFF2-40B4-BE49-F238E27FC236}">
                <a16:creationId xmlns:a16="http://schemas.microsoft.com/office/drawing/2014/main" id="{31A49400-61D4-5351-FEBB-67E7E6890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507" y="3459277"/>
            <a:ext cx="80870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Visualization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F6FFFCA-2236-6BC4-F5AF-F035AFA3C86E}"/>
              </a:ext>
            </a:extLst>
          </p:cNvPr>
          <p:cNvSpPr/>
          <p:nvPr/>
        </p:nvSpPr>
        <p:spPr>
          <a:xfrm>
            <a:off x="7371957" y="6267441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54AAF94-CA06-E879-CBE2-1CE5A3BBC7FC}"/>
              </a:ext>
            </a:extLst>
          </p:cNvPr>
          <p:cNvSpPr/>
          <p:nvPr/>
        </p:nvSpPr>
        <p:spPr>
          <a:xfrm>
            <a:off x="9678252" y="6231313"/>
            <a:ext cx="146304" cy="14630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10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66E288D-7003-4108-6736-1771569D1035}"/>
              </a:ext>
            </a:extLst>
          </p:cNvPr>
          <p:cNvSpPr/>
          <p:nvPr/>
        </p:nvSpPr>
        <p:spPr>
          <a:xfrm>
            <a:off x="9714820" y="3637597"/>
            <a:ext cx="137160" cy="13716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9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BB95165-B6B1-C71B-EEEB-76B94EECAD14}"/>
              </a:ext>
            </a:extLst>
          </p:cNvPr>
          <p:cNvSpPr/>
          <p:nvPr/>
        </p:nvSpPr>
        <p:spPr>
          <a:xfrm>
            <a:off x="10126396" y="2525966"/>
            <a:ext cx="146304" cy="146304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10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E90B6FE6-F3A8-E44A-0BA7-B37C14F29E24}"/>
              </a:ext>
            </a:extLst>
          </p:cNvPr>
          <p:cNvCxnSpPr>
            <a:endCxn id="96" idx="2"/>
          </p:cNvCxnSpPr>
          <p:nvPr/>
        </p:nvCxnSpPr>
        <p:spPr>
          <a:xfrm flipV="1">
            <a:off x="10437091" y="2707789"/>
            <a:ext cx="1041138" cy="53778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21C62C4D-9048-BEAE-6111-A34F87078C4E}"/>
              </a:ext>
            </a:extLst>
          </p:cNvPr>
          <p:cNvCxnSpPr>
            <a:endCxn id="74" idx="0"/>
          </p:cNvCxnSpPr>
          <p:nvPr/>
        </p:nvCxnSpPr>
        <p:spPr>
          <a:xfrm>
            <a:off x="10330873" y="1426955"/>
            <a:ext cx="1121739" cy="645415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95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52A1-FCD4-52D6-1C36-1DABFCD13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D8894-9F92-AC54-4AA7-E61862FCF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7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5" descr="AWS Storage Gateway service icon.">
            <a:extLst>
              <a:ext uri="{FF2B5EF4-FFF2-40B4-BE49-F238E27FC236}">
                <a16:creationId xmlns:a16="http://schemas.microsoft.com/office/drawing/2014/main" id="{180F5F01-466B-0902-4CB1-71148AE7D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821013" y="5038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F7DA54D6-736A-909B-9D24-303B9757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7" y="1265815"/>
            <a:ext cx="220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Storage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pic>
        <p:nvPicPr>
          <p:cNvPr id="4" name="Graphic 8" descr="Amazon Simple Storage Service (Amazon S3) service icon.">
            <a:extLst>
              <a:ext uri="{FF2B5EF4-FFF2-40B4-BE49-F238E27FC236}">
                <a16:creationId xmlns:a16="http://schemas.microsoft.com/office/drawing/2014/main" id="{8C6F06F0-264A-6F5C-7AE2-5D05DE86A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340539" y="5729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E5A18514-88A8-28A4-9FAA-0A6051207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833" y="1382857"/>
            <a:ext cx="2239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6" name="Graphic 23" descr="Amazon DynamoDB service icon.">
            <a:extLst>
              <a:ext uri="{FF2B5EF4-FFF2-40B4-BE49-F238E27FC236}">
                <a16:creationId xmlns:a16="http://schemas.microsoft.com/office/drawing/2014/main" id="{3AA7E8E6-FE05-787F-71B9-7539FC343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4366202" y="58258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2">
            <a:extLst>
              <a:ext uri="{FF2B5EF4-FFF2-40B4-BE49-F238E27FC236}">
                <a16:creationId xmlns:a16="http://schemas.microsoft.com/office/drawing/2014/main" id="{319F9D39-0D1D-7EB0-78A7-614B33073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8490" y="134617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pic>
        <p:nvPicPr>
          <p:cNvPr id="8" name="Graphic 7" descr="Amazon Bedrock service icon.">
            <a:extLst>
              <a:ext uri="{FF2B5EF4-FFF2-40B4-BE49-F238E27FC236}">
                <a16:creationId xmlns:a16="http://schemas.microsoft.com/office/drawing/2014/main" id="{BD908D70-676B-8B44-DF2E-4260291C84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968963" y="561518"/>
            <a:ext cx="762000" cy="762000"/>
          </a:xfrm>
          <a:prstGeom prst="rect">
            <a:avLst/>
          </a:prstGeom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1E96908F-79F9-03B0-5A5B-AC5BCD579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391" y="1325105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Bedrock</a:t>
            </a:r>
          </a:p>
        </p:txBody>
      </p:sp>
      <p:pic>
        <p:nvPicPr>
          <p:cNvPr id="10" name="Graphic 7" descr="Amazon API Gateway service icon.">
            <a:extLst>
              <a:ext uri="{FF2B5EF4-FFF2-40B4-BE49-F238E27FC236}">
                <a16:creationId xmlns:a16="http://schemas.microsoft.com/office/drawing/2014/main" id="{62BD80DC-400E-441F-B2C4-9E27678E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7685243" y="50415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DC467F9-81F3-BEC7-CFEB-5DE5D0621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468" y="1266156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API Gateway</a:t>
            </a:r>
          </a:p>
        </p:txBody>
      </p:sp>
      <p:pic>
        <p:nvPicPr>
          <p:cNvPr id="12" name="Graphic 26" descr="Amazon Simple Queue Service (Amazon SQS) service icon.">
            <a:extLst>
              <a:ext uri="{FF2B5EF4-FFF2-40B4-BE49-F238E27FC236}">
                <a16:creationId xmlns:a16="http://schemas.microsoft.com/office/drawing/2014/main" id="{D58FF821-938B-CBB0-42BA-98751D9E8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>
            <a:off x="429782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F2EB3A39-F304-E064-29B8-DEB8B75E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25162" y="2957219"/>
            <a:ext cx="2292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Queue Service (Amazon SQS)</a:t>
            </a:r>
          </a:p>
        </p:txBody>
      </p:sp>
      <p:pic>
        <p:nvPicPr>
          <p:cNvPr id="14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78AF7469-BB48-549B-E83E-97AFF067F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2265350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9">
            <a:extLst>
              <a:ext uri="{FF2B5EF4-FFF2-40B4-BE49-F238E27FC236}">
                <a16:creationId xmlns:a16="http://schemas.microsoft.com/office/drawing/2014/main" id="{8BCF8210-2F01-56B7-4DBB-FC0987FB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188" y="2935697"/>
            <a:ext cx="2268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Notification Service (Amazon SNS)</a:t>
            </a:r>
          </a:p>
        </p:txBody>
      </p:sp>
      <p:pic>
        <p:nvPicPr>
          <p:cNvPr id="16" name="Graphic 17" descr="AWS Step Functions service icon.">
            <a:extLst>
              <a:ext uri="{FF2B5EF4-FFF2-40B4-BE49-F238E27FC236}">
                <a16:creationId xmlns:a16="http://schemas.microsoft.com/office/drawing/2014/main" id="{EC1341B0-3A82-AAAD-FF39-B8782A17E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3947752" y="21949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1C64A1D7-3F0B-0B95-E632-8D7704873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322" y="3021813"/>
            <a:ext cx="2268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Step Functions</a:t>
            </a:r>
          </a:p>
        </p:txBody>
      </p:sp>
      <p:pic>
        <p:nvPicPr>
          <p:cNvPr id="18" name="lambda" descr="Lambda service icon.">
            <a:extLst>
              <a:ext uri="{FF2B5EF4-FFF2-40B4-BE49-F238E27FC236}">
                <a16:creationId xmlns:a16="http://schemas.microsoft.com/office/drawing/2014/main" id="{D97BE7D1-9274-F48C-1B9E-5FED6F7AD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5695039" y="224412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label5">
            <a:extLst>
              <a:ext uri="{FF2B5EF4-FFF2-40B4-BE49-F238E27FC236}">
                <a16:creationId xmlns:a16="http://schemas.microsoft.com/office/drawing/2014/main" id="{07F36535-FAF6-B118-CF5B-0B692827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373" y="3003084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20" name="Graphic 8" descr="Folder resource icon for the General Icons category.">
            <a:extLst>
              <a:ext uri="{FF2B5EF4-FFF2-40B4-BE49-F238E27FC236}">
                <a16:creationId xmlns:a16="http://schemas.microsoft.com/office/drawing/2014/main" id="{B0FADD01-4D75-3E38-CF89-8CB4F965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10844718" y="354327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20" descr="File system resource icon for the Amazon FSx for Lustre service.">
            <a:extLst>
              <a:ext uri="{FF2B5EF4-FFF2-40B4-BE49-F238E27FC236}">
                <a16:creationId xmlns:a16="http://schemas.microsoft.com/office/drawing/2014/main" id="{3E0B6A97-6926-1EEE-F2D9-959EB42812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66618" y="4243081"/>
            <a:ext cx="457200" cy="4572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7F526504-BDC1-C484-886A-A4EA9AB9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0522" y="4639883"/>
            <a:ext cx="11493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File system</a:t>
            </a:r>
          </a:p>
        </p:txBody>
      </p:sp>
      <p:pic>
        <p:nvPicPr>
          <p:cNvPr id="23" name="Graphic 22" descr="S3 Standard storage class icon for the Amazon S3 service.">
            <a:extLst>
              <a:ext uri="{FF2B5EF4-FFF2-40B4-BE49-F238E27FC236}">
                <a16:creationId xmlns:a16="http://schemas.microsoft.com/office/drawing/2014/main" id="{7E84C885-4BEB-E7A0-C339-D38D67BDD07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1013" y="3932969"/>
            <a:ext cx="457200" cy="457200"/>
          </a:xfrm>
          <a:prstGeom prst="rect">
            <a:avLst/>
          </a:prstGeom>
        </p:spPr>
      </p:pic>
      <p:sp>
        <p:nvSpPr>
          <p:cNvPr id="24" name="TextBox 62">
            <a:extLst>
              <a:ext uri="{FF2B5EF4-FFF2-40B4-BE49-F238E27FC236}">
                <a16:creationId xmlns:a16="http://schemas.microsoft.com/office/drawing/2014/main" id="{E895AF77-20AA-1AE2-5338-CB5F4000E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82" y="4398106"/>
            <a:ext cx="13827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S3 Standard</a:t>
            </a:r>
          </a:p>
        </p:txBody>
      </p:sp>
      <p:pic>
        <p:nvPicPr>
          <p:cNvPr id="25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677913D9-36D3-1561-BD5C-1804325FC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2036750" y="396931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dna sequencing Icon 6993747">
            <a:extLst>
              <a:ext uri="{FF2B5EF4-FFF2-40B4-BE49-F238E27FC236}">
                <a16:creationId xmlns:a16="http://schemas.microsoft.com/office/drawing/2014/main" id="{7287FC14-B3C5-84D5-B89F-24607B97F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duotone>
              <a:srgbClr val="D0D0CE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539" y="362220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raphic 21" descr="AWS DataSync service icon.">
            <a:extLst>
              <a:ext uri="{FF2B5EF4-FFF2-40B4-BE49-F238E27FC236}">
                <a16:creationId xmlns:a16="http://schemas.microsoft.com/office/drawing/2014/main" id="{B245F634-EAE7-2B07-DDF9-84B893D84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4566960" y="362220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12">
            <a:extLst>
              <a:ext uri="{FF2B5EF4-FFF2-40B4-BE49-F238E27FC236}">
                <a16:creationId xmlns:a16="http://schemas.microsoft.com/office/drawing/2014/main" id="{89747434-50AA-5B8C-BD20-D3C42C7BE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248" y="438420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DataSync</a:t>
            </a:r>
          </a:p>
        </p:txBody>
      </p:sp>
      <p:pic>
        <p:nvPicPr>
          <p:cNvPr id="32" name="Graphic 16" descr="Documents resource icon for the General Icons category.">
            <a:extLst>
              <a:ext uri="{FF2B5EF4-FFF2-40B4-BE49-F238E27FC236}">
                <a16:creationId xmlns:a16="http://schemas.microsoft.com/office/drawing/2014/main" id="{FCABCFEB-376A-0CBF-5A12-D409706F5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 bwMode="auto">
          <a:xfrm>
            <a:off x="5867273" y="381229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816E7C-FAF8-6A6D-6141-52338273B01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98580" y="3722422"/>
            <a:ext cx="493776" cy="4937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6304F1-3913-054F-762A-DE656E9E9D3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67746" y="3667793"/>
            <a:ext cx="493776" cy="49377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E1E820B-CFE4-B9A1-821C-FC7D27560F8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06647" y="4900402"/>
            <a:ext cx="714375" cy="7143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F9EF52-24BE-3402-5646-7E1B48DEE302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79724" y="3559949"/>
            <a:ext cx="714375" cy="714375"/>
          </a:xfrm>
          <a:prstGeom prst="rect">
            <a:avLst/>
          </a:prstGeom>
        </p:spPr>
      </p:pic>
      <p:sp>
        <p:nvSpPr>
          <p:cNvPr id="41" name="TextBox 12">
            <a:extLst>
              <a:ext uri="{FF2B5EF4-FFF2-40B4-BE49-F238E27FC236}">
                <a16:creationId xmlns:a16="http://schemas.microsoft.com/office/drawing/2014/main" id="{09A1B65A-9A7C-637C-B8E0-B3CFA074B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027" y="4208933"/>
            <a:ext cx="1626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PCR Diagnostics Analyzer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4EB6D127-B35A-060D-995A-501C8B38B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418" y="4217962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Cell Counter</a:t>
            </a: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E337AB15-F6C4-D835-D700-FC89C4CB5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706" y="5589562"/>
            <a:ext cx="1691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Capsule Filling Machine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D8B2A76B-4987-D194-E41D-9F97B66C2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2672" y="424570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DNA Extractor</a:t>
            </a:r>
          </a:p>
        </p:txBody>
      </p:sp>
      <p:pic>
        <p:nvPicPr>
          <p:cNvPr id="45" name="Graphic 44" descr="Table resource icon for the Amazon DynamoDB service.">
            <a:extLst>
              <a:ext uri="{FF2B5EF4-FFF2-40B4-BE49-F238E27FC236}">
                <a16:creationId xmlns:a16="http://schemas.microsoft.com/office/drawing/2014/main" id="{DB1B6CEB-B045-9A83-97F8-7CF0FF22676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835150" y="4788657"/>
            <a:ext cx="457200" cy="457200"/>
          </a:xfrm>
          <a:prstGeom prst="rect">
            <a:avLst/>
          </a:prstGeom>
        </p:spPr>
      </p:pic>
      <p:sp>
        <p:nvSpPr>
          <p:cNvPr id="46" name="TextBox 62">
            <a:extLst>
              <a:ext uri="{FF2B5EF4-FFF2-40B4-BE49-F238E27FC236}">
                <a16:creationId xmlns:a16="http://schemas.microsoft.com/office/drawing/2014/main" id="{446A651F-53FD-3CEB-0046-9EF478418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393" y="5238343"/>
            <a:ext cx="13827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Metadata</a:t>
            </a:r>
          </a:p>
        </p:txBody>
      </p:sp>
      <p:pic>
        <p:nvPicPr>
          <p:cNvPr id="27" name="Graphic 6" descr="General resource icon.">
            <a:extLst>
              <a:ext uri="{FF2B5EF4-FFF2-40B4-BE49-F238E27FC236}">
                <a16:creationId xmlns:a16="http://schemas.microsoft.com/office/drawing/2014/main" id="{A79535D7-9B7D-A00B-FB55-76FD023D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 flipH="1">
            <a:off x="3123666" y="4927134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16" descr="Metrics, Data visualization resource icon for the General Icons category.">
            <a:extLst>
              <a:ext uri="{FF2B5EF4-FFF2-40B4-BE49-F238E27FC236}">
                <a16:creationId xmlns:a16="http://schemas.microsoft.com/office/drawing/2014/main" id="{5189BF62-A53B-5D99-DE32-F26FABB1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4393704" y="539703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28" descr="OpenSearch Dashboards resource icon for the Amazon OpenSearch Service service.">
            <a:extLst>
              <a:ext uri="{FF2B5EF4-FFF2-40B4-BE49-F238E27FC236}">
                <a16:creationId xmlns:a16="http://schemas.microsoft.com/office/drawing/2014/main" id="{B0DBD246-0A15-9E8F-9DB4-D661900CD94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5436259" y="5075695"/>
            <a:ext cx="457200" cy="457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5B809B0-372D-F496-3812-9EFA1E967CB7}"/>
              </a:ext>
            </a:extLst>
          </p:cNvPr>
          <p:cNvPicPr>
            <a:picLocks noChangeAspect="1"/>
          </p:cNvPicPr>
          <p:nvPr/>
        </p:nvPicPr>
        <p:blipFill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4574" y="4663594"/>
            <a:ext cx="466510" cy="7325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FC58AE7-7604-121E-874F-0346829B07B1}"/>
              </a:ext>
            </a:extLst>
          </p:cNvPr>
          <p:cNvPicPr>
            <a:picLocks noChangeAspect="1"/>
          </p:cNvPicPr>
          <p:nvPr/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1091" y="4956870"/>
            <a:ext cx="461243" cy="707709"/>
          </a:xfrm>
          <a:prstGeom prst="rect">
            <a:avLst/>
          </a:prstGeom>
        </p:spPr>
      </p:pic>
      <p:pic>
        <p:nvPicPr>
          <p:cNvPr id="47" name="Picture 46" descr="A picture containing device&#10;&#10;Description automatically generated">
            <a:extLst>
              <a:ext uri="{FF2B5EF4-FFF2-40B4-BE49-F238E27FC236}">
                <a16:creationId xmlns:a16="http://schemas.microsoft.com/office/drawing/2014/main" id="{BECCBDEF-3A5A-BA08-BAD0-64FD7F598D1C}"/>
              </a:ext>
            </a:extLst>
          </p:cNvPr>
          <p:cNvPicPr>
            <a:picLocks noChangeAspect="1"/>
          </p:cNvPicPr>
          <p:nvPr/>
        </p:nvPicPr>
        <p:blipFill>
          <a:blip r:embed="rId4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715" y="5427549"/>
            <a:ext cx="529003" cy="52190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F51569B-ACA8-7586-F295-67078D50FF40}"/>
              </a:ext>
            </a:extLst>
          </p:cNvPr>
          <p:cNvPicPr>
            <a:picLocks noChangeAspect="1"/>
          </p:cNvPicPr>
          <p:nvPr/>
        </p:nvPicPr>
        <p:blipFill>
          <a:blip r:embed="rId4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47243" y="5445668"/>
            <a:ext cx="381269" cy="485664"/>
          </a:xfrm>
          <a:prstGeom prst="rect">
            <a:avLst/>
          </a:prstGeom>
        </p:spPr>
      </p:pic>
      <p:pic>
        <p:nvPicPr>
          <p:cNvPr id="33" name="Graphic 32" descr="Customer gateway resource icon for the Amazon VPC service.&#10;">
            <a:extLst>
              <a:ext uri="{FF2B5EF4-FFF2-40B4-BE49-F238E27FC236}">
                <a16:creationId xmlns:a16="http://schemas.microsoft.com/office/drawing/2014/main" id="{0ACCD727-CEB1-4408-4F9E-3A01D62D7D8E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519237" y="5780706"/>
            <a:ext cx="457200" cy="457200"/>
          </a:xfrm>
          <a:prstGeom prst="rect">
            <a:avLst/>
          </a:prstGeom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B4E0BCE0-D6B7-AF18-C98D-2FC296973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52" y="6264707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Customer Gateway</a:t>
            </a:r>
          </a:p>
        </p:txBody>
      </p:sp>
      <p:pic>
        <p:nvPicPr>
          <p:cNvPr id="49" name="Graphic 48" descr="Gateway resource icon for the AWS Direct Connect service.">
            <a:extLst>
              <a:ext uri="{FF2B5EF4-FFF2-40B4-BE49-F238E27FC236}">
                <a16:creationId xmlns:a16="http://schemas.microsoft.com/office/drawing/2014/main" id="{BE7E19A9-EE1F-33DF-0F84-B4DE535F3042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53582" y="5822627"/>
            <a:ext cx="457200" cy="457200"/>
          </a:xfrm>
          <a:prstGeom prst="rect">
            <a:avLst/>
          </a:prstGeom>
        </p:spPr>
      </p:pic>
      <p:sp>
        <p:nvSpPr>
          <p:cNvPr id="50" name="TextBox 9">
            <a:extLst>
              <a:ext uri="{FF2B5EF4-FFF2-40B4-BE49-F238E27FC236}">
                <a16:creationId xmlns:a16="http://schemas.microsoft.com/office/drawing/2014/main" id="{425FC787-178F-BCA6-1398-0A731487F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4" y="6265518"/>
            <a:ext cx="10403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Gateway</a:t>
            </a:r>
          </a:p>
        </p:txBody>
      </p:sp>
      <p:pic>
        <p:nvPicPr>
          <p:cNvPr id="51" name="Graphic 23" descr="Amazon Neptune service icon.">
            <a:extLst>
              <a:ext uri="{FF2B5EF4-FFF2-40B4-BE49-F238E27FC236}">
                <a16:creationId xmlns:a16="http://schemas.microsoft.com/office/drawing/2014/main" id="{D172BC19-70B3-0850-52B0-F4AE2E03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 bwMode="auto">
          <a:xfrm>
            <a:off x="9166380" y="51757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" name="TextBox 12">
            <a:extLst>
              <a:ext uri="{FF2B5EF4-FFF2-40B4-BE49-F238E27FC236}">
                <a16:creationId xmlns:a16="http://schemas.microsoft.com/office/drawing/2014/main" id="{789CC2C1-5EC3-C2F7-5BF9-89C0E45D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7243" y="1292863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Neptune</a:t>
            </a:r>
          </a:p>
        </p:txBody>
      </p:sp>
      <p:pic>
        <p:nvPicPr>
          <p:cNvPr id="53" name="Graphic 14" descr="Amazon OpenSearch Service service icon.">
            <a:extLst>
              <a:ext uri="{FF2B5EF4-FFF2-40B4-BE49-F238E27FC236}">
                <a16:creationId xmlns:a16="http://schemas.microsoft.com/office/drawing/2014/main" id="{71B2A1CB-5D95-1F71-DE74-1853379C5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 bwMode="auto">
          <a:xfrm>
            <a:off x="10668155" y="48564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12">
            <a:extLst>
              <a:ext uri="{FF2B5EF4-FFF2-40B4-BE49-F238E27FC236}">
                <a16:creationId xmlns:a16="http://schemas.microsoft.com/office/drawing/2014/main" id="{40BCAAF5-852B-381B-FA51-6DDC3DA67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8380" y="1306151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OpenSearch</a:t>
            </a:r>
          </a:p>
        </p:txBody>
      </p:sp>
      <p:pic>
        <p:nvPicPr>
          <p:cNvPr id="55" name="Graphic 54" descr="Amazon QuickSight service icon.">
            <a:extLst>
              <a:ext uri="{FF2B5EF4-FFF2-40B4-BE49-F238E27FC236}">
                <a16:creationId xmlns:a16="http://schemas.microsoft.com/office/drawing/2014/main" id="{38D662AC-27BB-4B4C-DA66-0F81A20CA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 bwMode="auto">
          <a:xfrm>
            <a:off x="10759448" y="2298111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12">
            <a:extLst>
              <a:ext uri="{FF2B5EF4-FFF2-40B4-BE49-F238E27FC236}">
                <a16:creationId xmlns:a16="http://schemas.microsoft.com/office/drawing/2014/main" id="{81A8ACA2-C2D6-536B-2C70-AE1BBACD9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7773" y="3021052"/>
            <a:ext cx="22788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  <a:r>
              <a:rPr lang="en-US" altLang="en-US" sz="12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QuickSight</a:t>
            </a:r>
            <a:endParaRPr lang="en-US" altLang="en-US" sz="12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Graphic 6" descr="AWS Glue service icon.">
            <a:extLst>
              <a:ext uri="{FF2B5EF4-FFF2-40B4-BE49-F238E27FC236}">
                <a16:creationId xmlns:a16="http://schemas.microsoft.com/office/drawing/2014/main" id="{40C09DA7-F9B7-07D1-AD24-F5679A23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 bwMode="auto">
          <a:xfrm>
            <a:off x="7059022" y="222447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label5">
            <a:extLst>
              <a:ext uri="{FF2B5EF4-FFF2-40B4-BE49-F238E27FC236}">
                <a16:creationId xmlns:a16="http://schemas.microsoft.com/office/drawing/2014/main" id="{9ADAB4F9-C69B-27A1-C414-65FF3A46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146" y="2975579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Glue</a:t>
            </a:r>
          </a:p>
        </p:txBody>
      </p:sp>
      <p:pic>
        <p:nvPicPr>
          <p:cNvPr id="59" name="Graphic 58" descr="AWS Glue Data Catalog resource icon for the AWS Glue service.">
            <a:extLst>
              <a:ext uri="{FF2B5EF4-FFF2-40B4-BE49-F238E27FC236}">
                <a16:creationId xmlns:a16="http://schemas.microsoft.com/office/drawing/2014/main" id="{BD8DB335-9FAF-338E-B724-5BCD9860BD07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8577709" y="2255618"/>
            <a:ext cx="457200" cy="457200"/>
          </a:xfrm>
          <a:prstGeom prst="rect">
            <a:avLst/>
          </a:prstGeom>
        </p:spPr>
      </p:pic>
      <p:sp>
        <p:nvSpPr>
          <p:cNvPr id="60" name="label5">
            <a:extLst>
              <a:ext uri="{FF2B5EF4-FFF2-40B4-BE49-F238E27FC236}">
                <a16:creationId xmlns:a16="http://schemas.microsoft.com/office/drawing/2014/main" id="{9F8814B5-78B6-AB82-F850-46DF4093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919" y="2915440"/>
            <a:ext cx="15065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Glue Catalog</a:t>
            </a:r>
          </a:p>
        </p:txBody>
      </p:sp>
    </p:spTree>
    <p:extLst>
      <p:ext uri="{BB962C8B-B14F-4D97-AF65-F5344CB8AC3E}">
        <p14:creationId xmlns:p14="http://schemas.microsoft.com/office/powerpoint/2010/main" val="20203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16:9 PPT Theme">
  <a:themeElements>
    <a:clrScheme name="Merck colour theme">
      <a:dk1>
        <a:sysClr val="windowText" lastClr="000000"/>
      </a:dk1>
      <a:lt1>
        <a:sysClr val="window" lastClr="FFFFFF"/>
      </a:lt1>
      <a:dk2>
        <a:srgbClr val="44546A"/>
      </a:dk2>
      <a:lt2>
        <a:srgbClr val="9EA7B3"/>
      </a:lt2>
      <a:accent1>
        <a:srgbClr val="00857C"/>
      </a:accent1>
      <a:accent2>
        <a:srgbClr val="6ECEB2"/>
      </a:accent2>
      <a:accent3>
        <a:srgbClr val="FFF063"/>
      </a:accent3>
      <a:accent4>
        <a:srgbClr val="0C2340"/>
      </a:accent4>
      <a:accent5>
        <a:srgbClr val="5450E4"/>
      </a:accent5>
      <a:accent6>
        <a:srgbClr val="688CE8"/>
      </a:accent6>
      <a:hlink>
        <a:srgbClr val="0563C1"/>
      </a:hlink>
      <a:folHlink>
        <a:srgbClr val="954F72"/>
      </a:folHlink>
    </a:clrScheme>
    <a:fontScheme name="Merck font theme">
      <a:majorFont>
        <a:latin typeface="Invention Light"/>
        <a:ea typeface=""/>
        <a:cs typeface=""/>
      </a:majorFont>
      <a:minorFont>
        <a:latin typeface="Inventio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/>
        </a:defPPr>
      </a:lstStyle>
    </a:txDef>
  </a:objectDefaults>
  <a:extraClrSchemeLst/>
  <a:custClrLst>
    <a:custClr name="Merck Teal">
      <a:srgbClr val="00857C"/>
    </a:custClr>
    <a:custClr name="White">
      <a:srgbClr val="FFFFFF"/>
    </a:custClr>
    <a:custClr name="Merck Blue">
      <a:srgbClr val="0C2340"/>
    </a:custClr>
    <a:custClr name="Merck Light Teal">
      <a:srgbClr val="6ECEB2"/>
    </a:custClr>
    <a:custClr name="Merck Off-White">
      <a:srgbClr val="F7F7F7"/>
    </a:custClr>
    <a:custClr name="Merck Lime">
      <a:srgbClr val="BFED33"/>
    </a:custClr>
    <a:custClr name="Merck Lemon">
      <a:srgbClr val="FFF063"/>
    </a:custClr>
    <a:custClr name="Merck Pastel Blue">
      <a:srgbClr val="69B8F7"/>
    </a:custClr>
    <a:custClr name="Merck Vista Blue">
      <a:srgbClr val="688CE8"/>
    </a:custClr>
    <a:custClr name="Merck Rich Blue">
      <a:srgbClr val="5450E4"/>
    </a:custClr>
  </a:custClrLst>
  <a:extLst>
    <a:ext uri="{05A4C25C-085E-4340-85A3-A5531E510DB2}">
      <thm15:themeFamily xmlns:thm15="http://schemas.microsoft.com/office/thememl/2012/main" name="Presentation3" id="{8CABDCBB-1644-4574-B7DE-79FDA56AF3D2}" vid="{875A74E2-642E-45B3-AD99-35CB812EA3F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1057</Words>
  <Application>Microsoft Office PowerPoint</Application>
  <PresentationFormat>Widescreen</PresentationFormat>
  <Paragraphs>285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Amazon Ember</vt:lpstr>
      <vt:lpstr>Aptos</vt:lpstr>
      <vt:lpstr>Aptos Display</vt:lpstr>
      <vt:lpstr>Arial</vt:lpstr>
      <vt:lpstr>Calibri</vt:lpstr>
      <vt:lpstr>Invention</vt:lpstr>
      <vt:lpstr>Invention Light</vt:lpstr>
      <vt:lpstr>Office Theme</vt:lpstr>
      <vt:lpstr>Merck 16:9 PPT Theme</vt:lpstr>
      <vt:lpstr>ASM Transformation Architecture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Guerel, Sarper</dc:creator>
  <cp:lastModifiedBy>Tavares, Duverney</cp:lastModifiedBy>
  <cp:revision>84</cp:revision>
  <dcterms:created xsi:type="dcterms:W3CDTF">2025-06-04T12:32:07Z</dcterms:created>
  <dcterms:modified xsi:type="dcterms:W3CDTF">2025-12-11T20:12:26Z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2025-06-04T12:32:58Z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b627fa6d-3b07-4c87-b093-43ea01791a88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