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ASM Transformation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A9AD9"/>
                </a:solidFill>
                <a:latin typeface="Calibri"/>
              </a:defRPr>
            </a:pPr>
            <a:r>
              <a:t>End-to-End Process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Calibri"/>
              </a:defRPr>
            </a:pPr>
            <a:r>
              <a:t>Converting Laboratory Instrument Data to Allotrope Simple Model (ASM) Format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980B9"/>
                </a:solidFill>
                <a:latin typeface="Calibri"/>
              </a:defRPr>
            </a:pPr>
            <a:r>
              <a:t>Powered by AWS Bedrock Claude  •  Allotropy Library  •  Custom Converters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Service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A9AD9"/>
                </a:solidFill>
                <a:latin typeface="Calibri"/>
              </a:defRPr>
            </a:pPr>
            <a:r>
              <a:t>A complete pipeline for converting raw instrument files to validated, integrity-verified ASM output.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Hybrid approach: proven allotropy parsers + AI generation for unknown formats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31 instruments supported natively via allotropy library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Custom converter registry for proprietary instrument formats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AI-powered fallback using AWS Bedrock Claude 3.5 Sonnet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DVaaS validation with PDF attestation reports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Data integrity verification: field-by-field source-to-ASM proof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FDA 21 CFR Part 11 and EMA Annex 11 compliance ready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No data persistence — files processed in-memory only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Two Entry Points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029200" cy="91440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Entry Point 1: CONVERT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"I have a raw instrument file and need ASM output"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Provide: Instrument File + Instrument Config (JSON)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Full pipeline: Upload → Route → Convert → Validate → Integrity Check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Returns: ASM file + Validation PDF + Integrity report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5029200" cy="9144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Entry Point 2: VALIDATE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4688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"I already have an ASM file and want to check compliance"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Provide: ASM JSON file only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DVaaS validates any ASM file regardless of source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Returns: Validation status + errors/warnings + PDF attestation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End-to-End Process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1645920" cy="457200"/>
          </a:xfrm>
          <a:prstGeom prst="round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Step 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645920" cy="731520"/>
          </a:xfrm>
          <a:prstGeom prst="round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One-Time</a:t>
            </a:r>
            <a:br/>
            <a:r>
              <a:t>Setup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77440" y="1280160"/>
            <a:ext cx="1645920" cy="45720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1828800"/>
            <a:ext cx="1645920" cy="73152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Upload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280160"/>
            <a:ext cx="1645920" cy="457200"/>
          </a:xfrm>
          <a:prstGeom prst="roundRect">
            <a:avLst/>
          </a:prstGeom>
          <a:solidFill>
            <a:srgbClr val="3A9A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828800"/>
            <a:ext cx="1645920" cy="731520"/>
          </a:xfrm>
          <a:prstGeom prst="roundRect">
            <a:avLst/>
          </a:prstGeom>
          <a:solidFill>
            <a:srgbClr val="3A9A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Unified</a:t>
            </a:r>
            <a:br/>
            <a:r>
              <a:t>Converter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1645920" cy="457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1645920" cy="7315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Validation</a:t>
            </a:r>
            <a:br/>
            <a:r>
              <a:t>(DVaaS)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280160"/>
            <a:ext cx="1645920" cy="4572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Step 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828800"/>
            <a:ext cx="1645920" cy="73152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Data</a:t>
            </a:r>
            <a:br/>
            <a:r>
              <a:t>Integrity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1280160"/>
            <a:ext cx="1645920" cy="45720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Step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0" y="1828800"/>
            <a:ext cx="1645920" cy="73152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83464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0F0F0"/>
                </a:solidFill>
                <a:latin typeface="Calibri"/>
              </a:defRPr>
            </a:pPr>
            <a:r>
              <a:t>Create instrument</a:t>
            </a:r>
            <a:br/>
            <a:r>
              <a:t>config JSON</a:t>
            </a:r>
            <a:br/>
            <a:r>
              <a:t>(once per instrument)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283464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0F0F0"/>
                </a:solidFill>
                <a:latin typeface="Calibri"/>
              </a:defRPr>
            </a:pPr>
            <a:r>
              <a:t>Upload instrument</a:t>
            </a:r>
            <a:br/>
            <a:r>
              <a:t>file + config via</a:t>
            </a:r>
            <a:br/>
            <a:r>
              <a:t>Dashboard or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83464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0F0F0"/>
                </a:solidFill>
                <a:latin typeface="Calibri"/>
              </a:defRPr>
            </a:pPr>
            <a:r>
              <a:t>Intelligent routing:</a:t>
            </a:r>
            <a:br/>
            <a:r>
              <a:t>Custom → Allotropy</a:t>
            </a:r>
            <a:br/>
            <a:r>
              <a:t>→ AI fallback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83464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0F0F0"/>
                </a:solidFill>
                <a:latin typeface="Calibri"/>
              </a:defRPr>
            </a:pPr>
            <a:r>
              <a:t>Schema compliance,</a:t>
            </a:r>
            <a:br/>
            <a:r>
              <a:t>required fields,</a:t>
            </a:r>
            <a:br/>
            <a:r>
              <a:t>PDF attestation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83464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0F0F0"/>
                </a:solidFill>
                <a:latin typeface="Calibri"/>
              </a:defRPr>
            </a:pPr>
            <a:r>
              <a:t>Field-by-field</a:t>
            </a:r>
            <a:br/>
            <a:r>
              <a:t>source vs ASM</a:t>
            </a:r>
            <a:br/>
            <a:r>
              <a:t>comparison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283464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0F0F0"/>
                </a:solidFill>
                <a:latin typeface="Calibri"/>
              </a:defRPr>
            </a:pPr>
            <a:r>
              <a:t>ASM file, validation</a:t>
            </a:r>
            <a:br/>
            <a:r>
              <a:t>report, integrity</a:t>
            </a:r>
            <a:br/>
            <a:r>
              <a:t>report, metadata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Step 2: Unified Converter — Intelligent Routing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A9AD9"/>
                </a:solidFill>
                <a:latin typeface="Calibri"/>
              </a:defRPr>
            </a:pPr>
            <a:r>
              <a:t>The Unified Converter evaluates routes in priority order and uses the first one that succeeds.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91840" cy="64008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Route A: Custom Converter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Highest priority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Exact match: vendor + model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Registry or embedded converters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Includes field_mapping ✓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e.g. Nova FLEX2, EndoScan-V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291840" cy="6400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Route B: Allotropy Library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56032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Second priority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31 supported instruments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Rule-based parsing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Field mapping: planned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e.g. Vi-CELL, SoftMax Pro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291840" cy="6400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Route C: ATaaS (AI)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Fallback when A &amp; B fail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AWS Bedrock Claude 3.5 Sonnet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Analyzes unknown formats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Generates Python converter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Best for simple formats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55555"/>
                </a:solidFill>
                <a:latin typeface="Calibri"/>
              </a:defRPr>
            </a:pPr>
            <a:r>
              <a:t>Priority:  1. Custom Registry  →  2. Embedded Custom  →  3. Allotropy (31 instruments)  →  4. ATaaS (AI)  →  5. Error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Step 3: Validation — DVaaS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A9AD9"/>
                </a:solidFill>
                <a:latin typeface="Calibri"/>
              </a:defRPr>
            </a:pPr>
            <a:r>
              <a:t>Data Validation as a Service checks ASM structural compliance against Allotrope standards.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80B9"/>
                </a:solidFill>
                <a:latin typeface="Calibri"/>
              </a:defRPr>
            </a:pPr>
            <a:r>
              <a:t>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80B9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80B9"/>
                </a:solidFill>
                <a:latin typeface="Calibri"/>
              </a:defRPr>
            </a:pPr>
            <a:r>
              <a:t>Severity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Schema compliance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240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Calibri"/>
              </a:defRPr>
            </a:pPr>
            <a:r>
              <a:t>Does ASM follow Allotrope structure?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2240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4C3C"/>
                </a:solidFill>
                <a:latin typeface="Calibri"/>
              </a:defRPr>
            </a:pPr>
            <a:r>
              <a:t>Error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Required fields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651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Calibri"/>
              </a:defRPr>
            </a:pPr>
            <a:r>
              <a:t>manifest, measurement docs, sample docs present?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4C3C"/>
                </a:solidFill>
                <a:latin typeface="Calibri"/>
              </a:defRPr>
            </a:pPr>
            <a:r>
              <a:t>Error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63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Measurement IDs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063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Calibri"/>
              </a:defRPr>
            </a:pPr>
            <a:r>
              <a:t>UUID v4 format?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3063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4C3C"/>
                </a:solidFill>
                <a:latin typeface="Calibri"/>
              </a:defRPr>
            </a:pPr>
            <a:r>
              <a:t>Error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Timestamps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Calibri"/>
              </a:defRPr>
            </a:pPr>
            <a:r>
              <a:t>ISO 8601 with timezone?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474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4C3C"/>
                </a:solidFill>
                <a:latin typeface="Calibri"/>
              </a:defRPr>
            </a:pPr>
            <a:r>
              <a:t>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886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Data source traceability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886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Calibri"/>
              </a:defRPr>
            </a:pPr>
            <a:r>
              <a:t>Calculated values linked to source?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3886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4C3C"/>
                </a:solidFill>
                <a:latin typeface="Calibri"/>
              </a:defRPr>
            </a:pPr>
            <a:r>
              <a:t>Error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297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Unit recognition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Calibri"/>
              </a:defRPr>
            </a:pPr>
            <a:r>
              <a:t>Standard Allotrope units?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4297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7E22"/>
                </a:solidFill>
                <a:latin typeface="Calibri"/>
              </a:defRPr>
            </a:pPr>
            <a:r>
              <a:t>Warning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709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Equipment metadata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709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Calibri"/>
              </a:defRPr>
            </a:pPr>
            <a:r>
              <a:t>Serial number, software version?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709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7E22"/>
                </a:solidFill>
                <a:latin typeface="Calibri"/>
              </a:defRPr>
            </a:pPr>
            <a:r>
              <a:t>Warning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120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Device 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120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Calibri"/>
              </a:defRPr>
            </a:pPr>
            <a:r>
              <a:t>Device type, detection type?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5120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7E22"/>
                </a:solidFill>
                <a:latin typeface="Calibri"/>
              </a:defRPr>
            </a:pPr>
            <a:r>
              <a:t>Warning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Validation Levels: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0"/>
                </a:solidFill>
                <a:latin typeface="Calibri"/>
              </a:defRPr>
            </a:pPr>
            <a:r>
              <a:t>Basic (quick structural check)  •  Comprehensive (production use)  •  Certification (regulatory submission)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Step 4: Data Integrity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A9AD9"/>
                </a:solidFill>
                <a:latin typeface="Calibri"/>
              </a:defRPr>
            </a:pPr>
            <a:r>
              <a:t>Proves every value from the source instrument file was preserved exactly in the ASM output.</a:t>
            </a:r>
            <a:br/>
            <a:r>
              <a:t>No rounding, no silent data loss, no transformation.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Converter emits field_mapping array during conversion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Each entry: source field → source value → ASM field → ASM value → unit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Dashboard compares source_value to asm_value for every entry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Result: "100% Data Integrity Confirmed" or list of mismatches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Implementation Status: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63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Nova FLEX2 (embedded)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4663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✓ All 40 CSV columns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Custom Converter Registry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5029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7E22"/>
                </a:solidFill>
                <a:latin typeface="Calibri"/>
              </a:defRPr>
            </a:pPr>
            <a:r>
              <a:t>Spec complete, not yet enforced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94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Allotropy Library (31 instruments)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5394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55555"/>
                </a:solidFill>
                <a:latin typeface="Calibri"/>
              </a:defRPr>
            </a:pPr>
            <a:r>
              <a:t>Planned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760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ATaaS (AI)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5760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Calibri"/>
              </a:defRPr>
            </a:pPr>
            <a:r>
              <a:t>Not planned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FDA 21 CFR Part 11: proof that electronic records are accurate and unaltered  •  EMA Annex 11: data integrity throughout the data lifecycle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Converter Lifecycle — Adding New Instruments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291840" cy="548640"/>
          </a:xfrm>
          <a:prstGeom prst="round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1. IDENTIFY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0F0F0"/>
                </a:solidFill>
                <a:latin typeface="Calibri"/>
              </a:defRPr>
            </a:pPr>
            <a:r>
              <a:t>Customer has a new instrument</a:t>
            </a:r>
            <a:br/>
            <a:r>
              <a:t>not currently supported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59" y="1371600"/>
            <a:ext cx="3291840" cy="54864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2.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59" y="20116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0F0F0"/>
                </a:solidFill>
                <a:latin typeface="Calibri"/>
              </a:defRPr>
            </a:pPr>
            <a:r>
              <a:t>Is it in allotropy?</a:t>
            </a:r>
            <a:br/>
            <a:r>
              <a:t>(31 instruments)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371600"/>
            <a:ext cx="3291840" cy="548640"/>
          </a:xfrm>
          <a:prstGeom prst="roundRect">
            <a:avLst/>
          </a:prstGeom>
          <a:solidFill>
            <a:srgbClr val="3A9A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3.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0116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0F0F0"/>
                </a:solidFill>
                <a:latin typeface="Calibri"/>
              </a:defRPr>
            </a:pPr>
            <a:r>
              <a:t>Follow Custom Converter</a:t>
            </a:r>
            <a:br/>
            <a:r>
              <a:t>Requirements doc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3291840" cy="5486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4. REGISTER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0F0F0"/>
                </a:solidFill>
                <a:latin typeface="Calibri"/>
              </a:defRPr>
            </a:pPr>
            <a:r>
              <a:t>POST /register</a:t>
            </a:r>
            <a:br/>
            <a:r>
              <a:t>Status: PENDING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3931920"/>
            <a:ext cx="3291840" cy="5486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5. APPROVE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457200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0F0F0"/>
                </a:solidFill>
                <a:latin typeface="Calibri"/>
              </a:defRPr>
            </a:pPr>
            <a:r>
              <a:t>Human reviews code</a:t>
            </a:r>
            <a:br/>
            <a:r>
              <a:t>POST /approve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931920"/>
            <a:ext cx="3291840" cy="54864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6. AVAILABLE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57200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0F0F0"/>
                </a:solidFill>
                <a:latin typeface="Calibri"/>
              </a:defRPr>
            </a:pPr>
            <a:r>
              <a:t>Auto-used by Unified</a:t>
            </a:r>
            <a:br/>
            <a:r>
              <a:t>Converter for matching files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Service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286000" cy="91440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Dashboard</a:t>
            </a:r>
            <a:br/>
            <a:r>
              <a:t>(React / CloudFront)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1371600"/>
            <a:ext cx="2743200" cy="914400"/>
          </a:xfrm>
          <a:prstGeom prst="roundRect">
            <a:avLst/>
          </a:prstGeom>
          <a:solidFill>
            <a:srgbClr val="3A9A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API Gateway</a:t>
            </a:r>
            <a:br/>
            <a:r>
              <a:t>/convert  /validate</a:t>
            </a:r>
            <a:br/>
            <a:r>
              <a:t>/register  /approve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2743200"/>
            <a:ext cx="2743200" cy="4114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Unified Converter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3246120"/>
            <a:ext cx="2743200" cy="4114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Multi-Instrument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3749039"/>
            <a:ext cx="2743200" cy="4114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ATaaS (AI)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4251959"/>
            <a:ext cx="2743200" cy="4114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DVaaS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4754879"/>
            <a:ext cx="2743200" cy="4114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Custom Converter Svc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371600"/>
            <a:ext cx="2286000" cy="10972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S3 Buckets</a:t>
            </a:r>
            <a:br/>
            <a:r>
              <a:t>ASM files</a:t>
            </a:r>
            <a:br/>
            <a:r>
              <a:t>Converters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743200"/>
            <a:ext cx="2286000" cy="10972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DynamoDB</a:t>
            </a:r>
            <a:br/>
            <a:r>
              <a:t>Converter Registry</a:t>
            </a:r>
            <a:br/>
            <a:r>
              <a:t>Conversion History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4389120"/>
            <a:ext cx="2286000" cy="73152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AWS Bedrock</a:t>
            </a:r>
            <a:br/>
            <a:r>
              <a:t>Claude 3.5 Sonnet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55555"/>
                </a:solidFill>
                <a:latin typeface="Calibri"/>
              </a:defRPr>
            </a:pPr>
            <a:r>
              <a:t>AWS Cloud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Live Endpoints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A9AD9"/>
                </a:solidFill>
                <a:latin typeface="Calibri"/>
              </a:defRPr>
            </a:pPr>
            <a:r>
              <a:t>All services are deployed and operational. Use the Unified Converter for automatic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80B9"/>
                </a:solidFill>
                <a:latin typeface="Calibri"/>
              </a:defRPr>
            </a:pPr>
            <a:r>
              <a:t>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80B9"/>
                </a:solidFill>
                <a:latin typeface="Calibri"/>
              </a:defRPr>
            </a:pPr>
            <a:r>
              <a:t>Endpoint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80B9"/>
                </a:solidFill>
                <a:latin typeface="Calibri"/>
              </a:defRPr>
            </a:pPr>
            <a: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Unified Converter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514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Calibri"/>
              </a:defRPr>
            </a:pPr>
            <a:r>
              <a:t>tqzatn5bse...amazonaws.com/prod/convert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514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Calibri"/>
              </a:defRPr>
            </a:pPr>
            <a:r>
              <a:t>Single entry point (recommended)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DVaaS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Calibri"/>
              </a:defRPr>
            </a:pPr>
            <a:r>
              <a:t>4ndgjn16zd...amazonaws.com/prod/validate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017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Calibri"/>
              </a:defRPr>
            </a:pPr>
            <a:r>
              <a:t>ASM validation &amp; certification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204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Custom Converter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5204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Calibri"/>
              </a:defRPr>
            </a:pPr>
            <a:r>
              <a:t>tfv79s08rl...amazonaws.com/prod/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5204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Calibri"/>
              </a:defRPr>
            </a:pPr>
            <a:r>
              <a:t>Register, approve, execute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0233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ATaaS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02335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Calibri"/>
              </a:defRPr>
            </a:pPr>
            <a:r>
              <a:t>3dbnsq6w6h...amazonaws.com/prod/convert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402335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Calibri"/>
              </a:defRPr>
            </a:pPr>
            <a:r>
              <a:t>AI-powered conversion (fallback)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52627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Multi-Instrument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5262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Calibri"/>
              </a:defRPr>
            </a:pPr>
            <a:r>
              <a:t>6uogqq4zb5...amazonaws.com/prod/convert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45262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Calibri"/>
              </a:defRPr>
            </a:pPr>
            <a:r>
              <a:t>Allotropy library (31 instruments)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02919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502919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Calibri"/>
              </a:defRPr>
            </a:pPr>
            <a:r>
              <a:t>d2630v5zyoh8t7.cloudfront.net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502919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Calibri"/>
              </a:defRPr>
            </a:pPr>
            <a:r>
              <a:t>Web UI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Dashboard Capabilities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54864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Validate ASM 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0"/>
                </a:solidFill>
                <a:latin typeface="Calibri"/>
              </a:defRPr>
            </a:pPr>
            <a:r>
              <a:t>Validate an existing ASM file against Allotrope standards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5120640" cy="5486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Convert Instrument 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2011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0"/>
                </a:solidFill>
                <a:latin typeface="Calibri"/>
              </a:defRPr>
            </a:pPr>
            <a:r>
              <a:t>Convert raw instrument file to validated ASM 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5120640" cy="548640"/>
          </a:xfrm>
          <a:prstGeom prst="roundRect">
            <a:avLst/>
          </a:prstGeom>
          <a:solidFill>
            <a:srgbClr val="3A9A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Control Tower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0"/>
                </a:solidFill>
                <a:latin typeface="Calibri"/>
              </a:defRPr>
            </a:pPr>
            <a:r>
              <a:t>Monitor conversion jobs, KPIs, and system health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017520"/>
            <a:ext cx="5120640" cy="5486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Instrument Config Creator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6576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0"/>
                </a:solidFill>
                <a:latin typeface="Calibri"/>
              </a:defRPr>
            </a:pPr>
            <a:r>
              <a:t>Create instrument config JSON files (one-time setup)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663440"/>
            <a:ext cx="5120640" cy="548640"/>
          </a:xfrm>
          <a:prstGeom prst="round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Instrument Registry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035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0"/>
                </a:solidFill>
                <a:latin typeface="Calibri"/>
              </a:defRPr>
            </a:pPr>
            <a:r>
              <a:t>Browse all supported instruments and their status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663440"/>
            <a:ext cx="5120640" cy="54864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Converter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53035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0"/>
                </a:solidFill>
                <a:latin typeface="Calibri"/>
              </a:defRPr>
            </a:pPr>
            <a:r>
              <a:t>Register, review, and approve custom converters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Frequently Asked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80B9"/>
                </a:solidFill>
                <a:latin typeface="Calibri"/>
              </a:defRPr>
            </a:pPr>
            <a:r>
              <a:t>Q: What if my instrument is supported by allotropy but I want field_mapping?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Calibri"/>
              </a:defRPr>
            </a:pPr>
            <a:r>
              <a:t>A: Register a custom converter. Custom converters take priority over allotropy and include field_mapping.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80B9"/>
                </a:solidFill>
                <a:latin typeface="Calibri"/>
              </a:defRPr>
            </a:pPr>
            <a:r>
              <a:t>Q: Do I need a different instrument config for each file?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Calibri"/>
              </a:defRPr>
            </a:pPr>
            <a:r>
              <a:t>A: No. One config per instrument. Reuse it for every file from that instrument.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80B9"/>
                </a:solidFill>
                <a:latin typeface="Calibri"/>
              </a:defRPr>
            </a:pPr>
            <a:r>
              <a:t>Q: Can I validate an ASM file without converting?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Calibri"/>
              </a:defRPr>
            </a:pPr>
            <a:r>
              <a:t>A: Yes. DVaaS validates any ASM file regardless of how it was created.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11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80B9"/>
                </a:solidFill>
                <a:latin typeface="Calibri"/>
              </a:defRPr>
            </a:pPr>
            <a:r>
              <a:t>Q: What's the difference between DVaaS validation and Data Integrity Verification?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Calibri"/>
              </a:defRPr>
            </a:pPr>
            <a:r>
              <a:t>A: DVaaS checks structural correctness. Integrity verification checks faithfulness to source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80B9"/>
                </a:solidFill>
                <a:latin typeface="Calibri"/>
              </a:defRPr>
            </a:pPr>
            <a:r>
              <a:t>Q: How long does conversion take?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09159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Calibri"/>
              </a:defRPr>
            </a:pPr>
            <a:r>
              <a:t>A: Custom converters and allotropy: &lt; 1 second. ATaaS (AI): 5-30 seconds.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166359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80B9"/>
                </a:solidFill>
                <a:latin typeface="Calibri"/>
              </a:defRPr>
            </a:pPr>
            <a:r>
              <a:t>Q: Is my data stored?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486399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Calibri"/>
              </a:defRPr>
            </a:pPr>
            <a:r>
              <a:t>A: Files are processed in-memory only. No data persisted unless explicitly requested.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ASM Transformation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980B9"/>
                </a:solidFill>
                <a:latin typeface="Calibri"/>
              </a:defRPr>
            </a:pPr>
            <a:r>
              <a:t>Production-Ready  •  Regulatory Compliant  •  AI-Powered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47472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✓  31 instruments via allotropy + unlimited via AI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✓  Custom converter registry with human approval workflow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✓  DVaaS validation with PDF attestation reports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✓  Data integrity verification (field-by-field proof)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✓  FDA 21 CFR Part 11 and EMA Annex 11 ready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✓  No data persistence — in-memory processing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Calibri"/>
              </a:defRPr>
            </a:pPr>
            <a:r>
              <a:t>Powered by AWS Lambda  •  AWS Bedrock Claude  •  Allotropy Library  •  AWS CDK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