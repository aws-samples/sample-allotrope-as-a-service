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2"/>
    <p:sldMasterId id="2147483680" r:id="rId3"/>
  </p:sldMasterIdLst>
  <p:notesMasterIdLst>
    <p:notesMasterId r:id="rId12"/>
  </p:notesMasterIdLst>
  <p:handoutMasterIdLst>
    <p:handoutMasterId r:id="rId13"/>
  </p:handoutMasterIdLst>
  <p:sldIdLst>
    <p:sldId id="410" r:id="rId4"/>
    <p:sldId id="1448942443" r:id="rId5"/>
    <p:sldId id="1448942444" r:id="rId6"/>
    <p:sldId id="1448942449" r:id="rId7"/>
    <p:sldId id="1448942450" r:id="rId8"/>
    <p:sldId id="1448942446" r:id="rId9"/>
    <p:sldId id="1448942452" r:id="rId10"/>
    <p:sldId id="144894245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4" userDrawn="1">
          <p15:clr>
            <a:srgbClr val="A4A3A4"/>
          </p15:clr>
        </p15:guide>
        <p15:guide id="2" pos="592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ge, Eric" initials="BE" lastIdx="1" clrIdx="0">
    <p:extLst>
      <p:ext uri="{19B8F6BF-5375-455C-9EA6-DF929625EA0E}">
        <p15:presenceInfo xmlns:p15="http://schemas.microsoft.com/office/powerpoint/2012/main" userId="S::eric.benge@FaegreBD.com::c5480c3f-c576-4e8e-9096-33a48f4906c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8D52"/>
    <a:srgbClr val="9A4D00"/>
    <a:srgbClr val="F5D7C4"/>
    <a:srgbClr val="FCF2EB"/>
    <a:srgbClr val="FCF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0" autoAdjust="0"/>
    <p:restoredTop sz="96279" autoAdjust="0"/>
  </p:normalViewPr>
  <p:slideViewPr>
    <p:cSldViewPr snapToGrid="0">
      <p:cViewPr varScale="1">
        <p:scale>
          <a:sx n="66" d="100"/>
          <a:sy n="66" d="100"/>
        </p:scale>
        <p:origin x="1731" y="42"/>
      </p:cViewPr>
      <p:guideLst>
        <p:guide orient="horz" pos="624"/>
        <p:guide pos="59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9F3A171-A70C-461E-9578-2A29359E5E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6D2699-B786-46A3-B9DB-96A97E6E99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B961A-FE8C-4A4D-B6FE-C590ADAC8E87}" type="datetimeFigureOut">
              <a:rPr lang="en-US" smtClean="0"/>
              <a:t>9/11/2025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62E66-F8C4-4097-AA76-1EB7431750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0AD67-45B7-466B-A36A-1B97CDB249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5C6DE-EE12-4C24-8117-5A1C4A75C6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509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2DB23-F628-414B-B1D0-1E1D2404B5EA}" type="datetimeFigureOut">
              <a:rPr lang="en-US" smtClean="0"/>
              <a:t>9/11/2025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4CE45-B04E-4500-B36A-2A9FF1D385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30736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4CE45-B04E-4500-B36A-2A9FF1D385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4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CF2288-C0C1-49FF-822F-87EF1BC34266}"/>
              </a:ext>
            </a:extLst>
          </p:cNvPr>
          <p:cNvSpPr/>
          <p:nvPr userDrawn="1"/>
        </p:nvSpPr>
        <p:spPr>
          <a:xfrm>
            <a:off x="0" y="6217921"/>
            <a:ext cx="1219200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07994801-323B-476F-B45B-F12EB6B82D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052" y="6217921"/>
            <a:ext cx="5735637" cy="64008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076DD26-4A3B-4D89-8EF2-B2A99142F06A}"/>
              </a:ext>
            </a:extLst>
          </p:cNvPr>
          <p:cNvSpPr/>
          <p:nvPr userDrawn="1"/>
        </p:nvSpPr>
        <p:spPr>
          <a:xfrm>
            <a:off x="0" y="0"/>
            <a:ext cx="8366760" cy="6217921"/>
          </a:xfrm>
          <a:custGeom>
            <a:avLst/>
            <a:gdLst>
              <a:gd name="connsiteX0" fmla="*/ 0 w 8366760"/>
              <a:gd name="connsiteY0" fmla="*/ 0 h 6217921"/>
              <a:gd name="connsiteX1" fmla="*/ 5257800 w 8366760"/>
              <a:gd name="connsiteY1" fmla="*/ 0 h 6217921"/>
              <a:gd name="connsiteX2" fmla="*/ 5257800 w 8366760"/>
              <a:gd name="connsiteY2" fmla="*/ 1 h 6217921"/>
              <a:gd name="connsiteX3" fmla="*/ 8366760 w 8366760"/>
              <a:gd name="connsiteY3" fmla="*/ 3108961 h 6217921"/>
              <a:gd name="connsiteX4" fmla="*/ 5257800 w 8366760"/>
              <a:gd name="connsiteY4" fmla="*/ 6217921 h 6217921"/>
              <a:gd name="connsiteX5" fmla="*/ 5257760 w 8366760"/>
              <a:gd name="connsiteY5" fmla="*/ 6217920 h 6217921"/>
              <a:gd name="connsiteX6" fmla="*/ 0 w 8366760"/>
              <a:gd name="connsiteY6" fmla="*/ 6217920 h 6217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66760" h="6217921">
                <a:moveTo>
                  <a:pt x="0" y="0"/>
                </a:moveTo>
                <a:lnTo>
                  <a:pt x="5257800" y="0"/>
                </a:lnTo>
                <a:lnTo>
                  <a:pt x="5257800" y="1"/>
                </a:lnTo>
                <a:cubicBezTo>
                  <a:pt x="6974831" y="1"/>
                  <a:pt x="8366760" y="1391930"/>
                  <a:pt x="8366760" y="3108961"/>
                </a:cubicBezTo>
                <a:cubicBezTo>
                  <a:pt x="8366760" y="4825992"/>
                  <a:pt x="6974831" y="6217921"/>
                  <a:pt x="5257800" y="6217921"/>
                </a:cubicBezTo>
                <a:lnTo>
                  <a:pt x="5257760" y="6217920"/>
                </a:lnTo>
                <a:lnTo>
                  <a:pt x="0" y="621792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B7D8D-C31F-4430-8533-DC19B8DD2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149795"/>
            <a:ext cx="5779089" cy="1915366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B1F5E01-AFC0-456A-900E-36C90BCD36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052" y="1111460"/>
            <a:ext cx="4283528" cy="13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FE977A-91E3-4104-B198-23B24B70BF5C}"/>
              </a:ext>
            </a:extLst>
          </p:cNvPr>
          <p:cNvSpPr/>
          <p:nvPr userDrawn="1"/>
        </p:nvSpPr>
        <p:spPr>
          <a:xfrm>
            <a:off x="-2" y="1699586"/>
            <a:ext cx="12192002" cy="3015205"/>
          </a:xfrm>
          <a:prstGeom prst="rect">
            <a:avLst/>
          </a:pr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B7D8D-C31F-4430-8533-DC19B8DD2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988" y="2242653"/>
            <a:ext cx="10968763" cy="1596533"/>
          </a:xfrm>
        </p:spPr>
        <p:txBody>
          <a:bodyPr anchor="t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0DEAC7-9036-46E6-A914-3756D2EB3F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988" y="3839187"/>
            <a:ext cx="10968763" cy="54306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Flowchart: Delay 2">
            <a:extLst>
              <a:ext uri="{FF2B5EF4-FFF2-40B4-BE49-F238E27FC236}">
                <a16:creationId xmlns:a16="http://schemas.microsoft.com/office/drawing/2014/main" id="{EACEDA98-2A45-4CE1-8333-CB407EB6C806}"/>
              </a:ext>
            </a:extLst>
          </p:cNvPr>
          <p:cNvSpPr/>
          <p:nvPr userDrawn="1"/>
        </p:nvSpPr>
        <p:spPr>
          <a:xfrm rot="10800000">
            <a:off x="8221825" y="5158414"/>
            <a:ext cx="3988343" cy="1311729"/>
          </a:xfrm>
          <a:custGeom>
            <a:avLst/>
            <a:gdLst>
              <a:gd name="connsiteX0" fmla="*/ 0 w 5982962"/>
              <a:gd name="connsiteY0" fmla="*/ 0 h 6858000"/>
              <a:gd name="connsiteX1" fmla="*/ 2991481 w 5982962"/>
              <a:gd name="connsiteY1" fmla="*/ 0 h 6858000"/>
              <a:gd name="connsiteX2" fmla="*/ 5982962 w 5982962"/>
              <a:gd name="connsiteY2" fmla="*/ 3429000 h 6858000"/>
              <a:gd name="connsiteX3" fmla="*/ 2991481 w 5982962"/>
              <a:gd name="connsiteY3" fmla="*/ 6858000 h 6858000"/>
              <a:gd name="connsiteX4" fmla="*/ 0 w 5982962"/>
              <a:gd name="connsiteY4" fmla="*/ 6858000 h 6858000"/>
              <a:gd name="connsiteX5" fmla="*/ 0 w 5982962"/>
              <a:gd name="connsiteY5" fmla="*/ 0 h 6858000"/>
              <a:gd name="connsiteX0" fmla="*/ 0 w 7630093"/>
              <a:gd name="connsiteY0" fmla="*/ 6055 h 6858000"/>
              <a:gd name="connsiteX1" fmla="*/ 4638612 w 7630093"/>
              <a:gd name="connsiteY1" fmla="*/ 0 h 6858000"/>
              <a:gd name="connsiteX2" fmla="*/ 7630093 w 7630093"/>
              <a:gd name="connsiteY2" fmla="*/ 3429000 h 6858000"/>
              <a:gd name="connsiteX3" fmla="*/ 4638612 w 7630093"/>
              <a:gd name="connsiteY3" fmla="*/ 6858000 h 6858000"/>
              <a:gd name="connsiteX4" fmla="*/ 1647131 w 7630093"/>
              <a:gd name="connsiteY4" fmla="*/ 6858000 h 6858000"/>
              <a:gd name="connsiteX5" fmla="*/ 0 w 7630093"/>
              <a:gd name="connsiteY5" fmla="*/ 6055 h 6858000"/>
              <a:gd name="connsiteX0" fmla="*/ 0 w 7630093"/>
              <a:gd name="connsiteY0" fmla="*/ 6055 h 6858000"/>
              <a:gd name="connsiteX1" fmla="*/ 4638612 w 7630093"/>
              <a:gd name="connsiteY1" fmla="*/ 0 h 6858000"/>
              <a:gd name="connsiteX2" fmla="*/ 7630093 w 7630093"/>
              <a:gd name="connsiteY2" fmla="*/ 3429000 h 6858000"/>
              <a:gd name="connsiteX3" fmla="*/ 4638612 w 7630093"/>
              <a:gd name="connsiteY3" fmla="*/ 6858000 h 6858000"/>
              <a:gd name="connsiteX4" fmla="*/ 12111 w 7630093"/>
              <a:gd name="connsiteY4" fmla="*/ 6858000 h 6858000"/>
              <a:gd name="connsiteX5" fmla="*/ 0 w 7630093"/>
              <a:gd name="connsiteY5" fmla="*/ 6055 h 6858000"/>
              <a:gd name="connsiteX0" fmla="*/ 5655051 w 13285144"/>
              <a:gd name="connsiteY0" fmla="*/ 6055 h 6858000"/>
              <a:gd name="connsiteX1" fmla="*/ 10293663 w 13285144"/>
              <a:gd name="connsiteY1" fmla="*/ 0 h 6858000"/>
              <a:gd name="connsiteX2" fmla="*/ 13285144 w 13285144"/>
              <a:gd name="connsiteY2" fmla="*/ 3429000 h 6858000"/>
              <a:gd name="connsiteX3" fmla="*/ 10293663 w 13285144"/>
              <a:gd name="connsiteY3" fmla="*/ 6858000 h 6858000"/>
              <a:gd name="connsiteX4" fmla="*/ 0 w 13285144"/>
              <a:gd name="connsiteY4" fmla="*/ 6763019 h 6858000"/>
              <a:gd name="connsiteX5" fmla="*/ 5655051 w 13285144"/>
              <a:gd name="connsiteY5" fmla="*/ 6055 h 6858000"/>
              <a:gd name="connsiteX0" fmla="*/ 0 w 13392234"/>
              <a:gd name="connsiteY0" fmla="*/ 6054 h 6858000"/>
              <a:gd name="connsiteX1" fmla="*/ 10400753 w 13392234"/>
              <a:gd name="connsiteY1" fmla="*/ 0 h 6858000"/>
              <a:gd name="connsiteX2" fmla="*/ 13392234 w 13392234"/>
              <a:gd name="connsiteY2" fmla="*/ 3429000 h 6858000"/>
              <a:gd name="connsiteX3" fmla="*/ 10400753 w 13392234"/>
              <a:gd name="connsiteY3" fmla="*/ 6858000 h 6858000"/>
              <a:gd name="connsiteX4" fmla="*/ 107090 w 13392234"/>
              <a:gd name="connsiteY4" fmla="*/ 6763019 h 6858000"/>
              <a:gd name="connsiteX5" fmla="*/ 0 w 13392234"/>
              <a:gd name="connsiteY5" fmla="*/ 6054 h 6858000"/>
              <a:gd name="connsiteX0" fmla="*/ 7617979 w 21010213"/>
              <a:gd name="connsiteY0" fmla="*/ 6054 h 6858000"/>
              <a:gd name="connsiteX1" fmla="*/ 18018732 w 21010213"/>
              <a:gd name="connsiteY1" fmla="*/ 0 h 6858000"/>
              <a:gd name="connsiteX2" fmla="*/ 21010213 w 21010213"/>
              <a:gd name="connsiteY2" fmla="*/ 3429000 h 6858000"/>
              <a:gd name="connsiteX3" fmla="*/ 18018732 w 21010213"/>
              <a:gd name="connsiteY3" fmla="*/ 6858000 h 6858000"/>
              <a:gd name="connsiteX4" fmla="*/ 0 w 21010213"/>
              <a:gd name="connsiteY4" fmla="*/ 6668038 h 6858000"/>
              <a:gd name="connsiteX5" fmla="*/ 7617979 w 21010213"/>
              <a:gd name="connsiteY5" fmla="*/ 6054 h 6858000"/>
              <a:gd name="connsiteX0" fmla="*/ 7491341 w 20883575"/>
              <a:gd name="connsiteY0" fmla="*/ 6054 h 6858000"/>
              <a:gd name="connsiteX1" fmla="*/ 17892094 w 20883575"/>
              <a:gd name="connsiteY1" fmla="*/ 0 h 6858000"/>
              <a:gd name="connsiteX2" fmla="*/ 20883575 w 20883575"/>
              <a:gd name="connsiteY2" fmla="*/ 3429000 h 6858000"/>
              <a:gd name="connsiteX3" fmla="*/ 17892094 w 20883575"/>
              <a:gd name="connsiteY3" fmla="*/ 6858000 h 6858000"/>
              <a:gd name="connsiteX4" fmla="*/ 0 w 20883575"/>
              <a:gd name="connsiteY4" fmla="*/ 6668038 h 6858000"/>
              <a:gd name="connsiteX5" fmla="*/ 7491341 w 20883575"/>
              <a:gd name="connsiteY5" fmla="*/ 6054 h 6858000"/>
              <a:gd name="connsiteX0" fmla="*/ 7523003 w 20915237"/>
              <a:gd name="connsiteY0" fmla="*/ 6054 h 6858000"/>
              <a:gd name="connsiteX1" fmla="*/ 17923756 w 20915237"/>
              <a:gd name="connsiteY1" fmla="*/ 0 h 6858000"/>
              <a:gd name="connsiteX2" fmla="*/ 20915237 w 20915237"/>
              <a:gd name="connsiteY2" fmla="*/ 3429000 h 6858000"/>
              <a:gd name="connsiteX3" fmla="*/ 17923756 w 20915237"/>
              <a:gd name="connsiteY3" fmla="*/ 6858000 h 6858000"/>
              <a:gd name="connsiteX4" fmla="*/ 0 w 20915237"/>
              <a:gd name="connsiteY4" fmla="*/ 6731362 h 6858000"/>
              <a:gd name="connsiteX5" fmla="*/ 7523003 w 20915237"/>
              <a:gd name="connsiteY5" fmla="*/ 6054 h 6858000"/>
              <a:gd name="connsiteX0" fmla="*/ 7459679 w 20851913"/>
              <a:gd name="connsiteY0" fmla="*/ 6054 h 6858000"/>
              <a:gd name="connsiteX1" fmla="*/ 17860432 w 20851913"/>
              <a:gd name="connsiteY1" fmla="*/ 0 h 6858000"/>
              <a:gd name="connsiteX2" fmla="*/ 20851913 w 20851913"/>
              <a:gd name="connsiteY2" fmla="*/ 3429000 h 6858000"/>
              <a:gd name="connsiteX3" fmla="*/ 17860432 w 20851913"/>
              <a:gd name="connsiteY3" fmla="*/ 6858000 h 6858000"/>
              <a:gd name="connsiteX4" fmla="*/ 0 w 20851913"/>
              <a:gd name="connsiteY4" fmla="*/ 6826343 h 6858000"/>
              <a:gd name="connsiteX5" fmla="*/ 7459679 w 20851913"/>
              <a:gd name="connsiteY5" fmla="*/ 6054 h 6858000"/>
              <a:gd name="connsiteX0" fmla="*/ 114529 w 20851913"/>
              <a:gd name="connsiteY0" fmla="*/ 6054 h 6858000"/>
              <a:gd name="connsiteX1" fmla="*/ 17860432 w 20851913"/>
              <a:gd name="connsiteY1" fmla="*/ 0 h 6858000"/>
              <a:gd name="connsiteX2" fmla="*/ 20851913 w 20851913"/>
              <a:gd name="connsiteY2" fmla="*/ 3429000 h 6858000"/>
              <a:gd name="connsiteX3" fmla="*/ 17860432 w 20851913"/>
              <a:gd name="connsiteY3" fmla="*/ 6858000 h 6858000"/>
              <a:gd name="connsiteX4" fmla="*/ 0 w 20851913"/>
              <a:gd name="connsiteY4" fmla="*/ 6826343 h 6858000"/>
              <a:gd name="connsiteX5" fmla="*/ 114529 w 20851913"/>
              <a:gd name="connsiteY5" fmla="*/ 605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851913" h="6858000">
                <a:moveTo>
                  <a:pt x="114529" y="6054"/>
                </a:moveTo>
                <a:lnTo>
                  <a:pt x="17860432" y="0"/>
                </a:lnTo>
                <a:cubicBezTo>
                  <a:pt x="19512581" y="0"/>
                  <a:pt x="20851913" y="1535216"/>
                  <a:pt x="20851913" y="3429000"/>
                </a:cubicBezTo>
                <a:cubicBezTo>
                  <a:pt x="20851913" y="5322784"/>
                  <a:pt x="19512581" y="6858000"/>
                  <a:pt x="17860432" y="6858000"/>
                </a:cubicBezTo>
                <a:lnTo>
                  <a:pt x="0" y="6826343"/>
                </a:lnTo>
                <a:lnTo>
                  <a:pt x="114529" y="60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4E597C7-CC9B-446F-A140-02E7735153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7779" y="5463980"/>
            <a:ext cx="2412139" cy="74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AC4B-59BA-4C33-8F97-065F2EE8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ACE67-39E8-4573-9996-589B8DE177A0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1160CEC-C22F-4424-AA0A-E8503D2127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161E132-687C-4762-99FA-BC07D76E7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343399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C85509C-54BA-48BC-AC98-BA4F7A3F5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9C331-56C9-41C7-BF33-D50867FC134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108200"/>
            <a:ext cx="10972800" cy="39735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007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AC4B-59BA-4C33-8F97-065F2EE8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6B0533-49CA-4BF9-B890-1F5B83D138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107580"/>
            <a:ext cx="10972799" cy="3973732"/>
          </a:xfrm>
        </p:spPr>
        <p:txBody>
          <a:bodyPr numCol="2" spcCol="45720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US" sz="1200" dirty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ACE67-39E8-4573-9996-589B8DE177A0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1160CEC-C22F-4424-AA0A-E8503D2127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161E132-687C-4762-99FA-BC07D76E7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343399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C85509C-54BA-48BC-AC98-BA4F7A3F5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14C5-6419-4032-8BE7-AEE767976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85D73331-D20F-4ADC-A6AF-265F09D5F8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3156707"/>
            <a:ext cx="3220231" cy="2737331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9ACF458-AB4A-4C4A-8921-571A029329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2231106"/>
            <a:ext cx="3220231" cy="829375"/>
          </a:xfrm>
        </p:spPr>
        <p:txBody>
          <a:bodyPr lIns="0" rIns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lang="en-US" sz="1600" b="1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9974B086-4868-4C19-8AC5-7C3522575E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62169" y="3134688"/>
            <a:ext cx="3220231" cy="2737331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DEBCDC9E-8517-44B2-9E86-F5721E8819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2169" y="2231106"/>
            <a:ext cx="3220231" cy="829375"/>
          </a:xfrm>
        </p:spPr>
        <p:txBody>
          <a:bodyPr lIns="0" rIns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lang="en-US" sz="1600" b="1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90E2B337-4725-47F8-BFD9-6860B74D3E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95610" y="3147017"/>
            <a:ext cx="3220231" cy="2737331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7AC7B541-CEB6-454B-863F-544AA0C78D8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95610" y="2231106"/>
            <a:ext cx="3220231" cy="829375"/>
          </a:xfrm>
        </p:spPr>
        <p:txBody>
          <a:bodyPr lIns="0" rIns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lang="en-US" sz="1600" b="1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6DB92-1F33-4DF9-BD0E-412F2DDFA256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62E8308-BB71-401B-B110-1108018BA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F6FD191-5BFE-4DB3-BF9C-F49F9BE4E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343399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0A7DC27-8BA6-4BA7-970B-3C20ACC5F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95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Sideba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83D8EE5-F8F1-422C-964B-87E65674F787}"/>
              </a:ext>
            </a:extLst>
          </p:cNvPr>
          <p:cNvSpPr>
            <a:spLocks noChangeAspect="1"/>
          </p:cNvSpPr>
          <p:nvPr userDrawn="1"/>
        </p:nvSpPr>
        <p:spPr>
          <a:xfrm>
            <a:off x="6667500" y="-7044"/>
            <a:ext cx="5524498" cy="6319850"/>
          </a:xfrm>
          <a:custGeom>
            <a:avLst/>
            <a:gdLst>
              <a:gd name="connsiteX0" fmla="*/ 3157028 w 5524498"/>
              <a:gd name="connsiteY0" fmla="*/ 0 h 6319850"/>
              <a:gd name="connsiteX1" fmla="*/ 5524498 w 5524498"/>
              <a:gd name="connsiteY1" fmla="*/ 0 h 6319850"/>
              <a:gd name="connsiteX2" fmla="*/ 5524498 w 5524498"/>
              <a:gd name="connsiteY2" fmla="*/ 6318504 h 6319850"/>
              <a:gd name="connsiteX3" fmla="*/ 3157028 w 5524498"/>
              <a:gd name="connsiteY3" fmla="*/ 6318504 h 6319850"/>
              <a:gd name="connsiteX4" fmla="*/ 3157028 w 5524498"/>
              <a:gd name="connsiteY4" fmla="*/ 6319850 h 6319850"/>
              <a:gd name="connsiteX5" fmla="*/ 2997350 w 5524498"/>
              <a:gd name="connsiteY5" fmla="*/ 6315813 h 6319850"/>
              <a:gd name="connsiteX6" fmla="*/ 0 w 5524498"/>
              <a:gd name="connsiteY6" fmla="*/ 3159962 h 6319850"/>
              <a:gd name="connsiteX7" fmla="*/ 2997350 w 5524498"/>
              <a:gd name="connsiteY7" fmla="*/ 4112 h 6319850"/>
              <a:gd name="connsiteX8" fmla="*/ 3157028 w 5524498"/>
              <a:gd name="connsiteY8" fmla="*/ 74 h 631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24498" h="6319850">
                <a:moveTo>
                  <a:pt x="3157028" y="0"/>
                </a:moveTo>
                <a:lnTo>
                  <a:pt x="5524498" y="0"/>
                </a:lnTo>
                <a:lnTo>
                  <a:pt x="5524498" y="6318504"/>
                </a:lnTo>
                <a:lnTo>
                  <a:pt x="3157028" y="6318504"/>
                </a:lnTo>
                <a:lnTo>
                  <a:pt x="3157028" y="6319850"/>
                </a:lnTo>
                <a:lnTo>
                  <a:pt x="2997350" y="6315813"/>
                </a:lnTo>
                <a:cubicBezTo>
                  <a:pt x="1327722" y="6231179"/>
                  <a:pt x="0" y="4850624"/>
                  <a:pt x="0" y="3159962"/>
                </a:cubicBezTo>
                <a:cubicBezTo>
                  <a:pt x="0" y="1469301"/>
                  <a:pt x="1327722" y="88746"/>
                  <a:pt x="2997350" y="4112"/>
                </a:cubicBezTo>
                <a:lnTo>
                  <a:pt x="3157028" y="7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2269BDE-3762-4F8B-8DDC-45438F4C95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954446"/>
            <a:ext cx="5736699" cy="294237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72CA28C-2211-4291-8A24-9AFE088D6E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08143" y="642018"/>
            <a:ext cx="3678335" cy="1114529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57A8B8A8-5A29-4B7C-9855-19F92D8CF6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08143" y="1947304"/>
            <a:ext cx="3678335" cy="1114529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D5643111-58CB-4B1A-8200-02D4413DA9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08143" y="3252590"/>
            <a:ext cx="3678335" cy="1114529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73E11E92-E05B-45B1-994B-1F59E465C7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08143" y="4545765"/>
            <a:ext cx="3678335" cy="1114529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95C0C33F-8659-4FEE-AEA9-3740AE908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516144"/>
            <a:ext cx="5736700" cy="1312000"/>
          </a:xfrm>
        </p:spPr>
        <p:txBody>
          <a:bodyPr anchor="t">
            <a:normAutofit/>
          </a:bodyPr>
          <a:lstStyle>
            <a:lvl1pPr algn="l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25F81D-267B-4C9E-8883-20D201B2609D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F5A511-85C5-4139-B1B8-186DD79780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A25B92BA-89AF-4A02-853A-669434EBE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343399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873F543-0170-4470-8E8E-6F5F981F0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05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- Rou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7DF2BB7-EB80-439B-8B2D-31CE38E9783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-1"/>
            <a:ext cx="5524498" cy="6318504"/>
          </a:xfrm>
          <a:custGeom>
            <a:avLst/>
            <a:gdLst>
              <a:gd name="connsiteX0" fmla="*/ 2967967 w 5524498"/>
              <a:gd name="connsiteY0" fmla="*/ 0 h 6305550"/>
              <a:gd name="connsiteX1" fmla="*/ 5524498 w 5524498"/>
              <a:gd name="connsiteY1" fmla="*/ 0 h 6305550"/>
              <a:gd name="connsiteX2" fmla="*/ 5524498 w 5524498"/>
              <a:gd name="connsiteY2" fmla="*/ 6305550 h 6305550"/>
              <a:gd name="connsiteX3" fmla="*/ 2965091 w 5524498"/>
              <a:gd name="connsiteY3" fmla="*/ 6305550 h 6305550"/>
              <a:gd name="connsiteX4" fmla="*/ 2688542 w 5524498"/>
              <a:gd name="connsiteY4" fmla="*/ 6277955 h 6305550"/>
              <a:gd name="connsiteX5" fmla="*/ 0 w 5524498"/>
              <a:gd name="connsiteY5" fmla="*/ 3152918 h 6305550"/>
              <a:gd name="connsiteX6" fmla="*/ 2688542 w 5524498"/>
              <a:gd name="connsiteY6" fmla="*/ 27883 h 630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498" h="6305550">
                <a:moveTo>
                  <a:pt x="2967967" y="0"/>
                </a:moveTo>
                <a:lnTo>
                  <a:pt x="5524498" y="0"/>
                </a:lnTo>
                <a:lnTo>
                  <a:pt x="5524498" y="6305550"/>
                </a:lnTo>
                <a:lnTo>
                  <a:pt x="2965091" y="6305550"/>
                </a:lnTo>
                <a:lnTo>
                  <a:pt x="2688542" y="6277955"/>
                </a:lnTo>
                <a:cubicBezTo>
                  <a:pt x="1166943" y="6050355"/>
                  <a:pt x="0" y="4737914"/>
                  <a:pt x="0" y="3152918"/>
                </a:cubicBezTo>
                <a:cubicBezTo>
                  <a:pt x="0" y="1567924"/>
                  <a:pt x="1166943" y="255483"/>
                  <a:pt x="2688542" y="27883"/>
                </a:cubicBezTo>
                <a:close/>
              </a:path>
            </a:pathLst>
          </a:custGeo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2269BDE-3762-4F8B-8DDC-45438F4C95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954446"/>
            <a:ext cx="5736699" cy="294237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95C0C33F-8659-4FEE-AEA9-3740AE908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516144"/>
            <a:ext cx="5736700" cy="1312000"/>
          </a:xfrm>
        </p:spPr>
        <p:txBody>
          <a:bodyPr anchor="t">
            <a:normAutofit/>
          </a:bodyPr>
          <a:lstStyle>
            <a:lvl1pPr algn="l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9F751D-D515-41B9-A57A-5C3449468A60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0FA83DB-E6C1-4A1D-872B-B6730082C7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2A8E9FE-1332-4712-A3F6-4B69FA16A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1148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125343-D73B-4D60-8F68-B95B4412B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7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657A5B-4533-465D-BF31-1E0D2498CAF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5858823" cy="6312879"/>
          </a:xfr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9E5DADC-B0BF-45D4-93E7-F3D52BC87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3179" y="2954446"/>
            <a:ext cx="5249222" cy="2942376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9AAB766-B369-41CC-B5B0-6213CB79F9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3178" y="1516144"/>
            <a:ext cx="5249222" cy="1312000"/>
          </a:xfrm>
        </p:spPr>
        <p:txBody>
          <a:bodyPr anchor="t">
            <a:normAutofit/>
          </a:bodyPr>
          <a:lstStyle>
            <a:lvl1pPr algn="l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A3B6A-20C1-4FDA-A989-E850B821A798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8D0D667-CC2A-47D5-9209-2FF4E63472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837A100-A5AE-4B47-96C8-0CFD2F2BC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343399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2F9221-D2FA-4DE6-A6A7-AEA917374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53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elay 13">
            <a:extLst>
              <a:ext uri="{FF2B5EF4-FFF2-40B4-BE49-F238E27FC236}">
                <a16:creationId xmlns:a16="http://schemas.microsoft.com/office/drawing/2014/main" id="{12A22283-0765-4352-90D4-B5D69D16F13D}"/>
              </a:ext>
            </a:extLst>
          </p:cNvPr>
          <p:cNvSpPr/>
          <p:nvPr userDrawn="1"/>
        </p:nvSpPr>
        <p:spPr>
          <a:xfrm>
            <a:off x="0" y="0"/>
            <a:ext cx="6103533" cy="6858000"/>
          </a:xfrm>
          <a:prstGeom prst="flowChartDelay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85D73331-D20F-4ADC-A6AF-265F09D5F8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88010" y="2951042"/>
            <a:ext cx="3220231" cy="2737331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89ACF458-AB4A-4C4A-8921-571A029329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88010" y="2025441"/>
            <a:ext cx="3220231" cy="829375"/>
          </a:xfrm>
        </p:spPr>
        <p:txBody>
          <a:bodyPr lIns="0" rIns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9974B086-4868-4C19-8AC5-7C3522575E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83760" y="2929023"/>
            <a:ext cx="3220231" cy="2737331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DEBCDC9E-8517-44B2-9E86-F5721E8819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83760" y="2025441"/>
            <a:ext cx="3220231" cy="829375"/>
          </a:xfrm>
        </p:spPr>
        <p:txBody>
          <a:bodyPr lIns="0" rIns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lang="en-US" sz="1600" b="1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B867CA-018C-4E5C-9A76-FBC8DEAA612D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68D5618-29F5-4AFC-BB59-A972C1D1CA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D8D713B-0291-4B5F-B4DD-48AB6E010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343399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4A9ADA-3915-485E-94F8-3B76E2C454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42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4D9B742-C46F-4E67-918F-6532F09689B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2222" y="3606799"/>
            <a:ext cx="3048000" cy="2732051"/>
          </a:xfrm>
          <a:solidFill>
            <a:schemeClr val="accent3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3256448-45C6-4E8F-BF8C-F91E654D9B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44328" y="3606800"/>
            <a:ext cx="3046476" cy="2732051"/>
          </a:xfrm>
          <a:solidFill>
            <a:schemeClr val="tx2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4BD00BD-571E-4A82-B2A8-9F16AA9D001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88402" y="3606800"/>
            <a:ext cx="3056223" cy="2732051"/>
          </a:xfrm>
          <a:solidFill>
            <a:schemeClr val="accent2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BD62EC20-21CA-4F9F-9DF9-5E77BBA8B9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3606800"/>
            <a:ext cx="3046731" cy="2732051"/>
          </a:xfrm>
          <a:solidFill>
            <a:schemeClr val="accent1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814C5-6419-4032-8BE7-AEE767976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3103956-F82E-4EF9-88AF-9DAFCE9089C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0" y="1690688"/>
            <a:ext cx="3048000" cy="1916112"/>
          </a:xfr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photo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356AB790-4ED6-47CE-AAB9-E77424084E1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048000" y="1690688"/>
            <a:ext cx="3048000" cy="1916112"/>
          </a:xfr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photo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1F0E433D-FC2E-417C-9238-A5EC344EACA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1690688"/>
            <a:ext cx="3048000" cy="1916112"/>
          </a:xfr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photo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2BFB6208-6F99-4A69-96B7-3D6F14B5653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4000" y="1690688"/>
            <a:ext cx="3041027" cy="1916112"/>
          </a:xfr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photo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FBA7A380-7D9B-46DC-81C4-224D410EB5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8130" y="4465078"/>
            <a:ext cx="2480469" cy="1565974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D5CFF456-C971-450D-B9FC-54F9C2503E8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35877" y="4465078"/>
            <a:ext cx="2480469" cy="1565974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2E7CEB0D-00B5-41F9-8125-C87089B243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3623" y="4465078"/>
            <a:ext cx="2480469" cy="1565974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ACB1BBDF-5E8F-439F-8016-C465120F99C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431115" y="4465078"/>
            <a:ext cx="2480469" cy="1565974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B77552-D8ED-46F0-A840-81AB8B46BC62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84E6A36-59BA-4D9C-8783-1716E90A9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6DE58588-F04D-4C95-95AF-DACAFC1CE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343399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04862809-B178-432B-BA41-7B52C6110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135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8813DC0D-53D9-4AD9-8C43-33BE381047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29575" y="4256257"/>
            <a:ext cx="4064000" cy="2029381"/>
          </a:xfrm>
          <a:solidFill>
            <a:schemeClr val="accent3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2BA0890A-7FA5-40A8-8DB6-4A3BA06EC5C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68603" y="4256257"/>
            <a:ext cx="4064000" cy="2029381"/>
          </a:xfrm>
          <a:solidFill>
            <a:schemeClr val="accent2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37F9C228-9152-4F69-BBE7-842B46D477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575" y="4256257"/>
            <a:ext cx="4073206" cy="2029381"/>
          </a:xfrm>
          <a:solidFill>
            <a:schemeClr val="accent1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814C5-6419-4032-8BE7-AEE767976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AD235DD-D4CF-4954-B9E2-EB40CF91C0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575" y="1690688"/>
            <a:ext cx="4068262" cy="2567565"/>
          </a:xfr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D4F87D4-5C56-4974-B1A8-21C9826D560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69837" y="1690688"/>
            <a:ext cx="4067028" cy="2567565"/>
          </a:xfr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photo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465D564-8FA1-48F7-BBBE-7F37896AC1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23519" y="1690688"/>
            <a:ext cx="4064000" cy="2567565"/>
          </a:xfr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photo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89A4CCC6-1138-46AF-B96C-80828357CD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8131" y="5051186"/>
            <a:ext cx="3454248" cy="999097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5F811FD9-68D2-4DE2-8F4B-7CFE9811ED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54915" y="5051186"/>
            <a:ext cx="3454248" cy="999097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A7243619-CFD3-4537-A989-E8E23EA069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38443" y="5051186"/>
            <a:ext cx="3454248" cy="999097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B71B5A-CF75-4843-B847-12A1E1BD9EEE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9E357FE-B025-4BEB-8ED9-D146D2F1AD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A5A8D00D-BFF7-49EE-8C31-F688E2466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199" y="6309359"/>
            <a:ext cx="41148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1D8183F-6133-4E56-AFF8-9EF381582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36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Center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Placeholder 3" descr="A picture containing light&#10;&#10;Description automatically generated">
            <a:extLst>
              <a:ext uri="{FF2B5EF4-FFF2-40B4-BE49-F238E27FC236}">
                <a16:creationId xmlns:a16="http://schemas.microsoft.com/office/drawing/2014/main" id="{72123F36-65B6-422A-9E41-11FFD7FA45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78" r="42578"/>
          <a:stretch>
            <a:fillRect/>
          </a:stretch>
        </p:blipFill>
        <p:spPr>
          <a:xfrm>
            <a:off x="5988517" y="0"/>
            <a:ext cx="1526583" cy="6858000"/>
          </a:xfrm>
          <a:prstGeom prst="rect">
            <a:avLst/>
          </a:prstGeom>
        </p:spPr>
      </p:pic>
      <p:sp>
        <p:nvSpPr>
          <p:cNvPr id="27" name="Прямоугольник 34">
            <a:extLst>
              <a:ext uri="{FF2B5EF4-FFF2-40B4-BE49-F238E27FC236}">
                <a16:creationId xmlns:a16="http://schemas.microsoft.com/office/drawing/2014/main" id="{94A20704-4D35-40EA-9C17-1C3B4C86ABEA}"/>
              </a:ext>
            </a:extLst>
          </p:cNvPr>
          <p:cNvSpPr/>
          <p:nvPr userDrawn="1"/>
        </p:nvSpPr>
        <p:spPr>
          <a:xfrm>
            <a:off x="5979427" y="0"/>
            <a:ext cx="1535674" cy="6858000"/>
          </a:xfrm>
          <a:prstGeom prst="rect">
            <a:avLst/>
          </a:prstGeom>
          <a:solidFill>
            <a:srgbClr val="232B36">
              <a:alpha val="7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2269BDE-3762-4F8B-8DDC-45438F4C95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979369"/>
            <a:ext cx="4454949" cy="3058093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 diam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turpis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ante semper </a:t>
            </a:r>
            <a:r>
              <a:rPr lang="en-US" dirty="0" err="1"/>
              <a:t>blandit</a:t>
            </a:r>
            <a:r>
              <a:rPr lang="en-US" dirty="0"/>
              <a:t> in ac </a:t>
            </a:r>
            <a:r>
              <a:rPr lang="en-US" dirty="0" err="1"/>
              <a:t>lacus</a:t>
            </a:r>
            <a:r>
              <a:rPr lang="en-US" dirty="0"/>
              <a:t>. Vestibulum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a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porta.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justo</a:t>
            </a:r>
            <a:r>
              <a:rPr lang="en-US" dirty="0"/>
              <a:t>, in </a:t>
            </a:r>
            <a:r>
              <a:rPr lang="en-US" dirty="0" err="1"/>
              <a:t>blandit</a:t>
            </a:r>
            <a:r>
              <a:rPr lang="en-US" dirty="0"/>
              <a:t> dolor </a:t>
            </a:r>
            <a:r>
              <a:rPr lang="en-US" dirty="0" err="1"/>
              <a:t>laoreet</a:t>
            </a:r>
            <a:r>
              <a:rPr lang="en-US" dirty="0"/>
              <a:t> id. </a:t>
            </a:r>
            <a:r>
              <a:rPr lang="en-US" dirty="0" err="1"/>
              <a:t>Phasellus</a:t>
            </a:r>
            <a:r>
              <a:rPr lang="en-US" dirty="0"/>
              <a:t> dictum vehicular.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95C0C33F-8659-4FEE-AEA9-3740AE908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026852"/>
            <a:ext cx="4454949" cy="1952517"/>
          </a:xfrm>
        </p:spPr>
        <p:txBody>
          <a:bodyPr anchor="t">
            <a:normAutofit/>
          </a:bodyPr>
          <a:lstStyle>
            <a:lvl1pPr algn="l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2" name="Text Placeholder 34">
            <a:extLst>
              <a:ext uri="{FF2B5EF4-FFF2-40B4-BE49-F238E27FC236}">
                <a16:creationId xmlns:a16="http://schemas.microsoft.com/office/drawing/2014/main" id="{E431CDF6-577B-443A-835D-0AB880BEB3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52145" y="667360"/>
            <a:ext cx="3830255" cy="1114529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10194076-EF75-4C71-B906-8BED042680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2145" y="1972646"/>
            <a:ext cx="3830255" cy="1114529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34" name="Text Placeholder 34">
            <a:extLst>
              <a:ext uri="{FF2B5EF4-FFF2-40B4-BE49-F238E27FC236}">
                <a16:creationId xmlns:a16="http://schemas.microsoft.com/office/drawing/2014/main" id="{20427EBB-5455-4F60-8663-76A7271011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52145" y="3277932"/>
            <a:ext cx="3830255" cy="1114529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D608DD60-64E1-49E1-B823-FD22F4B595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52145" y="4571107"/>
            <a:ext cx="3830255" cy="1114529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3D19BB-F8B1-4953-BA7F-F24F293CCC7B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BED22E9-2534-44B1-A02A-852C559820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8AD7E5A2-8451-48D9-A9E2-E2B3DEBC0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343399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789B3CF-6FC2-4958-953F-09B9D2D34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14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- 4 Column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C6E1EB9-E61E-4D95-9F07-FEE6986E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1"/>
            <a:ext cx="10972800" cy="134778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Полилиния 43">
            <a:extLst>
              <a:ext uri="{FF2B5EF4-FFF2-40B4-BE49-F238E27FC236}">
                <a16:creationId xmlns:a16="http://schemas.microsoft.com/office/drawing/2014/main" id="{6A722DBE-9BC7-4FF5-AD10-1ABEA0602173}"/>
              </a:ext>
            </a:extLst>
          </p:cNvPr>
          <p:cNvSpPr/>
          <p:nvPr userDrawn="1"/>
        </p:nvSpPr>
        <p:spPr>
          <a:xfrm flipH="1">
            <a:off x="1163686" y="1755838"/>
            <a:ext cx="2243934" cy="4830144"/>
          </a:xfrm>
          <a:custGeom>
            <a:avLst/>
            <a:gdLst>
              <a:gd name="connsiteX0" fmla="*/ 1628775 w 3257550"/>
              <a:gd name="connsiteY0" fmla="*/ 687734 h 7011988"/>
              <a:gd name="connsiteX1" fmla="*/ 711018 w 3257550"/>
              <a:gd name="connsiteY1" fmla="*/ 1605490 h 7011988"/>
              <a:gd name="connsiteX2" fmla="*/ 1628775 w 3257550"/>
              <a:gd name="connsiteY2" fmla="*/ 2523246 h 7011988"/>
              <a:gd name="connsiteX3" fmla="*/ 2546532 w 3257550"/>
              <a:gd name="connsiteY3" fmla="*/ 1605490 h 7011988"/>
              <a:gd name="connsiteX4" fmla="*/ 1628775 w 3257550"/>
              <a:gd name="connsiteY4" fmla="*/ 687734 h 7011988"/>
              <a:gd name="connsiteX5" fmla="*/ 1628776 w 3257550"/>
              <a:gd name="connsiteY5" fmla="*/ 610480 h 7011988"/>
              <a:gd name="connsiteX6" fmla="*/ 2623788 w 3257550"/>
              <a:gd name="connsiteY6" fmla="*/ 1605491 h 7011988"/>
              <a:gd name="connsiteX7" fmla="*/ 1628776 w 3257550"/>
              <a:gd name="connsiteY7" fmla="*/ 2600503 h 7011988"/>
              <a:gd name="connsiteX8" fmla="*/ 633765 w 3257550"/>
              <a:gd name="connsiteY8" fmla="*/ 1605491 h 7011988"/>
              <a:gd name="connsiteX9" fmla="*/ 1628776 w 3257550"/>
              <a:gd name="connsiteY9" fmla="*/ 610480 h 7011988"/>
              <a:gd name="connsiteX10" fmla="*/ 1628775 w 3257550"/>
              <a:gd name="connsiteY10" fmla="*/ 555125 h 7011988"/>
              <a:gd name="connsiteX11" fmla="*/ 578409 w 3257550"/>
              <a:gd name="connsiteY11" fmla="*/ 1605490 h 7011988"/>
              <a:gd name="connsiteX12" fmla="*/ 1628775 w 3257550"/>
              <a:gd name="connsiteY12" fmla="*/ 2655855 h 7011988"/>
              <a:gd name="connsiteX13" fmla="*/ 2679141 w 3257550"/>
              <a:gd name="connsiteY13" fmla="*/ 1605490 h 7011988"/>
              <a:gd name="connsiteX14" fmla="*/ 1628775 w 3257550"/>
              <a:gd name="connsiteY14" fmla="*/ 555125 h 7011988"/>
              <a:gd name="connsiteX15" fmla="*/ 1628774 w 3257550"/>
              <a:gd name="connsiteY15" fmla="*/ 0 h 7011988"/>
              <a:gd name="connsiteX16" fmla="*/ 3257549 w 3257550"/>
              <a:gd name="connsiteY16" fmla="*/ 1628775 h 7011988"/>
              <a:gd name="connsiteX17" fmla="*/ 3257549 w 3257550"/>
              <a:gd name="connsiteY17" fmla="*/ 0 h 7011988"/>
              <a:gd name="connsiteX18" fmla="*/ 3257550 w 3257550"/>
              <a:gd name="connsiteY18" fmla="*/ 0 h 7011988"/>
              <a:gd name="connsiteX19" fmla="*/ 3257550 w 3257550"/>
              <a:gd name="connsiteY19" fmla="*/ 5072297 h 7011988"/>
              <a:gd name="connsiteX20" fmla="*/ 3257550 w 3257550"/>
              <a:gd name="connsiteY20" fmla="*/ 5391150 h 7011988"/>
              <a:gd name="connsiteX21" fmla="*/ 3257550 w 3257550"/>
              <a:gd name="connsiteY21" fmla="*/ 7011988 h 7011988"/>
              <a:gd name="connsiteX22" fmla="*/ 0 w 3257550"/>
              <a:gd name="connsiteY22" fmla="*/ 7011988 h 7011988"/>
              <a:gd name="connsiteX23" fmla="*/ 0 w 3257550"/>
              <a:gd name="connsiteY23" fmla="*/ 5391150 h 7011988"/>
              <a:gd name="connsiteX24" fmla="*/ 0 w 3257550"/>
              <a:gd name="connsiteY24" fmla="*/ 5072297 h 7011988"/>
              <a:gd name="connsiteX25" fmla="*/ 0 w 3257550"/>
              <a:gd name="connsiteY25" fmla="*/ 1628756 h 7011988"/>
              <a:gd name="connsiteX26" fmla="*/ 8409 w 3257550"/>
              <a:gd name="connsiteY26" fmla="*/ 1462242 h 7011988"/>
              <a:gd name="connsiteX27" fmla="*/ 1628774 w 3257550"/>
              <a:gd name="connsiteY27" fmla="*/ 0 h 701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257550" h="7011988">
                <a:moveTo>
                  <a:pt x="1628775" y="687734"/>
                </a:moveTo>
                <a:cubicBezTo>
                  <a:pt x="1121912" y="687734"/>
                  <a:pt x="711018" y="1098627"/>
                  <a:pt x="711018" y="1605490"/>
                </a:cubicBezTo>
                <a:cubicBezTo>
                  <a:pt x="711018" y="2112353"/>
                  <a:pt x="1121912" y="2523246"/>
                  <a:pt x="1628775" y="2523246"/>
                </a:cubicBezTo>
                <a:cubicBezTo>
                  <a:pt x="2135638" y="2523246"/>
                  <a:pt x="2546532" y="2112353"/>
                  <a:pt x="2546532" y="1605490"/>
                </a:cubicBezTo>
                <a:cubicBezTo>
                  <a:pt x="2546532" y="1098627"/>
                  <a:pt x="2135638" y="687734"/>
                  <a:pt x="1628775" y="687734"/>
                </a:cubicBezTo>
                <a:close/>
                <a:moveTo>
                  <a:pt x="1628776" y="610480"/>
                </a:moveTo>
                <a:cubicBezTo>
                  <a:pt x="2178306" y="610480"/>
                  <a:pt x="2623788" y="1055962"/>
                  <a:pt x="2623788" y="1605491"/>
                </a:cubicBezTo>
                <a:cubicBezTo>
                  <a:pt x="2623788" y="2155021"/>
                  <a:pt x="2178306" y="2600503"/>
                  <a:pt x="1628776" y="2600503"/>
                </a:cubicBezTo>
                <a:cubicBezTo>
                  <a:pt x="1079247" y="2600503"/>
                  <a:pt x="633765" y="2155021"/>
                  <a:pt x="633765" y="1605491"/>
                </a:cubicBezTo>
                <a:cubicBezTo>
                  <a:pt x="633765" y="1055962"/>
                  <a:pt x="1079247" y="610480"/>
                  <a:pt x="1628776" y="610480"/>
                </a:cubicBezTo>
                <a:close/>
                <a:moveTo>
                  <a:pt x="1628775" y="555125"/>
                </a:moveTo>
                <a:cubicBezTo>
                  <a:pt x="1048674" y="555125"/>
                  <a:pt x="578409" y="1025389"/>
                  <a:pt x="578409" y="1605490"/>
                </a:cubicBezTo>
                <a:cubicBezTo>
                  <a:pt x="578409" y="2185591"/>
                  <a:pt x="1048674" y="2655855"/>
                  <a:pt x="1628775" y="2655855"/>
                </a:cubicBezTo>
                <a:cubicBezTo>
                  <a:pt x="2208876" y="2655855"/>
                  <a:pt x="2679141" y="2185591"/>
                  <a:pt x="2679141" y="1605490"/>
                </a:cubicBezTo>
                <a:cubicBezTo>
                  <a:pt x="2679141" y="1025389"/>
                  <a:pt x="2208876" y="555125"/>
                  <a:pt x="1628775" y="555125"/>
                </a:cubicBezTo>
                <a:close/>
                <a:moveTo>
                  <a:pt x="1628774" y="0"/>
                </a:moveTo>
                <a:cubicBezTo>
                  <a:pt x="2528322" y="0"/>
                  <a:pt x="3257549" y="729227"/>
                  <a:pt x="3257549" y="1628775"/>
                </a:cubicBezTo>
                <a:lnTo>
                  <a:pt x="3257549" y="0"/>
                </a:lnTo>
                <a:lnTo>
                  <a:pt x="3257550" y="0"/>
                </a:lnTo>
                <a:lnTo>
                  <a:pt x="3257550" y="5072297"/>
                </a:lnTo>
                <a:lnTo>
                  <a:pt x="3257550" y="5391150"/>
                </a:lnTo>
                <a:lnTo>
                  <a:pt x="3257550" y="7011988"/>
                </a:lnTo>
                <a:lnTo>
                  <a:pt x="0" y="7011988"/>
                </a:lnTo>
                <a:lnTo>
                  <a:pt x="0" y="5391150"/>
                </a:lnTo>
                <a:lnTo>
                  <a:pt x="0" y="5072297"/>
                </a:lnTo>
                <a:lnTo>
                  <a:pt x="0" y="1628756"/>
                </a:lnTo>
                <a:lnTo>
                  <a:pt x="8409" y="1462242"/>
                </a:lnTo>
                <a:cubicBezTo>
                  <a:pt x="91818" y="640922"/>
                  <a:pt x="785448" y="0"/>
                  <a:pt x="1628774" y="0"/>
                </a:cubicBezTo>
                <a:close/>
              </a:path>
            </a:pathLst>
          </a:custGeom>
          <a:solidFill>
            <a:srgbClr val="DD6C0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2" name="Полилиния 45">
            <a:extLst>
              <a:ext uri="{FF2B5EF4-FFF2-40B4-BE49-F238E27FC236}">
                <a16:creationId xmlns:a16="http://schemas.microsoft.com/office/drawing/2014/main" id="{214361CA-3B9A-40B7-851D-9476FF433306}"/>
              </a:ext>
            </a:extLst>
          </p:cNvPr>
          <p:cNvSpPr/>
          <p:nvPr userDrawn="1"/>
        </p:nvSpPr>
        <p:spPr>
          <a:xfrm flipH="1">
            <a:off x="3723148" y="1755838"/>
            <a:ext cx="2243934" cy="4830144"/>
          </a:xfrm>
          <a:custGeom>
            <a:avLst/>
            <a:gdLst>
              <a:gd name="connsiteX0" fmla="*/ 1628775 w 3257550"/>
              <a:gd name="connsiteY0" fmla="*/ 687734 h 7011988"/>
              <a:gd name="connsiteX1" fmla="*/ 711018 w 3257550"/>
              <a:gd name="connsiteY1" fmla="*/ 1605490 h 7011988"/>
              <a:gd name="connsiteX2" fmla="*/ 1628775 w 3257550"/>
              <a:gd name="connsiteY2" fmla="*/ 2523246 h 7011988"/>
              <a:gd name="connsiteX3" fmla="*/ 2546532 w 3257550"/>
              <a:gd name="connsiteY3" fmla="*/ 1605490 h 7011988"/>
              <a:gd name="connsiteX4" fmla="*/ 1628775 w 3257550"/>
              <a:gd name="connsiteY4" fmla="*/ 687734 h 7011988"/>
              <a:gd name="connsiteX5" fmla="*/ 1628776 w 3257550"/>
              <a:gd name="connsiteY5" fmla="*/ 610480 h 7011988"/>
              <a:gd name="connsiteX6" fmla="*/ 2623788 w 3257550"/>
              <a:gd name="connsiteY6" fmla="*/ 1605491 h 7011988"/>
              <a:gd name="connsiteX7" fmla="*/ 1628776 w 3257550"/>
              <a:gd name="connsiteY7" fmla="*/ 2600503 h 7011988"/>
              <a:gd name="connsiteX8" fmla="*/ 633765 w 3257550"/>
              <a:gd name="connsiteY8" fmla="*/ 1605491 h 7011988"/>
              <a:gd name="connsiteX9" fmla="*/ 1628776 w 3257550"/>
              <a:gd name="connsiteY9" fmla="*/ 610480 h 7011988"/>
              <a:gd name="connsiteX10" fmla="*/ 1628775 w 3257550"/>
              <a:gd name="connsiteY10" fmla="*/ 555125 h 7011988"/>
              <a:gd name="connsiteX11" fmla="*/ 578409 w 3257550"/>
              <a:gd name="connsiteY11" fmla="*/ 1605490 h 7011988"/>
              <a:gd name="connsiteX12" fmla="*/ 1628775 w 3257550"/>
              <a:gd name="connsiteY12" fmla="*/ 2655855 h 7011988"/>
              <a:gd name="connsiteX13" fmla="*/ 2679141 w 3257550"/>
              <a:gd name="connsiteY13" fmla="*/ 1605490 h 7011988"/>
              <a:gd name="connsiteX14" fmla="*/ 1628775 w 3257550"/>
              <a:gd name="connsiteY14" fmla="*/ 555125 h 7011988"/>
              <a:gd name="connsiteX15" fmla="*/ 1628774 w 3257550"/>
              <a:gd name="connsiteY15" fmla="*/ 0 h 7011988"/>
              <a:gd name="connsiteX16" fmla="*/ 3257549 w 3257550"/>
              <a:gd name="connsiteY16" fmla="*/ 1628775 h 7011988"/>
              <a:gd name="connsiteX17" fmla="*/ 3257549 w 3257550"/>
              <a:gd name="connsiteY17" fmla="*/ 0 h 7011988"/>
              <a:gd name="connsiteX18" fmla="*/ 3257550 w 3257550"/>
              <a:gd name="connsiteY18" fmla="*/ 0 h 7011988"/>
              <a:gd name="connsiteX19" fmla="*/ 3257550 w 3257550"/>
              <a:gd name="connsiteY19" fmla="*/ 5072297 h 7011988"/>
              <a:gd name="connsiteX20" fmla="*/ 3257550 w 3257550"/>
              <a:gd name="connsiteY20" fmla="*/ 5391150 h 7011988"/>
              <a:gd name="connsiteX21" fmla="*/ 3257550 w 3257550"/>
              <a:gd name="connsiteY21" fmla="*/ 7011988 h 7011988"/>
              <a:gd name="connsiteX22" fmla="*/ 0 w 3257550"/>
              <a:gd name="connsiteY22" fmla="*/ 7011988 h 7011988"/>
              <a:gd name="connsiteX23" fmla="*/ 0 w 3257550"/>
              <a:gd name="connsiteY23" fmla="*/ 5391150 h 7011988"/>
              <a:gd name="connsiteX24" fmla="*/ 0 w 3257550"/>
              <a:gd name="connsiteY24" fmla="*/ 5072297 h 7011988"/>
              <a:gd name="connsiteX25" fmla="*/ 0 w 3257550"/>
              <a:gd name="connsiteY25" fmla="*/ 1628756 h 7011988"/>
              <a:gd name="connsiteX26" fmla="*/ 8409 w 3257550"/>
              <a:gd name="connsiteY26" fmla="*/ 1462242 h 7011988"/>
              <a:gd name="connsiteX27" fmla="*/ 1628774 w 3257550"/>
              <a:gd name="connsiteY27" fmla="*/ 0 h 701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257550" h="7011988">
                <a:moveTo>
                  <a:pt x="1628775" y="687734"/>
                </a:moveTo>
                <a:cubicBezTo>
                  <a:pt x="1121912" y="687734"/>
                  <a:pt x="711018" y="1098627"/>
                  <a:pt x="711018" y="1605490"/>
                </a:cubicBezTo>
                <a:cubicBezTo>
                  <a:pt x="711018" y="2112353"/>
                  <a:pt x="1121912" y="2523246"/>
                  <a:pt x="1628775" y="2523246"/>
                </a:cubicBezTo>
                <a:cubicBezTo>
                  <a:pt x="2135638" y="2523246"/>
                  <a:pt x="2546532" y="2112353"/>
                  <a:pt x="2546532" y="1605490"/>
                </a:cubicBezTo>
                <a:cubicBezTo>
                  <a:pt x="2546532" y="1098627"/>
                  <a:pt x="2135638" y="687734"/>
                  <a:pt x="1628775" y="687734"/>
                </a:cubicBezTo>
                <a:close/>
                <a:moveTo>
                  <a:pt x="1628776" y="610480"/>
                </a:moveTo>
                <a:cubicBezTo>
                  <a:pt x="2178306" y="610480"/>
                  <a:pt x="2623788" y="1055962"/>
                  <a:pt x="2623788" y="1605491"/>
                </a:cubicBezTo>
                <a:cubicBezTo>
                  <a:pt x="2623788" y="2155021"/>
                  <a:pt x="2178306" y="2600503"/>
                  <a:pt x="1628776" y="2600503"/>
                </a:cubicBezTo>
                <a:cubicBezTo>
                  <a:pt x="1079247" y="2600503"/>
                  <a:pt x="633765" y="2155021"/>
                  <a:pt x="633765" y="1605491"/>
                </a:cubicBezTo>
                <a:cubicBezTo>
                  <a:pt x="633765" y="1055962"/>
                  <a:pt x="1079247" y="610480"/>
                  <a:pt x="1628776" y="610480"/>
                </a:cubicBezTo>
                <a:close/>
                <a:moveTo>
                  <a:pt x="1628775" y="555125"/>
                </a:moveTo>
                <a:cubicBezTo>
                  <a:pt x="1048674" y="555125"/>
                  <a:pt x="578409" y="1025389"/>
                  <a:pt x="578409" y="1605490"/>
                </a:cubicBezTo>
                <a:cubicBezTo>
                  <a:pt x="578409" y="2185591"/>
                  <a:pt x="1048674" y="2655855"/>
                  <a:pt x="1628775" y="2655855"/>
                </a:cubicBezTo>
                <a:cubicBezTo>
                  <a:pt x="2208876" y="2655855"/>
                  <a:pt x="2679141" y="2185591"/>
                  <a:pt x="2679141" y="1605490"/>
                </a:cubicBezTo>
                <a:cubicBezTo>
                  <a:pt x="2679141" y="1025389"/>
                  <a:pt x="2208876" y="555125"/>
                  <a:pt x="1628775" y="555125"/>
                </a:cubicBezTo>
                <a:close/>
                <a:moveTo>
                  <a:pt x="1628774" y="0"/>
                </a:moveTo>
                <a:cubicBezTo>
                  <a:pt x="2528322" y="0"/>
                  <a:pt x="3257549" y="729227"/>
                  <a:pt x="3257549" y="1628775"/>
                </a:cubicBezTo>
                <a:lnTo>
                  <a:pt x="3257549" y="0"/>
                </a:lnTo>
                <a:lnTo>
                  <a:pt x="3257550" y="0"/>
                </a:lnTo>
                <a:lnTo>
                  <a:pt x="3257550" y="5072297"/>
                </a:lnTo>
                <a:lnTo>
                  <a:pt x="3257550" y="5391150"/>
                </a:lnTo>
                <a:lnTo>
                  <a:pt x="3257550" y="7011988"/>
                </a:lnTo>
                <a:lnTo>
                  <a:pt x="0" y="7011988"/>
                </a:lnTo>
                <a:lnTo>
                  <a:pt x="0" y="5391150"/>
                </a:lnTo>
                <a:lnTo>
                  <a:pt x="0" y="5072297"/>
                </a:lnTo>
                <a:lnTo>
                  <a:pt x="0" y="1628756"/>
                </a:lnTo>
                <a:lnTo>
                  <a:pt x="8409" y="1462242"/>
                </a:lnTo>
                <a:cubicBezTo>
                  <a:pt x="91818" y="640922"/>
                  <a:pt x="785448" y="0"/>
                  <a:pt x="162877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Полилиния 46">
            <a:extLst>
              <a:ext uri="{FF2B5EF4-FFF2-40B4-BE49-F238E27FC236}">
                <a16:creationId xmlns:a16="http://schemas.microsoft.com/office/drawing/2014/main" id="{DB81BA18-EB60-446E-B980-A67DAAA3E7A0}"/>
              </a:ext>
            </a:extLst>
          </p:cNvPr>
          <p:cNvSpPr/>
          <p:nvPr userDrawn="1"/>
        </p:nvSpPr>
        <p:spPr>
          <a:xfrm flipH="1">
            <a:off x="6282610" y="1755838"/>
            <a:ext cx="2243934" cy="4830144"/>
          </a:xfrm>
          <a:custGeom>
            <a:avLst/>
            <a:gdLst>
              <a:gd name="connsiteX0" fmla="*/ 1628776 w 3257551"/>
              <a:gd name="connsiteY0" fmla="*/ 687734 h 7011988"/>
              <a:gd name="connsiteX1" fmla="*/ 711019 w 3257551"/>
              <a:gd name="connsiteY1" fmla="*/ 1605490 h 7011988"/>
              <a:gd name="connsiteX2" fmla="*/ 1628776 w 3257551"/>
              <a:gd name="connsiteY2" fmla="*/ 2523246 h 7011988"/>
              <a:gd name="connsiteX3" fmla="*/ 2546533 w 3257551"/>
              <a:gd name="connsiteY3" fmla="*/ 1605490 h 7011988"/>
              <a:gd name="connsiteX4" fmla="*/ 1628776 w 3257551"/>
              <a:gd name="connsiteY4" fmla="*/ 687734 h 7011988"/>
              <a:gd name="connsiteX5" fmla="*/ 1628777 w 3257551"/>
              <a:gd name="connsiteY5" fmla="*/ 610480 h 7011988"/>
              <a:gd name="connsiteX6" fmla="*/ 2623789 w 3257551"/>
              <a:gd name="connsiteY6" fmla="*/ 1605491 h 7011988"/>
              <a:gd name="connsiteX7" fmla="*/ 1628777 w 3257551"/>
              <a:gd name="connsiteY7" fmla="*/ 2600503 h 7011988"/>
              <a:gd name="connsiteX8" fmla="*/ 633766 w 3257551"/>
              <a:gd name="connsiteY8" fmla="*/ 1605491 h 7011988"/>
              <a:gd name="connsiteX9" fmla="*/ 1628777 w 3257551"/>
              <a:gd name="connsiteY9" fmla="*/ 610480 h 7011988"/>
              <a:gd name="connsiteX10" fmla="*/ 1628776 w 3257551"/>
              <a:gd name="connsiteY10" fmla="*/ 555125 h 7011988"/>
              <a:gd name="connsiteX11" fmla="*/ 578410 w 3257551"/>
              <a:gd name="connsiteY11" fmla="*/ 1605490 h 7011988"/>
              <a:gd name="connsiteX12" fmla="*/ 1628776 w 3257551"/>
              <a:gd name="connsiteY12" fmla="*/ 2655855 h 7011988"/>
              <a:gd name="connsiteX13" fmla="*/ 2679142 w 3257551"/>
              <a:gd name="connsiteY13" fmla="*/ 1605490 h 7011988"/>
              <a:gd name="connsiteX14" fmla="*/ 1628776 w 3257551"/>
              <a:gd name="connsiteY14" fmla="*/ 555125 h 7011988"/>
              <a:gd name="connsiteX15" fmla="*/ 1628775 w 3257551"/>
              <a:gd name="connsiteY15" fmla="*/ 0 h 7011988"/>
              <a:gd name="connsiteX16" fmla="*/ 3257550 w 3257551"/>
              <a:gd name="connsiteY16" fmla="*/ 1628775 h 7011988"/>
              <a:gd name="connsiteX17" fmla="*/ 3257550 w 3257551"/>
              <a:gd name="connsiteY17" fmla="*/ 0 h 7011988"/>
              <a:gd name="connsiteX18" fmla="*/ 3257551 w 3257551"/>
              <a:gd name="connsiteY18" fmla="*/ 0 h 7011988"/>
              <a:gd name="connsiteX19" fmla="*/ 3257551 w 3257551"/>
              <a:gd name="connsiteY19" fmla="*/ 5391150 h 7011988"/>
              <a:gd name="connsiteX20" fmla="*/ 3257550 w 3257551"/>
              <a:gd name="connsiteY20" fmla="*/ 5391150 h 7011988"/>
              <a:gd name="connsiteX21" fmla="*/ 3257550 w 3257551"/>
              <a:gd name="connsiteY21" fmla="*/ 7011988 h 7011988"/>
              <a:gd name="connsiteX22" fmla="*/ 0 w 3257551"/>
              <a:gd name="connsiteY22" fmla="*/ 7011988 h 7011988"/>
              <a:gd name="connsiteX23" fmla="*/ 0 w 3257551"/>
              <a:gd name="connsiteY23" fmla="*/ 5072297 h 7011988"/>
              <a:gd name="connsiteX24" fmla="*/ 1 w 3257551"/>
              <a:gd name="connsiteY24" fmla="*/ 5072297 h 7011988"/>
              <a:gd name="connsiteX25" fmla="*/ 1 w 3257551"/>
              <a:gd name="connsiteY25" fmla="*/ 1628756 h 7011988"/>
              <a:gd name="connsiteX26" fmla="*/ 8410 w 3257551"/>
              <a:gd name="connsiteY26" fmla="*/ 1462242 h 7011988"/>
              <a:gd name="connsiteX27" fmla="*/ 1628775 w 3257551"/>
              <a:gd name="connsiteY27" fmla="*/ 0 h 701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257551" h="7011988">
                <a:moveTo>
                  <a:pt x="1628776" y="687734"/>
                </a:moveTo>
                <a:cubicBezTo>
                  <a:pt x="1121913" y="687734"/>
                  <a:pt x="711019" y="1098627"/>
                  <a:pt x="711019" y="1605490"/>
                </a:cubicBezTo>
                <a:cubicBezTo>
                  <a:pt x="711019" y="2112353"/>
                  <a:pt x="1121913" y="2523246"/>
                  <a:pt x="1628776" y="2523246"/>
                </a:cubicBezTo>
                <a:cubicBezTo>
                  <a:pt x="2135639" y="2523246"/>
                  <a:pt x="2546533" y="2112353"/>
                  <a:pt x="2546533" y="1605490"/>
                </a:cubicBezTo>
                <a:cubicBezTo>
                  <a:pt x="2546533" y="1098627"/>
                  <a:pt x="2135639" y="687734"/>
                  <a:pt x="1628776" y="687734"/>
                </a:cubicBezTo>
                <a:close/>
                <a:moveTo>
                  <a:pt x="1628777" y="610480"/>
                </a:moveTo>
                <a:cubicBezTo>
                  <a:pt x="2178307" y="610480"/>
                  <a:pt x="2623789" y="1055962"/>
                  <a:pt x="2623789" y="1605491"/>
                </a:cubicBezTo>
                <a:cubicBezTo>
                  <a:pt x="2623789" y="2155021"/>
                  <a:pt x="2178307" y="2600503"/>
                  <a:pt x="1628777" y="2600503"/>
                </a:cubicBezTo>
                <a:cubicBezTo>
                  <a:pt x="1079248" y="2600503"/>
                  <a:pt x="633766" y="2155021"/>
                  <a:pt x="633766" y="1605491"/>
                </a:cubicBezTo>
                <a:cubicBezTo>
                  <a:pt x="633766" y="1055962"/>
                  <a:pt x="1079248" y="610480"/>
                  <a:pt x="1628777" y="610480"/>
                </a:cubicBezTo>
                <a:close/>
                <a:moveTo>
                  <a:pt x="1628776" y="555125"/>
                </a:moveTo>
                <a:cubicBezTo>
                  <a:pt x="1048675" y="555125"/>
                  <a:pt x="578410" y="1025389"/>
                  <a:pt x="578410" y="1605490"/>
                </a:cubicBezTo>
                <a:cubicBezTo>
                  <a:pt x="578410" y="2185591"/>
                  <a:pt x="1048675" y="2655855"/>
                  <a:pt x="1628776" y="2655855"/>
                </a:cubicBezTo>
                <a:cubicBezTo>
                  <a:pt x="2208877" y="2655855"/>
                  <a:pt x="2679142" y="2185591"/>
                  <a:pt x="2679142" y="1605490"/>
                </a:cubicBezTo>
                <a:cubicBezTo>
                  <a:pt x="2679142" y="1025389"/>
                  <a:pt x="2208877" y="555125"/>
                  <a:pt x="1628776" y="555125"/>
                </a:cubicBezTo>
                <a:close/>
                <a:moveTo>
                  <a:pt x="1628775" y="0"/>
                </a:moveTo>
                <a:cubicBezTo>
                  <a:pt x="2528323" y="0"/>
                  <a:pt x="3257550" y="729227"/>
                  <a:pt x="3257550" y="1628775"/>
                </a:cubicBezTo>
                <a:lnTo>
                  <a:pt x="3257550" y="0"/>
                </a:lnTo>
                <a:lnTo>
                  <a:pt x="3257551" y="0"/>
                </a:lnTo>
                <a:lnTo>
                  <a:pt x="3257551" y="5391150"/>
                </a:lnTo>
                <a:lnTo>
                  <a:pt x="3257550" y="5391150"/>
                </a:lnTo>
                <a:lnTo>
                  <a:pt x="3257550" y="7011988"/>
                </a:lnTo>
                <a:lnTo>
                  <a:pt x="0" y="7011988"/>
                </a:lnTo>
                <a:lnTo>
                  <a:pt x="0" y="5072297"/>
                </a:lnTo>
                <a:lnTo>
                  <a:pt x="1" y="5072297"/>
                </a:lnTo>
                <a:lnTo>
                  <a:pt x="1" y="1628756"/>
                </a:lnTo>
                <a:lnTo>
                  <a:pt x="8410" y="1462242"/>
                </a:lnTo>
                <a:cubicBezTo>
                  <a:pt x="91819" y="640922"/>
                  <a:pt x="785449" y="0"/>
                  <a:pt x="162877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Полилиния 47">
            <a:extLst>
              <a:ext uri="{FF2B5EF4-FFF2-40B4-BE49-F238E27FC236}">
                <a16:creationId xmlns:a16="http://schemas.microsoft.com/office/drawing/2014/main" id="{65BCDE35-2C32-4BC1-A002-8FCAC5D1A940}"/>
              </a:ext>
            </a:extLst>
          </p:cNvPr>
          <p:cNvSpPr/>
          <p:nvPr userDrawn="1"/>
        </p:nvSpPr>
        <p:spPr>
          <a:xfrm flipH="1">
            <a:off x="8842072" y="1755838"/>
            <a:ext cx="2243934" cy="4830144"/>
          </a:xfrm>
          <a:custGeom>
            <a:avLst/>
            <a:gdLst>
              <a:gd name="connsiteX0" fmla="*/ 1628776 w 3257550"/>
              <a:gd name="connsiteY0" fmla="*/ 687734 h 7011988"/>
              <a:gd name="connsiteX1" fmla="*/ 711019 w 3257550"/>
              <a:gd name="connsiteY1" fmla="*/ 1605490 h 7011988"/>
              <a:gd name="connsiteX2" fmla="*/ 1628776 w 3257550"/>
              <a:gd name="connsiteY2" fmla="*/ 2523246 h 7011988"/>
              <a:gd name="connsiteX3" fmla="*/ 2546533 w 3257550"/>
              <a:gd name="connsiteY3" fmla="*/ 1605490 h 7011988"/>
              <a:gd name="connsiteX4" fmla="*/ 1628776 w 3257550"/>
              <a:gd name="connsiteY4" fmla="*/ 687734 h 7011988"/>
              <a:gd name="connsiteX5" fmla="*/ 1628777 w 3257550"/>
              <a:gd name="connsiteY5" fmla="*/ 610480 h 7011988"/>
              <a:gd name="connsiteX6" fmla="*/ 2623789 w 3257550"/>
              <a:gd name="connsiteY6" fmla="*/ 1605491 h 7011988"/>
              <a:gd name="connsiteX7" fmla="*/ 1628777 w 3257550"/>
              <a:gd name="connsiteY7" fmla="*/ 2600503 h 7011988"/>
              <a:gd name="connsiteX8" fmla="*/ 633766 w 3257550"/>
              <a:gd name="connsiteY8" fmla="*/ 1605491 h 7011988"/>
              <a:gd name="connsiteX9" fmla="*/ 1628777 w 3257550"/>
              <a:gd name="connsiteY9" fmla="*/ 610480 h 7011988"/>
              <a:gd name="connsiteX10" fmla="*/ 1628776 w 3257550"/>
              <a:gd name="connsiteY10" fmla="*/ 555125 h 7011988"/>
              <a:gd name="connsiteX11" fmla="*/ 578410 w 3257550"/>
              <a:gd name="connsiteY11" fmla="*/ 1605490 h 7011988"/>
              <a:gd name="connsiteX12" fmla="*/ 1628776 w 3257550"/>
              <a:gd name="connsiteY12" fmla="*/ 2655855 h 7011988"/>
              <a:gd name="connsiteX13" fmla="*/ 2679142 w 3257550"/>
              <a:gd name="connsiteY13" fmla="*/ 1605490 h 7011988"/>
              <a:gd name="connsiteX14" fmla="*/ 1628776 w 3257550"/>
              <a:gd name="connsiteY14" fmla="*/ 555125 h 7011988"/>
              <a:gd name="connsiteX15" fmla="*/ 1628775 w 3257550"/>
              <a:gd name="connsiteY15" fmla="*/ 0 h 7011988"/>
              <a:gd name="connsiteX16" fmla="*/ 3257550 w 3257550"/>
              <a:gd name="connsiteY16" fmla="*/ 1628775 h 7011988"/>
              <a:gd name="connsiteX17" fmla="*/ 3257550 w 3257550"/>
              <a:gd name="connsiteY17" fmla="*/ 5072297 h 7011988"/>
              <a:gd name="connsiteX18" fmla="*/ 3257550 w 3257550"/>
              <a:gd name="connsiteY18" fmla="*/ 5391150 h 7011988"/>
              <a:gd name="connsiteX19" fmla="*/ 3257550 w 3257550"/>
              <a:gd name="connsiteY19" fmla="*/ 7011988 h 7011988"/>
              <a:gd name="connsiteX20" fmla="*/ 0 w 3257550"/>
              <a:gd name="connsiteY20" fmla="*/ 7011988 h 7011988"/>
              <a:gd name="connsiteX21" fmla="*/ 0 w 3257550"/>
              <a:gd name="connsiteY21" fmla="*/ 5072297 h 7011988"/>
              <a:gd name="connsiteX22" fmla="*/ 1 w 3257550"/>
              <a:gd name="connsiteY22" fmla="*/ 5072297 h 7011988"/>
              <a:gd name="connsiteX23" fmla="*/ 1 w 3257550"/>
              <a:gd name="connsiteY23" fmla="*/ 1628756 h 7011988"/>
              <a:gd name="connsiteX24" fmla="*/ 8410 w 3257550"/>
              <a:gd name="connsiteY24" fmla="*/ 1462242 h 7011988"/>
              <a:gd name="connsiteX25" fmla="*/ 1628775 w 3257550"/>
              <a:gd name="connsiteY25" fmla="*/ 0 h 701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257550" h="7011988">
                <a:moveTo>
                  <a:pt x="1628776" y="687734"/>
                </a:moveTo>
                <a:cubicBezTo>
                  <a:pt x="1121913" y="687734"/>
                  <a:pt x="711019" y="1098627"/>
                  <a:pt x="711019" y="1605490"/>
                </a:cubicBezTo>
                <a:cubicBezTo>
                  <a:pt x="711019" y="2112353"/>
                  <a:pt x="1121913" y="2523246"/>
                  <a:pt x="1628776" y="2523246"/>
                </a:cubicBezTo>
                <a:cubicBezTo>
                  <a:pt x="2135639" y="2523246"/>
                  <a:pt x="2546533" y="2112353"/>
                  <a:pt x="2546533" y="1605490"/>
                </a:cubicBezTo>
                <a:cubicBezTo>
                  <a:pt x="2546533" y="1098627"/>
                  <a:pt x="2135639" y="687734"/>
                  <a:pt x="1628776" y="687734"/>
                </a:cubicBezTo>
                <a:close/>
                <a:moveTo>
                  <a:pt x="1628777" y="610480"/>
                </a:moveTo>
                <a:cubicBezTo>
                  <a:pt x="2178307" y="610480"/>
                  <a:pt x="2623789" y="1055962"/>
                  <a:pt x="2623789" y="1605491"/>
                </a:cubicBezTo>
                <a:cubicBezTo>
                  <a:pt x="2623789" y="2155021"/>
                  <a:pt x="2178307" y="2600503"/>
                  <a:pt x="1628777" y="2600503"/>
                </a:cubicBezTo>
                <a:cubicBezTo>
                  <a:pt x="1079248" y="2600503"/>
                  <a:pt x="633766" y="2155021"/>
                  <a:pt x="633766" y="1605491"/>
                </a:cubicBezTo>
                <a:cubicBezTo>
                  <a:pt x="633766" y="1055962"/>
                  <a:pt x="1079248" y="610480"/>
                  <a:pt x="1628777" y="610480"/>
                </a:cubicBezTo>
                <a:close/>
                <a:moveTo>
                  <a:pt x="1628776" y="555125"/>
                </a:moveTo>
                <a:cubicBezTo>
                  <a:pt x="1048675" y="555125"/>
                  <a:pt x="578410" y="1025389"/>
                  <a:pt x="578410" y="1605490"/>
                </a:cubicBezTo>
                <a:cubicBezTo>
                  <a:pt x="578410" y="2185591"/>
                  <a:pt x="1048675" y="2655855"/>
                  <a:pt x="1628776" y="2655855"/>
                </a:cubicBezTo>
                <a:cubicBezTo>
                  <a:pt x="2208877" y="2655855"/>
                  <a:pt x="2679142" y="2185591"/>
                  <a:pt x="2679142" y="1605490"/>
                </a:cubicBezTo>
                <a:cubicBezTo>
                  <a:pt x="2679142" y="1025389"/>
                  <a:pt x="2208877" y="555125"/>
                  <a:pt x="1628776" y="555125"/>
                </a:cubicBezTo>
                <a:close/>
                <a:moveTo>
                  <a:pt x="1628775" y="0"/>
                </a:moveTo>
                <a:cubicBezTo>
                  <a:pt x="2528323" y="0"/>
                  <a:pt x="3257550" y="729227"/>
                  <a:pt x="3257550" y="1628775"/>
                </a:cubicBezTo>
                <a:lnTo>
                  <a:pt x="3257550" y="5072297"/>
                </a:lnTo>
                <a:lnTo>
                  <a:pt x="3257550" y="5391150"/>
                </a:lnTo>
                <a:lnTo>
                  <a:pt x="3257550" y="7011988"/>
                </a:lnTo>
                <a:lnTo>
                  <a:pt x="0" y="7011988"/>
                </a:lnTo>
                <a:lnTo>
                  <a:pt x="0" y="5072297"/>
                </a:lnTo>
                <a:lnTo>
                  <a:pt x="1" y="5072297"/>
                </a:lnTo>
                <a:lnTo>
                  <a:pt x="1" y="1628756"/>
                </a:lnTo>
                <a:lnTo>
                  <a:pt x="8410" y="1462242"/>
                </a:lnTo>
                <a:cubicBezTo>
                  <a:pt x="91819" y="640922"/>
                  <a:pt x="785449" y="0"/>
                  <a:pt x="1628775" y="0"/>
                </a:cubicBezTo>
                <a:close/>
              </a:path>
            </a:pathLst>
          </a:custGeom>
          <a:solidFill>
            <a:srgbClr val="04387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11974146-21C2-437E-9402-D38228054A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53118" y="4458292"/>
            <a:ext cx="1671587" cy="1749985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 ante.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ECD4A118-199D-44DD-AF94-CDC7651FC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53118" y="3604614"/>
            <a:ext cx="1671587" cy="829375"/>
          </a:xfrm>
        </p:spPr>
        <p:txBody>
          <a:bodyPr lIns="0" tIns="182880" rIns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3BAECAD-BC59-4520-88EC-C6623002F8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9602" y="4458292"/>
            <a:ext cx="1671587" cy="1749985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 ante.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2DCC4A52-A5A9-4C85-95BC-DCE41E9BC7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09602" y="3604614"/>
            <a:ext cx="1671587" cy="829375"/>
          </a:xfrm>
        </p:spPr>
        <p:txBody>
          <a:bodyPr lIns="0" tIns="182880" rIns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9DE610B7-2755-4D6A-A708-97EBC5B4F2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2142" y="4458292"/>
            <a:ext cx="1671587" cy="1749985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 ante.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6E38A554-C2C1-42DC-93BC-07AF0B69A0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72142" y="3604614"/>
            <a:ext cx="1671587" cy="829375"/>
          </a:xfrm>
        </p:spPr>
        <p:txBody>
          <a:bodyPr lIns="0" tIns="182880" rIns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49251B14-49D3-4664-8884-521B0685F2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8627" y="4458292"/>
            <a:ext cx="1671587" cy="1749985"/>
          </a:xfrm>
        </p:spPr>
        <p:txBody>
          <a:bodyPr lIns="0" rIns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 ante.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26B1708E-A4FB-4414-BAE7-3D1256BFA3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28627" y="3604614"/>
            <a:ext cx="1671587" cy="829375"/>
          </a:xfrm>
        </p:spPr>
        <p:txBody>
          <a:bodyPr lIns="0" tIns="182880" rIns="0"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2E734A-CD1C-4BC0-8A2B-A64586754A90}"/>
              </a:ext>
            </a:extLst>
          </p:cNvPr>
          <p:cNvSpPr/>
          <p:nvPr userDrawn="1"/>
        </p:nvSpPr>
        <p:spPr>
          <a:xfrm>
            <a:off x="0" y="6312879"/>
            <a:ext cx="1219200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FBF48B06-3188-4C53-93C4-ACCB77EA9B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2408" y="6400799"/>
            <a:ext cx="379984" cy="365760"/>
          </a:xfrm>
          <a:prstGeom prst="rect">
            <a:avLst/>
          </a:prstGeo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C7CE4AAD-4AC3-4E4E-883A-9A18F9585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09359"/>
            <a:ext cx="4343399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78157CB-0ED8-40F3-879B-29E99A308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80742" y="6309356"/>
            <a:ext cx="2743200" cy="5486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58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es -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7A4ACB9-63D7-4BDF-8730-52B22182EB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9771" y="0"/>
            <a:ext cx="4042229" cy="3429000"/>
          </a:xfrm>
          <a:solidFill>
            <a:schemeClr val="tx1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96B0BEDE-0FDC-410B-9AF7-2FC75F84DB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37901" y="864330"/>
            <a:ext cx="3270835" cy="2341874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F9AB5B07-50A0-4ED0-8897-22ED66772AB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" y="3429000"/>
            <a:ext cx="4122201" cy="3443601"/>
          </a:xfrm>
          <a:solidFill>
            <a:schemeClr val="accent1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2CADC830-37C8-4B6C-8D24-3DC13A68B2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8131" y="4293330"/>
            <a:ext cx="3335546" cy="2341874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CF621F14-222E-42EF-BFFE-AA330001BB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22202" y="3429000"/>
            <a:ext cx="4027569" cy="3429000"/>
          </a:xfrm>
          <a:solidFill>
            <a:schemeClr val="bg2"/>
          </a:solidFill>
        </p:spPr>
        <p:txBody>
          <a:bodyPr lIns="274320" tIns="365760" rIns="274320" bIns="274320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A008BE5-9DC3-4F13-94F7-CFDE82E0C7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10332" y="4293330"/>
            <a:ext cx="3258972" cy="2341874"/>
          </a:xfrm>
        </p:spPr>
        <p:txBody>
          <a:bodyPr lIns="0" r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Proin vel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ante convallis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5C98E2F0-0B22-49E2-8567-10E7D2BB8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920" y="651831"/>
            <a:ext cx="3605141" cy="2316340"/>
          </a:xfrm>
        </p:spPr>
        <p:txBody>
          <a:bodyPr anchor="t">
            <a:normAutofit/>
          </a:bodyPr>
          <a:lstStyle>
            <a:lvl1pPr algn="l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AE41D0-E507-487D-AB58-C1F25FF690E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22738" y="0"/>
            <a:ext cx="4027487" cy="3429000"/>
          </a:xfrm>
          <a:pattFill prst="pct3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en-US" dirty="0"/>
              <a:t>Click to add photo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D0B90F0-682B-444B-9203-F3B7E03D0D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62376" y="6352274"/>
            <a:ext cx="467214" cy="449725"/>
          </a:xfrm>
          <a:prstGeom prst="rect">
            <a:avLst/>
          </a:prstGeom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5B2A13E-2280-4C93-87D6-173CD5399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0" y="5680623"/>
            <a:ext cx="3318990" cy="5845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2D3276B-23F7-4AB9-A2BE-687B7CDCF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285539"/>
            <a:ext cx="2743200" cy="572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1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©2018 Allotrope Foundation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Page | </a:t>
            </a:r>
            <a:fld id="{95943BB4-EBD8-4800-8747-241FB58C5791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" y="1905000"/>
            <a:ext cx="6908799" cy="838200"/>
            <a:chOff x="0" y="1905000"/>
            <a:chExt cx="4572000" cy="838200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0" y="2590800"/>
              <a:ext cx="4419600" cy="0"/>
            </a:xfrm>
            <a:prstGeom prst="line">
              <a:avLst/>
            </a:prstGeom>
            <a:ln w="9525">
              <a:solidFill>
                <a:srgbClr val="6888AD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0" y="2362200"/>
              <a:ext cx="4572000" cy="0"/>
            </a:xfrm>
            <a:prstGeom prst="line">
              <a:avLst/>
            </a:prstGeom>
            <a:ln w="38100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0" y="1905000"/>
              <a:ext cx="4495800" cy="0"/>
            </a:xfrm>
            <a:prstGeom prst="line">
              <a:avLst/>
            </a:prstGeom>
            <a:ln w="6350">
              <a:solidFill>
                <a:srgbClr val="6888A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 userDrawn="1"/>
          </p:nvCxnSpPr>
          <p:spPr>
            <a:xfrm>
              <a:off x="0" y="2743200"/>
              <a:ext cx="4572000" cy="0"/>
            </a:xfrm>
            <a:prstGeom prst="line">
              <a:avLst/>
            </a:prstGeom>
            <a:ln w="57150">
              <a:solidFill>
                <a:srgbClr val="DD6C07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0" y="2133600"/>
              <a:ext cx="4419600" cy="0"/>
            </a:xfrm>
            <a:prstGeom prst="line">
              <a:avLst/>
            </a:prstGeom>
            <a:ln w="19050">
              <a:solidFill>
                <a:srgbClr val="DD6C07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203200" y="4191003"/>
            <a:ext cx="7010400" cy="1298575"/>
          </a:xfrm>
        </p:spPr>
        <p:txBody>
          <a:bodyPr>
            <a:noAutofit/>
          </a:bodyPr>
          <a:lstStyle>
            <a:lvl1pPr algn="l">
              <a:defRPr sz="5333">
                <a:solidFill>
                  <a:srgbClr val="043877"/>
                </a:solidFill>
                <a:latin typeface="Harabara Mais Bold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203200" y="5565773"/>
            <a:ext cx="7010400" cy="685800"/>
          </a:xfrm>
        </p:spPr>
        <p:txBody>
          <a:bodyPr>
            <a:normAutofit/>
          </a:bodyPr>
          <a:lstStyle>
            <a:lvl1pPr marL="0" indent="0" algn="l">
              <a:buNone/>
              <a:defRPr lang="en-US" sz="3200" smtClean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25" r="74394"/>
          <a:stretch/>
        </p:blipFill>
        <p:spPr>
          <a:xfrm>
            <a:off x="6226854" y="0"/>
            <a:ext cx="5965149" cy="546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22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00200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©2022 Allotrope Foundation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| </a:t>
            </a:r>
            <a:fld id="{95943BB4-EBD8-4800-8747-241FB58C5791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10" name="Straight Connector 9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7" name="Picture 16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855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©2018 Allotrope Foundation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43BB4-EBD8-4800-8747-241FB58C5791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10" name="Straight Connector 9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2" name="Picture 11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99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©2018 Allotrope Foundation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| </a:t>
            </a:r>
            <a:fld id="{95943BB4-EBD8-4800-8747-241FB58C5791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9" name="Straight Connector 8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11" name="Straight Connector 10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4" name="Picture 13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909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©2018 Allotrope Foundation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| </a:t>
            </a:r>
            <a:fld id="{95943BB4-EBD8-4800-8747-241FB58C5791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13" name="Straight Connector 12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6" name="Picture 15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5458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©2022 Allotrope Foundation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| </a:t>
            </a:r>
            <a:fld id="{95943BB4-EBD8-4800-8747-241FB58C5791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7" name="Straight Connector 6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9" name="Straight Connector 8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2" name="Picture 11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42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©2018 Allotrope Foundation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Page | </a:t>
            </a:r>
            <a:fld id="{95943BB4-EBD8-4800-8747-241FB58C5791}" type="slidenum">
              <a:rPr lang="en-US" smtClean="0"/>
              <a:pPr algn="ctr"/>
              <a:t>‹#›</a:t>
            </a:fld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6" name="Straight Connector 5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8" name="Straight Connector 7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1" name="Picture 10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6543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©2018 Allotrope Foundation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Page | </a:t>
            </a:r>
            <a:fld id="{95943BB4-EBD8-4800-8747-241FB58C5791}" type="slidenum">
              <a:rPr lang="en-US" smtClean="0"/>
              <a:pPr algn="ctr"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9" name="Straight Connector 8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11" name="Straight Connector 10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4" name="Picture 13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61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©2018 Allotrope Foundation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Page | </a:t>
            </a:r>
            <a:fld id="{95943BB4-EBD8-4800-8747-241FB58C5791}" type="slidenum">
              <a:rPr lang="en-US" smtClean="0"/>
              <a:pPr algn="ctr"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9" name="Straight Connector 8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11" name="Straight Connector 10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4" name="Picture 13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763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©2018 Allotrope Foundation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Page | </a:t>
            </a:r>
            <a:fld id="{95943BB4-EBD8-4800-8747-241FB58C5791}" type="slidenum">
              <a:rPr lang="en-US" smtClean="0"/>
              <a:pPr algn="ctr"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10" name="Straight Connector 9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" name="Picture 12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376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©2018 Allotrope Foundation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dirty="0"/>
              <a:t>Page | </a:t>
            </a:r>
            <a:fld id="{95943BB4-EBD8-4800-8747-241FB58C5791}" type="slidenum">
              <a:rPr lang="en-US" smtClean="0"/>
              <a:pPr algn="ctr"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609599" y="6648509"/>
            <a:ext cx="10558031" cy="57095"/>
            <a:chOff x="457199" y="6648505"/>
            <a:chExt cx="7690104" cy="57095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457199" y="6673405"/>
              <a:ext cx="7503795" cy="0"/>
            </a:xfrm>
            <a:prstGeom prst="line">
              <a:avLst/>
            </a:prstGeom>
            <a:ln w="3175">
              <a:solidFill>
                <a:srgbClr val="04387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 userDrawn="1"/>
          </p:nvGrpSpPr>
          <p:grpSpPr>
            <a:xfrm>
              <a:off x="457199" y="6648505"/>
              <a:ext cx="7690104" cy="57095"/>
              <a:chOff x="457199" y="6648505"/>
              <a:chExt cx="7690104" cy="57095"/>
            </a:xfrm>
          </p:grpSpPr>
          <p:cxnSp>
            <p:nvCxnSpPr>
              <p:cNvPr id="10" name="Straight Connector 9"/>
              <p:cNvCxnSpPr/>
              <p:nvPr userDrawn="1"/>
            </p:nvCxnSpPr>
            <p:spPr>
              <a:xfrm>
                <a:off x="457199" y="6648505"/>
                <a:ext cx="7503795" cy="0"/>
              </a:xfrm>
              <a:prstGeom prst="line">
                <a:avLst/>
              </a:prstGeom>
              <a:ln w="63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 userDrawn="1"/>
            </p:nvCxnSpPr>
            <p:spPr>
              <a:xfrm>
                <a:off x="457199" y="6705600"/>
                <a:ext cx="7690104" cy="0"/>
              </a:xfrm>
              <a:prstGeom prst="line">
                <a:avLst/>
              </a:prstGeom>
              <a:ln w="28575">
                <a:solidFill>
                  <a:srgbClr val="04387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" name="Picture 12"/>
          <p:cNvPicPr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10871201" y="6164925"/>
            <a:ext cx="685919" cy="61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835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CF2288-C0C1-49FF-822F-87EF1BC34266}"/>
              </a:ext>
            </a:extLst>
          </p:cNvPr>
          <p:cNvSpPr/>
          <p:nvPr userDrawn="1"/>
        </p:nvSpPr>
        <p:spPr>
          <a:xfrm>
            <a:off x="0" y="6217921"/>
            <a:ext cx="1219200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07994801-323B-476F-B45B-F12EB6B82D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052" y="6217921"/>
            <a:ext cx="5735637" cy="64008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076DD26-4A3B-4D89-8EF2-B2A99142F06A}"/>
              </a:ext>
            </a:extLst>
          </p:cNvPr>
          <p:cNvSpPr/>
          <p:nvPr userDrawn="1"/>
        </p:nvSpPr>
        <p:spPr>
          <a:xfrm>
            <a:off x="0" y="0"/>
            <a:ext cx="8366760" cy="6217921"/>
          </a:xfrm>
          <a:custGeom>
            <a:avLst/>
            <a:gdLst>
              <a:gd name="connsiteX0" fmla="*/ 0 w 8366760"/>
              <a:gd name="connsiteY0" fmla="*/ 0 h 6217921"/>
              <a:gd name="connsiteX1" fmla="*/ 5257800 w 8366760"/>
              <a:gd name="connsiteY1" fmla="*/ 0 h 6217921"/>
              <a:gd name="connsiteX2" fmla="*/ 5257800 w 8366760"/>
              <a:gd name="connsiteY2" fmla="*/ 1 h 6217921"/>
              <a:gd name="connsiteX3" fmla="*/ 8366760 w 8366760"/>
              <a:gd name="connsiteY3" fmla="*/ 3108961 h 6217921"/>
              <a:gd name="connsiteX4" fmla="*/ 5257800 w 8366760"/>
              <a:gd name="connsiteY4" fmla="*/ 6217921 h 6217921"/>
              <a:gd name="connsiteX5" fmla="*/ 5257760 w 8366760"/>
              <a:gd name="connsiteY5" fmla="*/ 6217920 h 6217921"/>
              <a:gd name="connsiteX6" fmla="*/ 0 w 8366760"/>
              <a:gd name="connsiteY6" fmla="*/ 6217920 h 6217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366760" h="6217921">
                <a:moveTo>
                  <a:pt x="0" y="0"/>
                </a:moveTo>
                <a:lnTo>
                  <a:pt x="5257800" y="0"/>
                </a:lnTo>
                <a:lnTo>
                  <a:pt x="5257800" y="1"/>
                </a:lnTo>
                <a:cubicBezTo>
                  <a:pt x="6974831" y="1"/>
                  <a:pt x="8366760" y="1391930"/>
                  <a:pt x="8366760" y="3108961"/>
                </a:cubicBezTo>
                <a:cubicBezTo>
                  <a:pt x="8366760" y="4825992"/>
                  <a:pt x="6974831" y="6217921"/>
                  <a:pt x="5257800" y="6217921"/>
                </a:cubicBezTo>
                <a:lnTo>
                  <a:pt x="5257760" y="6217920"/>
                </a:lnTo>
                <a:lnTo>
                  <a:pt x="0" y="621792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B7D8D-C31F-4430-8533-DC19B8DD2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149795"/>
            <a:ext cx="5779089" cy="1915366"/>
          </a:xfrm>
        </p:spPr>
        <p:txBody>
          <a:bodyPr anchor="t">
            <a:normAutofit/>
          </a:bodyPr>
          <a:lstStyle>
            <a:lvl1pPr algn="l">
              <a:defRPr sz="4400" b="1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B1F5E01-AFC0-456A-900E-36C90BCD36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052" y="1111460"/>
            <a:ext cx="4283528" cy="133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46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1FFB7-D827-4105-9D8D-BD04564DF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71432-1E1F-4C9C-A6B5-93B149832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40673"/>
            <a:ext cx="10972800" cy="4136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B6F64-0D6E-4FF3-9E14-DF170EBCB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C23FD-5956-421F-A189-4A1EE86AF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An Introduction to Allotrope Foundation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A9470-59FE-4F81-88F8-C9E8F45E2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15E37-6A94-4CC9-A0BB-843E3C2A82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41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60" r:id="rId3"/>
    <p:sldLayoutId id="2147483678" r:id="rId4"/>
    <p:sldLayoutId id="2147483662" r:id="rId5"/>
    <p:sldLayoutId id="2147483661" r:id="rId6"/>
    <p:sldLayoutId id="2147483677" r:id="rId7"/>
    <p:sldLayoutId id="2147483667" r:id="rId8"/>
    <p:sldLayoutId id="2147483663" r:id="rId9"/>
    <p:sldLayoutId id="2147483669" r:id="rId10"/>
    <p:sldLayoutId id="2147483668" r:id="rId11"/>
    <p:sldLayoutId id="2147483671" r:id="rId12"/>
    <p:sldLayoutId id="2147483654" r:id="rId13"/>
    <p:sldLayoutId id="214748367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2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7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©2018 Allotrope Foundation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86200" y="6356352"/>
            <a:ext cx="464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7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Confidential: Allotrope Foundation Board of Directors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7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| </a:t>
            </a:r>
            <a:fld id="{95943BB4-EBD8-4800-8747-241FB58C57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08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3" r:id="rId12"/>
  </p:sldLayoutIdLst>
  <p:hf sldNum="0" hdr="0"/>
  <p:txStyles>
    <p:titleStyle>
      <a:lvl1pPr algn="l" defTabSz="1219170" rtl="0" eaLnBrk="1" latinLnBrk="0" hangingPunct="1">
        <a:spcBef>
          <a:spcPct val="0"/>
        </a:spcBef>
        <a:buNone/>
        <a:defRPr sz="5867" b="1" kern="1200">
          <a:solidFill>
            <a:srgbClr val="043877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Clr>
          <a:srgbClr val="DD6C07"/>
        </a:buClr>
        <a:buFont typeface="Arial" panose="020B0604020202020204" pitchFamily="34" charset="0"/>
        <a:buChar char="•"/>
        <a:defRPr sz="4267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Clr>
          <a:srgbClr val="DD6C07"/>
        </a:buClr>
        <a:buFont typeface="Arial" panose="020B0604020202020204" pitchFamily="34" charset="0"/>
        <a:buChar char="–"/>
        <a:defRPr sz="3733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Clr>
          <a:srgbClr val="DD6C07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Clr>
          <a:srgbClr val="DD6C07"/>
        </a:buClr>
        <a:buFont typeface="Arial" panose="020B0604020202020204" pitchFamily="34" charset="0"/>
        <a:buChar char="–"/>
        <a:defRPr sz="2667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jpeg"/><Relationship Id="rId3" Type="http://schemas.openxmlformats.org/officeDocument/2006/relationships/image" Target="../media/image11.JPG"/><Relationship Id="rId7" Type="http://schemas.openxmlformats.org/officeDocument/2006/relationships/image" Target="../media/image15.sv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1.jpe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16.pn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inpresswire.com/article/814343863/breakthrough-in-smarter-labs-spectaris-lads-showcases-integration-of-opc-ua-with-allotrope-standards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D502A-28B0-49C1-8067-2CC228D341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3052" y="6217921"/>
            <a:ext cx="5735637" cy="640080"/>
          </a:xfrm>
        </p:spPr>
        <p:txBody>
          <a:bodyPr/>
          <a:lstStyle/>
          <a:p>
            <a:r>
              <a:rPr lang="en-US" dirty="0"/>
              <a:t>Rethinking Scientific Data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0C799-9525-42DE-8623-6453B2D4A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149795"/>
            <a:ext cx="7818408" cy="1915366"/>
          </a:xfrm>
        </p:spPr>
        <p:txBody>
          <a:bodyPr>
            <a:noAutofit/>
          </a:bodyPr>
          <a:lstStyle/>
          <a:p>
            <a:r>
              <a:rPr lang="en-US" sz="3600" dirty="0"/>
              <a:t>ASM Transformation-as-a-Service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F79154-04C3-E011-2D14-98B4D9897566}"/>
              </a:ext>
            </a:extLst>
          </p:cNvPr>
          <p:cNvSpPr txBox="1"/>
          <p:nvPr/>
        </p:nvSpPr>
        <p:spPr>
          <a:xfrm rot="19415439">
            <a:off x="9014432" y="2957748"/>
            <a:ext cx="20954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49341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50ACAA-3CA8-A568-B866-73218989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ASM Transformation-as-a Service: Motivation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CF1939-CE1E-715A-01F7-E34F8D175D3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Accelerating the adoption and usage of the Allotrope Simple Models (ASMs) </a:t>
            </a:r>
          </a:p>
          <a:p>
            <a:r>
              <a:rPr lang="en-US" sz="2800" dirty="0"/>
              <a:t>Facilitating easy! integration ASMs within </a:t>
            </a:r>
            <a:r>
              <a:rPr lang="en-US" dirty="0"/>
              <a:t>member </a:t>
            </a:r>
            <a:r>
              <a:rPr lang="en-US" sz="2800" dirty="0"/>
              <a:t>organizations</a:t>
            </a:r>
          </a:p>
          <a:p>
            <a:r>
              <a:rPr lang="en-US" dirty="0"/>
              <a:t>Community grown and driven solution</a:t>
            </a:r>
          </a:p>
          <a:p>
            <a:pPr lvl="1"/>
            <a:r>
              <a:rPr lang="en-US" dirty="0"/>
              <a:t>Leveraging collective community effort</a:t>
            </a:r>
          </a:p>
          <a:p>
            <a:r>
              <a:rPr lang="en-US" dirty="0"/>
              <a:t>“Democratizing” the converter functionality</a:t>
            </a:r>
          </a:p>
          <a:p>
            <a:pPr lvl="1"/>
            <a:r>
              <a:rPr lang="en-US" dirty="0"/>
              <a:t>Unlocking the dependency on a 3</a:t>
            </a:r>
            <a:r>
              <a:rPr lang="en-US" baseline="30000" dirty="0"/>
              <a:t>rd</a:t>
            </a:r>
            <a:r>
              <a:rPr lang="en-US" dirty="0"/>
              <a:t> party solution provider</a:t>
            </a:r>
          </a:p>
          <a:p>
            <a:r>
              <a:rPr lang="en-US" dirty="0"/>
              <a:t>Flexible and scalable design</a:t>
            </a:r>
          </a:p>
          <a:p>
            <a:pPr lvl="1"/>
            <a:r>
              <a:rPr lang="en-US" dirty="0"/>
              <a:t>Client/server architecture</a:t>
            </a:r>
          </a:p>
          <a:p>
            <a:pPr lvl="1"/>
            <a:r>
              <a:rPr lang="en-US" dirty="0"/>
              <a:t>Implemented using modern cloud components and infrastructure</a:t>
            </a:r>
          </a:p>
          <a:p>
            <a:pPr lvl="1"/>
            <a:r>
              <a:rPr lang="en-US" dirty="0"/>
              <a:t>Transformation functionality to ASM (libraries) can be developed and produced by any specific instrument vendor, solution providers, users' community etc.</a:t>
            </a:r>
          </a:p>
        </p:txBody>
      </p:sp>
    </p:spTree>
    <p:extLst>
      <p:ext uri="{BB962C8B-B14F-4D97-AF65-F5344CB8AC3E}">
        <p14:creationId xmlns:p14="http://schemas.microsoft.com/office/powerpoint/2010/main" val="40924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B788CC87-5767-0CBD-E250-BAB7B9DC2C8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91477" y="2648742"/>
            <a:ext cx="381269" cy="485664"/>
          </a:xfrm>
          <a:prstGeom prst="rect">
            <a:avLst/>
          </a:prstGeom>
        </p:spPr>
      </p:pic>
      <p:pic>
        <p:nvPicPr>
          <p:cNvPr id="24" name="Picture 23" descr="Logo, company name&#10;&#10;Description automatically generated">
            <a:extLst>
              <a:ext uri="{FF2B5EF4-FFF2-40B4-BE49-F238E27FC236}">
                <a16:creationId xmlns:a16="http://schemas.microsoft.com/office/drawing/2014/main" id="{75C67166-9888-6749-5B68-B60F11C34B6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089" y="5221587"/>
            <a:ext cx="625551" cy="5170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912C24-4083-7750-E0D8-24287A7F2C0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83171" y="5557224"/>
            <a:ext cx="461243" cy="7077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992248-E10D-B076-E632-7E7F58DC11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18087" y="1193880"/>
            <a:ext cx="466510" cy="732567"/>
          </a:xfrm>
          <a:prstGeom prst="rect">
            <a:avLst/>
          </a:prstGeom>
        </p:spPr>
      </p:pic>
      <p:pic>
        <p:nvPicPr>
          <p:cNvPr id="64" name="Graphic 63" descr="Modern architecture outline">
            <a:extLst>
              <a:ext uri="{FF2B5EF4-FFF2-40B4-BE49-F238E27FC236}">
                <a16:creationId xmlns:a16="http://schemas.microsoft.com/office/drawing/2014/main" id="{FE3B6534-28DF-3252-B5B2-2C7424F58D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6342" y="2094014"/>
            <a:ext cx="2648768" cy="2648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C8AB88-3080-E2D4-1B96-422E5C9C5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ASM Transformation-as-a Service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CC4D8-E9E9-F56D-299D-395D065C0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C15E37-6A94-4CC9-A0BB-843E3C2A821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5" name="Cloud 64">
            <a:extLst>
              <a:ext uri="{FF2B5EF4-FFF2-40B4-BE49-F238E27FC236}">
                <a16:creationId xmlns:a16="http://schemas.microsoft.com/office/drawing/2014/main" id="{E9ABCFED-BBB9-C1CE-715C-8DC429535D18}"/>
              </a:ext>
            </a:extLst>
          </p:cNvPr>
          <p:cNvSpPr/>
          <p:nvPr/>
        </p:nvSpPr>
        <p:spPr>
          <a:xfrm>
            <a:off x="6945923" y="2445602"/>
            <a:ext cx="4489709" cy="2408097"/>
          </a:xfrm>
          <a:prstGeom prst="cloud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410F7C2-A040-B6D1-189A-128A373680F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31393" y="2699149"/>
            <a:ext cx="466510" cy="732567"/>
          </a:xfrm>
          <a:prstGeom prst="rect">
            <a:avLst/>
          </a:prstGeom>
        </p:spPr>
      </p:pic>
      <p:sp>
        <p:nvSpPr>
          <p:cNvPr id="68" name="Arrow: Curved Right 67">
            <a:extLst>
              <a:ext uri="{FF2B5EF4-FFF2-40B4-BE49-F238E27FC236}">
                <a16:creationId xmlns:a16="http://schemas.microsoft.com/office/drawing/2014/main" id="{8A5F63DA-8C73-E63D-6DCE-C20B2EA7B248}"/>
              </a:ext>
            </a:extLst>
          </p:cNvPr>
          <p:cNvSpPr/>
          <p:nvPr/>
        </p:nvSpPr>
        <p:spPr>
          <a:xfrm rot="5400000" flipV="1">
            <a:off x="5173625" y="354912"/>
            <a:ext cx="615497" cy="5144761"/>
          </a:xfrm>
          <a:prstGeom prst="curvedRightArrow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51587D-79A9-F282-7BE4-97B9EAA01B51}"/>
              </a:ext>
            </a:extLst>
          </p:cNvPr>
          <p:cNvSpPr txBox="1"/>
          <p:nvPr/>
        </p:nvSpPr>
        <p:spPr>
          <a:xfrm>
            <a:off x="4771287" y="2274488"/>
            <a:ext cx="2421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i="1" dirty="0">
                <a:solidFill>
                  <a:prstClr val="black"/>
                </a:solidFill>
                <a:latin typeface="Calibri"/>
              </a:rPr>
              <a:t>Transformation Request</a:t>
            </a:r>
          </a:p>
        </p:txBody>
      </p:sp>
      <p:sp>
        <p:nvSpPr>
          <p:cNvPr id="70" name="Arrow: Curved Right 69">
            <a:extLst>
              <a:ext uri="{FF2B5EF4-FFF2-40B4-BE49-F238E27FC236}">
                <a16:creationId xmlns:a16="http://schemas.microsoft.com/office/drawing/2014/main" id="{B2A0060F-FF97-CA3B-631D-E2EF4CBC7D0D}"/>
              </a:ext>
            </a:extLst>
          </p:cNvPr>
          <p:cNvSpPr/>
          <p:nvPr/>
        </p:nvSpPr>
        <p:spPr>
          <a:xfrm rot="16200000" flipV="1">
            <a:off x="5205028" y="1802296"/>
            <a:ext cx="615497" cy="5081954"/>
          </a:xfrm>
          <a:prstGeom prst="curvedRightArrow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326A60-E4DF-CB49-0659-EB85DF02BD1B}"/>
              </a:ext>
            </a:extLst>
          </p:cNvPr>
          <p:cNvSpPr txBox="1"/>
          <p:nvPr/>
        </p:nvSpPr>
        <p:spPr>
          <a:xfrm>
            <a:off x="4667897" y="4240406"/>
            <a:ext cx="2555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i="1" dirty="0">
                <a:solidFill>
                  <a:prstClr val="black"/>
                </a:solidFill>
                <a:latin typeface="Calibri"/>
              </a:rPr>
              <a:t>Transformation Response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2FF9DD92-D91B-1E7B-5A66-8144EE0979F5}"/>
              </a:ext>
            </a:extLst>
          </p:cNvPr>
          <p:cNvPicPr>
            <a:picLocks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8138402" y="3136630"/>
            <a:ext cx="677852" cy="540497"/>
          </a:xfrm>
          <a:prstGeom prst="rect">
            <a:avLst/>
          </a:prstGeom>
        </p:spPr>
      </p:pic>
      <p:pic>
        <p:nvPicPr>
          <p:cNvPr id="76" name="Graphic 75" descr="Server with solid fill">
            <a:extLst>
              <a:ext uri="{FF2B5EF4-FFF2-40B4-BE49-F238E27FC236}">
                <a16:creationId xmlns:a16="http://schemas.microsoft.com/office/drawing/2014/main" id="{2A397A1D-C784-5F47-043D-EFFA247C2D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71800" y="3200400"/>
            <a:ext cx="914400" cy="9144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FCF46200-7E19-6A69-6438-F9BAC421B8B9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4">
                <a:lumMod val="60000"/>
                <a:lumOff val="4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77894" y="2094014"/>
            <a:ext cx="433200" cy="4332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C6562F60-3C48-E572-6E6A-C94D99A7C22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68165" y="2894121"/>
            <a:ext cx="461243" cy="707709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651CB2B3-4506-B50D-ADFA-D9534F2BA1C5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3535" y="2213681"/>
            <a:ext cx="707709" cy="707709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4E22E415-F77C-3188-5D28-73D22228E152}"/>
              </a:ext>
            </a:extLst>
          </p:cNvPr>
          <p:cNvSpPr txBox="1"/>
          <p:nvPr/>
        </p:nvSpPr>
        <p:spPr>
          <a:xfrm>
            <a:off x="7308251" y="3606292"/>
            <a:ext cx="2870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1400" dirty="0"/>
              <a:t>ASM Transformation-as-a Service</a:t>
            </a:r>
            <a:endParaRPr lang="en-US" sz="1400" i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4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9159D66C-DD8E-2F4B-CA3D-26520892D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1325" y="2434242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C24526A7-9B20-AFF1-2679-1DEB1B3D44B9}"/>
              </a:ext>
            </a:extLst>
          </p:cNvPr>
          <p:cNvSpPr txBox="1"/>
          <p:nvPr/>
        </p:nvSpPr>
        <p:spPr>
          <a:xfrm>
            <a:off x="10101520" y="2199709"/>
            <a:ext cx="19704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1100" dirty="0"/>
              <a:t>ASMs Transformation library</a:t>
            </a:r>
            <a:endParaRPr lang="en-US" sz="1100" i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6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22E1E36E-29D6-6276-EF0E-FD20517F0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579" y="4237677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8EFCCEA8-578C-4E55-CA49-1E33B014D060}"/>
              </a:ext>
            </a:extLst>
          </p:cNvPr>
          <p:cNvSpPr txBox="1"/>
          <p:nvPr/>
        </p:nvSpPr>
        <p:spPr>
          <a:xfrm>
            <a:off x="8318822" y="5083875"/>
            <a:ext cx="19704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1100" dirty="0"/>
              <a:t>ASMs Transformation library</a:t>
            </a:r>
            <a:endParaRPr lang="en-US" sz="1100" i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4" name="Picture 93" descr="Logo, company name&#10;&#10;Description automatically generated">
            <a:extLst>
              <a:ext uri="{FF2B5EF4-FFF2-40B4-BE49-F238E27FC236}">
                <a16:creationId xmlns:a16="http://schemas.microsoft.com/office/drawing/2014/main" id="{9EF31FF6-7E27-6F06-6A27-E954FA7A4EF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135" y="4530448"/>
            <a:ext cx="625551" cy="517074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7F7F6D98-F3F5-5CC0-781D-081680BA29E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17652" y="4886172"/>
            <a:ext cx="466510" cy="73256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BC03DCD9-38A4-1E69-3A99-7637EF9437F4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4">
                <a:lumMod val="60000"/>
                <a:lumOff val="4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61888" y="1628611"/>
            <a:ext cx="498049" cy="498049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B6DC6D03-D32A-C3C1-863C-0082F84937F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00735" y="2009635"/>
            <a:ext cx="466510" cy="732567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CBE8ECC9-1069-6D7C-F9B9-B58470D4737D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15514" y="2049090"/>
            <a:ext cx="707709" cy="707709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634B217C-B3B2-1842-ADA5-F6677CE5B3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14898" y="2429095"/>
            <a:ext cx="461243" cy="707709"/>
          </a:xfrm>
          <a:prstGeom prst="rect">
            <a:avLst/>
          </a:prstGeom>
        </p:spPr>
      </p:pic>
      <p:pic>
        <p:nvPicPr>
          <p:cNvPr id="102" name="Picture 101" descr="Logo, company name&#10;&#10;Description automatically generated">
            <a:extLst>
              <a:ext uri="{FF2B5EF4-FFF2-40B4-BE49-F238E27FC236}">
                <a16:creationId xmlns:a16="http://schemas.microsoft.com/office/drawing/2014/main" id="{1BCDA88D-C0F5-F921-D9BF-6F9A96841F1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753" y="4805352"/>
            <a:ext cx="625551" cy="517074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35950BB-D2B4-BBB9-1531-A090E707C66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84169" y="5179448"/>
            <a:ext cx="461243" cy="7077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2A61C9-F182-3994-E486-87CF4A05D129}"/>
              </a:ext>
            </a:extLst>
          </p:cNvPr>
          <p:cNvSpPr txBox="1"/>
          <p:nvPr/>
        </p:nvSpPr>
        <p:spPr>
          <a:xfrm>
            <a:off x="991299" y="4294701"/>
            <a:ext cx="2018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Pharma/Chemical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Company Lab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7C0AE-D206-2E5F-9872-85D07CC116F8}"/>
              </a:ext>
            </a:extLst>
          </p:cNvPr>
          <p:cNvSpPr txBox="1"/>
          <p:nvPr/>
        </p:nvSpPr>
        <p:spPr>
          <a:xfrm>
            <a:off x="1756399" y="1680255"/>
            <a:ext cx="10534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Instrument-X</a:t>
            </a:r>
          </a:p>
          <a:p>
            <a:r>
              <a:rPr lang="en-US" sz="1100" b="1" dirty="0">
                <a:solidFill>
                  <a:srgbClr val="7030A0"/>
                </a:solidFill>
              </a:rPr>
              <a:t>Vendor-A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6A529-27A9-620C-F918-DBA558876385}"/>
              </a:ext>
            </a:extLst>
          </p:cNvPr>
          <p:cNvSpPr txBox="1"/>
          <p:nvPr/>
        </p:nvSpPr>
        <p:spPr>
          <a:xfrm>
            <a:off x="774656" y="1900984"/>
            <a:ext cx="10534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Instrument-Y</a:t>
            </a:r>
          </a:p>
          <a:p>
            <a:r>
              <a:rPr lang="en-US" sz="1100" b="1" dirty="0">
                <a:solidFill>
                  <a:srgbClr val="7030A0"/>
                </a:solidFill>
              </a:rPr>
              <a:t>Vendor-B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557BA-8B5B-FBDF-0286-FAC83C533E93}"/>
              </a:ext>
            </a:extLst>
          </p:cNvPr>
          <p:cNvSpPr txBox="1"/>
          <p:nvPr/>
        </p:nvSpPr>
        <p:spPr>
          <a:xfrm>
            <a:off x="10437063" y="2003876"/>
            <a:ext cx="15872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Instrument Vendor-A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C900B-3EFC-8606-1C49-4ECB6942EB79}"/>
              </a:ext>
            </a:extLst>
          </p:cNvPr>
          <p:cNvSpPr txBox="1"/>
          <p:nvPr/>
        </p:nvSpPr>
        <p:spPr>
          <a:xfrm>
            <a:off x="8647183" y="4878613"/>
            <a:ext cx="16001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Solution Provider - 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6608C0-B4E3-BE64-4B34-B8C07FEA41E6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4">
                <a:lumMod val="60000"/>
                <a:lumOff val="4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207605" y="1611967"/>
            <a:ext cx="356633" cy="356633"/>
          </a:xfrm>
          <a:prstGeom prst="rect">
            <a:avLst/>
          </a:prstGeom>
        </p:spPr>
      </p:pic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C2B26E72-1345-3F25-2662-5113B864FFB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3449" y="1614511"/>
            <a:ext cx="448951" cy="371098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411CE82D-5E75-DD91-6F72-7B5950F7DA2E}"/>
              </a:ext>
            </a:extLst>
          </p:cNvPr>
          <p:cNvSpPr/>
          <p:nvPr/>
        </p:nvSpPr>
        <p:spPr>
          <a:xfrm>
            <a:off x="10682654" y="1680255"/>
            <a:ext cx="371019" cy="208533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019D30-9F03-4FD6-2008-2A95291224E6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6066" y="5306178"/>
            <a:ext cx="472085" cy="472085"/>
          </a:xfrm>
          <a:prstGeom prst="rect">
            <a:avLst/>
          </a:prstGeom>
        </p:spPr>
      </p:pic>
      <p:pic>
        <p:nvPicPr>
          <p:cNvPr id="13" name="Picture 12" descr="Logo, company name&#10;&#10;Description automatically generated">
            <a:extLst>
              <a:ext uri="{FF2B5EF4-FFF2-40B4-BE49-F238E27FC236}">
                <a16:creationId xmlns:a16="http://schemas.microsoft.com/office/drawing/2014/main" id="{AF136A53-4E94-7538-2C8B-9E7AC41AD8A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568" y="5349143"/>
            <a:ext cx="448951" cy="37109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90BDC52E-2710-7E29-6008-F44DE4CB84D7}"/>
              </a:ext>
            </a:extLst>
          </p:cNvPr>
          <p:cNvSpPr/>
          <p:nvPr/>
        </p:nvSpPr>
        <p:spPr>
          <a:xfrm>
            <a:off x="8885193" y="5429035"/>
            <a:ext cx="371019" cy="208533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7A7EB4-329B-39BD-641D-D66160C66DAE}"/>
              </a:ext>
            </a:extLst>
          </p:cNvPr>
          <p:cNvSpPr txBox="1"/>
          <p:nvPr/>
        </p:nvSpPr>
        <p:spPr>
          <a:xfrm>
            <a:off x="76416" y="2265486"/>
            <a:ext cx="10534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</a:rPr>
              <a:t>Instrument-Z</a:t>
            </a:r>
          </a:p>
          <a:p>
            <a:r>
              <a:rPr lang="en-US" sz="1100" b="1" dirty="0">
                <a:solidFill>
                  <a:srgbClr val="7030A0"/>
                </a:solidFill>
              </a:rPr>
              <a:t>Vendor-C</a:t>
            </a:r>
          </a:p>
        </p:txBody>
      </p:sp>
      <p:pic>
        <p:nvPicPr>
          <p:cNvPr id="20" name="Picture 19" descr="A picture containing device&#10;&#10;Description automatically generated">
            <a:extLst>
              <a:ext uri="{FF2B5EF4-FFF2-40B4-BE49-F238E27FC236}">
                <a16:creationId xmlns:a16="http://schemas.microsoft.com/office/drawing/2014/main" id="{7FC10911-3B60-BF95-D5D6-B7F8CCA0BBC3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251" y="2941122"/>
            <a:ext cx="529003" cy="521902"/>
          </a:xfrm>
          <a:prstGeom prst="rect">
            <a:avLst/>
          </a:prstGeom>
        </p:spPr>
      </p:pic>
      <p:pic>
        <p:nvPicPr>
          <p:cNvPr id="22" name="Picture 21" descr="A picture containing device&#10;&#10;Description automatically generated">
            <a:extLst>
              <a:ext uri="{FF2B5EF4-FFF2-40B4-BE49-F238E27FC236}">
                <a16:creationId xmlns:a16="http://schemas.microsoft.com/office/drawing/2014/main" id="{A0D7CCB5-597C-6E50-0D30-671AFE2DD30B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64" y="3209859"/>
            <a:ext cx="529003" cy="521902"/>
          </a:xfrm>
          <a:prstGeom prst="rect">
            <a:avLst/>
          </a:prstGeom>
        </p:spPr>
      </p:pic>
      <p:pic>
        <p:nvPicPr>
          <p:cNvPr id="23" name="Picture 22" descr="A picture containing device&#10;&#10;Description automatically generated">
            <a:extLst>
              <a:ext uri="{FF2B5EF4-FFF2-40B4-BE49-F238E27FC236}">
                <a16:creationId xmlns:a16="http://schemas.microsoft.com/office/drawing/2014/main" id="{74717457-6795-46D8-8C36-A03C7AA3CAFA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793" y="5650127"/>
            <a:ext cx="529003" cy="521902"/>
          </a:xfrm>
          <a:prstGeom prst="rect">
            <a:avLst/>
          </a:prstGeom>
        </p:spPr>
      </p:pic>
      <p:pic>
        <p:nvPicPr>
          <p:cNvPr id="26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74546A4D-5EEE-31ED-4715-EEC044A9C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6792" y="3441716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5E91E43-9696-9E20-732D-E1501115CEA4}"/>
              </a:ext>
            </a:extLst>
          </p:cNvPr>
          <p:cNvSpPr txBox="1"/>
          <p:nvPr/>
        </p:nvSpPr>
        <p:spPr>
          <a:xfrm>
            <a:off x="10185692" y="4287914"/>
            <a:ext cx="19704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1100" dirty="0"/>
              <a:t>ASMs Transformation library</a:t>
            </a:r>
            <a:endParaRPr lang="en-US" sz="1100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C60BC3-2198-B03D-F399-42481B1A125A}"/>
              </a:ext>
            </a:extLst>
          </p:cNvPr>
          <p:cNvSpPr txBox="1"/>
          <p:nvPr/>
        </p:nvSpPr>
        <p:spPr>
          <a:xfrm>
            <a:off x="10352104" y="4109811"/>
            <a:ext cx="16722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Community Member-F</a:t>
            </a:r>
          </a:p>
        </p:txBody>
      </p:sp>
      <p:pic>
        <p:nvPicPr>
          <p:cNvPr id="30" name="Picture 29" descr="Logo, company name&#10;&#10;Description automatically generated">
            <a:extLst>
              <a:ext uri="{FF2B5EF4-FFF2-40B4-BE49-F238E27FC236}">
                <a16:creationId xmlns:a16="http://schemas.microsoft.com/office/drawing/2014/main" id="{058A6E81-8547-BF1D-2E1B-EB4E2A0D79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3398" y="4553182"/>
            <a:ext cx="448951" cy="371098"/>
          </a:xfrm>
          <a:prstGeom prst="rect">
            <a:avLst/>
          </a:prstGeom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8047EBAE-74DA-329B-08E8-4844F3A87EC0}"/>
              </a:ext>
            </a:extLst>
          </p:cNvPr>
          <p:cNvSpPr/>
          <p:nvPr/>
        </p:nvSpPr>
        <p:spPr>
          <a:xfrm>
            <a:off x="10796023" y="4633074"/>
            <a:ext cx="371019" cy="208533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Picture 32" descr="A picture containing device&#10;&#10;Description automatically generated">
            <a:extLst>
              <a:ext uri="{FF2B5EF4-FFF2-40B4-BE49-F238E27FC236}">
                <a16:creationId xmlns:a16="http://schemas.microsoft.com/office/drawing/2014/main" id="{EAA99CF4-7B19-24F4-6FBA-ECAC402C31AE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812" y="4924280"/>
            <a:ext cx="529003" cy="52190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598D1707-B696-810D-DFE3-79A51DC6784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1810" y="2696373"/>
            <a:ext cx="381269" cy="485664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AAD691C-6C90-F456-96CD-724F968D44E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23334" y="4467292"/>
            <a:ext cx="328840" cy="41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0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DC12F-99B8-3F2F-9AA5-E7C4D234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ASM Transformation-as-a Service:</a:t>
            </a:r>
            <a:br>
              <a:rPr lang="en-US" sz="4000" dirty="0"/>
            </a:br>
            <a:r>
              <a:rPr lang="en-US" sz="2700" dirty="0"/>
              <a:t>Service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B5F8C-CE3D-072F-325D-1B834E50F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C15E37-6A94-4CC9-A0BB-843E3C2A821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60D893-B71E-3D93-115A-E5666F83051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Transient service; no client data is persisted</a:t>
            </a:r>
          </a:p>
          <a:p>
            <a:r>
              <a:rPr lang="en-US" dirty="0"/>
              <a:t>B2B security and privacy model (provided by the cloud provider)</a:t>
            </a:r>
          </a:p>
          <a:p>
            <a:r>
              <a:rPr lang="en-US" dirty="0"/>
              <a:t>Deployed on a major cloud provider</a:t>
            </a:r>
          </a:p>
          <a:p>
            <a:pPr lvl="1"/>
            <a:r>
              <a:rPr lang="en-US" dirty="0"/>
              <a:t>Commercial off-the-shelf (COTS)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91555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DC12F-99B8-3F2F-9AA5-E7C4D234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ASM Transformation-as-a Service:</a:t>
            </a:r>
            <a:br>
              <a:rPr lang="en-US" sz="4000" dirty="0"/>
            </a:br>
            <a:r>
              <a:rPr lang="en-US" sz="2700" dirty="0"/>
              <a:t>Library Development and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B5F8C-CE3D-072F-325D-1B834E50F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C15E37-6A94-4CC9-A0BB-843E3C2A821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60D893-B71E-3D93-115A-E5666F83051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Transformation libraries to ASM are developed by:</a:t>
            </a:r>
          </a:p>
          <a:p>
            <a:pPr lvl="1"/>
            <a:r>
              <a:rPr lang="en-US" dirty="0"/>
              <a:t>Instrument vendors (“encouraged” by AF member companies) </a:t>
            </a:r>
          </a:p>
          <a:p>
            <a:pPr lvl="1"/>
            <a:r>
              <a:rPr lang="en-US" dirty="0"/>
              <a:t>Solution providers (motivated to offer them as integral or complementary components of larger data/analytical projects)   </a:t>
            </a:r>
          </a:p>
          <a:p>
            <a:pPr lvl="1"/>
            <a:r>
              <a:rPr lang="en-US" dirty="0"/>
              <a:t>Allotrope community projects (motivated to address interoperability challenges) </a:t>
            </a:r>
          </a:p>
          <a:p>
            <a:r>
              <a:rPr lang="en-US" dirty="0"/>
              <a:t>Transformation libraries (code)</a:t>
            </a:r>
          </a:p>
          <a:p>
            <a:pPr lvl="1"/>
            <a:r>
              <a:rPr lang="en-US" dirty="0"/>
              <a:t>Encouraged to be open-sourced</a:t>
            </a:r>
          </a:p>
          <a:p>
            <a:pPr lvl="1"/>
            <a:r>
              <a:rPr lang="en-US" dirty="0"/>
              <a:t>If not open-sourced, may be licensed (?)</a:t>
            </a:r>
          </a:p>
          <a:p>
            <a:pPr lvl="1"/>
            <a:r>
              <a:rPr lang="en-US" dirty="0"/>
              <a:t>Open-sourced libraries are preferably hosted on a managed public repository (e.g., GitHub, GitLab)</a:t>
            </a:r>
          </a:p>
          <a:p>
            <a:pPr lvl="1"/>
            <a:r>
              <a:rPr lang="en-US" dirty="0"/>
              <a:t>Binaries (ready to deploy/executables) can be hosted on a managed binary repository (e.g., jFrog)</a:t>
            </a:r>
          </a:p>
          <a:p>
            <a:pPr lvl="1"/>
            <a:r>
              <a:rPr lang="en-US" dirty="0"/>
              <a:t>Adhere to a define set of I/O service APIs</a:t>
            </a:r>
          </a:p>
          <a:p>
            <a:pPr lvl="1"/>
            <a:r>
              <a:rPr lang="en-US" dirty="0"/>
              <a:t>Ready for deployment as a service (e.g., microservices utilizing Docker containers and optional Kubernetes orchestration)    </a:t>
            </a:r>
          </a:p>
        </p:txBody>
      </p:sp>
    </p:spTree>
    <p:extLst>
      <p:ext uri="{BB962C8B-B14F-4D97-AF65-F5344CB8AC3E}">
        <p14:creationId xmlns:p14="http://schemas.microsoft.com/office/powerpoint/2010/main" val="376398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gitlab kubernetes ci cd">
            <a:extLst>
              <a:ext uri="{FF2B5EF4-FFF2-40B4-BE49-F238E27FC236}">
                <a16:creationId xmlns:a16="http://schemas.microsoft.com/office/drawing/2014/main" id="{7EA9EC5E-263A-7C62-8178-0582D4858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105" y="5506067"/>
            <a:ext cx="1322818" cy="62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C8AB88-3080-E2D4-1B96-422E5C9C5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42900"/>
            <a:ext cx="1133798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ASM Transformation-as-a Service:</a:t>
            </a:r>
            <a:br>
              <a:rPr lang="en-US" sz="4000" dirty="0"/>
            </a:br>
            <a:r>
              <a:rPr lang="en-US" sz="2700" dirty="0"/>
              <a:t>Implementation example, based on API Gateway and Microservices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CC4D8-E9E9-F56D-299D-395D065C0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C15E37-6A94-4CC9-A0BB-843E3C2A821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5" name="Cloud 64">
            <a:extLst>
              <a:ext uri="{FF2B5EF4-FFF2-40B4-BE49-F238E27FC236}">
                <a16:creationId xmlns:a16="http://schemas.microsoft.com/office/drawing/2014/main" id="{E9ABCFED-BBB9-C1CE-715C-8DC429535D18}"/>
              </a:ext>
            </a:extLst>
          </p:cNvPr>
          <p:cNvSpPr/>
          <p:nvPr/>
        </p:nvSpPr>
        <p:spPr>
          <a:xfrm>
            <a:off x="4925679" y="1877572"/>
            <a:ext cx="6038490" cy="3519577"/>
          </a:xfrm>
          <a:prstGeom prst="cloud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315DDF-09B4-7794-BE54-F3DBC24CD340}"/>
              </a:ext>
            </a:extLst>
          </p:cNvPr>
          <p:cNvSpPr/>
          <p:nvPr/>
        </p:nvSpPr>
        <p:spPr>
          <a:xfrm>
            <a:off x="8775776" y="1657030"/>
            <a:ext cx="1414092" cy="10111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540718A2-D6CE-1CE0-4491-7E2EE9915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63" y="1981823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B4941A-E918-6D31-461B-53A37A87E54F}"/>
              </a:ext>
            </a:extLst>
          </p:cNvPr>
          <p:cNvSpPr/>
          <p:nvPr/>
        </p:nvSpPr>
        <p:spPr>
          <a:xfrm>
            <a:off x="9607604" y="2807883"/>
            <a:ext cx="1414092" cy="10111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6AFA40F3-C2DA-E751-F134-9E0D5E304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4211" y="3175685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A72095-50BC-689C-7F02-F00B1DBA72A7}"/>
              </a:ext>
            </a:extLst>
          </p:cNvPr>
          <p:cNvSpPr/>
          <p:nvPr/>
        </p:nvSpPr>
        <p:spPr>
          <a:xfrm>
            <a:off x="9647044" y="3991690"/>
            <a:ext cx="1414092" cy="10111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D163B76E-D7F1-DA2B-FAE1-6D252F3E2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9152" y="4350719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3DAFFB-2E3A-E671-BA16-09ED9BDAE1EE}"/>
              </a:ext>
            </a:extLst>
          </p:cNvPr>
          <p:cNvSpPr/>
          <p:nvPr/>
        </p:nvSpPr>
        <p:spPr>
          <a:xfrm>
            <a:off x="8170031" y="4792229"/>
            <a:ext cx="1414092" cy="10111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D7220AB6-82B0-125B-2A03-07CEBC96B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579" y="5110633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7E70C6-9675-B308-B2E6-D2D895311250}"/>
              </a:ext>
            </a:extLst>
          </p:cNvPr>
          <p:cNvSpPr txBox="1"/>
          <p:nvPr/>
        </p:nvSpPr>
        <p:spPr>
          <a:xfrm>
            <a:off x="6579008" y="3585462"/>
            <a:ext cx="19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Microservices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D23A58F-1545-0418-AF45-9DD777527EEF}"/>
              </a:ext>
            </a:extLst>
          </p:cNvPr>
          <p:cNvCxnSpPr>
            <a:endCxn id="10" idx="1"/>
          </p:cNvCxnSpPr>
          <p:nvPr/>
        </p:nvCxnSpPr>
        <p:spPr>
          <a:xfrm flipV="1">
            <a:off x="5494663" y="2162612"/>
            <a:ext cx="3281113" cy="1250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ED4683-8A02-52E5-DC78-D22404E6801E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494663" y="3313465"/>
            <a:ext cx="4112941" cy="2850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51EF1B7-2CEC-C29F-B0EA-782D64D2F78A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494663" y="3842618"/>
            <a:ext cx="4152381" cy="6546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2550472-3920-6923-CF78-0B99CC90811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485433" y="4047842"/>
            <a:ext cx="2684598" cy="12499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650BFF-B037-7CED-32EC-AEEB0BCE0E3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2016799" y="2385326"/>
            <a:ext cx="2718018" cy="10277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1B23BE-8721-6770-FAD2-390795E8255E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2016799" y="3046718"/>
            <a:ext cx="2731976" cy="6123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13F9E0-CB18-FEE9-9D0B-55C9684B2154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1869353" y="4029894"/>
            <a:ext cx="2868018" cy="7623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F49E3BC-3033-FA98-BD64-65CD841025C3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2124756" y="3842618"/>
            <a:ext cx="2624019" cy="657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461758-8212-74A9-155C-8060FC09B33E}"/>
              </a:ext>
            </a:extLst>
          </p:cNvPr>
          <p:cNvSpPr/>
          <p:nvPr/>
        </p:nvSpPr>
        <p:spPr>
          <a:xfrm>
            <a:off x="4734817" y="2779432"/>
            <a:ext cx="1234296" cy="188055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Gateway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55768A3-FC55-BE5B-35C3-C3AAEED2C3CB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5351965" y="4132865"/>
            <a:ext cx="515764" cy="461830"/>
          </a:xfrm>
          <a:prstGeom prst="rect">
            <a:avLst/>
          </a:prstGeom>
        </p:spPr>
      </p:pic>
      <p:sp>
        <p:nvSpPr>
          <p:cNvPr id="51" name="Left Brace 50">
            <a:extLst>
              <a:ext uri="{FF2B5EF4-FFF2-40B4-BE49-F238E27FC236}">
                <a16:creationId xmlns:a16="http://schemas.microsoft.com/office/drawing/2014/main" id="{33B2C4AF-E7BE-3A4B-FD4C-A9E73D84F572}"/>
              </a:ext>
            </a:extLst>
          </p:cNvPr>
          <p:cNvSpPr/>
          <p:nvPr/>
        </p:nvSpPr>
        <p:spPr>
          <a:xfrm>
            <a:off x="576382" y="2122136"/>
            <a:ext cx="537658" cy="292665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079D57-156F-FF74-0C1F-109744E66316}"/>
              </a:ext>
            </a:extLst>
          </p:cNvPr>
          <p:cNvSpPr txBox="1"/>
          <p:nvPr/>
        </p:nvSpPr>
        <p:spPr>
          <a:xfrm rot="16200000">
            <a:off x="-79468" y="3261918"/>
            <a:ext cx="999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Clients</a:t>
            </a:r>
            <a:endParaRPr lang="en-US" dirty="0"/>
          </a:p>
        </p:txBody>
      </p:sp>
      <p:sp>
        <p:nvSpPr>
          <p:cNvPr id="53" name="Left Brace 52">
            <a:extLst>
              <a:ext uri="{FF2B5EF4-FFF2-40B4-BE49-F238E27FC236}">
                <a16:creationId xmlns:a16="http://schemas.microsoft.com/office/drawing/2014/main" id="{8A30C104-4921-B907-5E7A-56FAA36B7C32}"/>
              </a:ext>
            </a:extLst>
          </p:cNvPr>
          <p:cNvSpPr/>
          <p:nvPr/>
        </p:nvSpPr>
        <p:spPr>
          <a:xfrm>
            <a:off x="7854201" y="2178273"/>
            <a:ext cx="537658" cy="292665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A9578-B686-15F2-27B4-ACBC92BFEBED}"/>
              </a:ext>
            </a:extLst>
          </p:cNvPr>
          <p:cNvSpPr txBox="1"/>
          <p:nvPr/>
        </p:nvSpPr>
        <p:spPr>
          <a:xfrm>
            <a:off x="4493588" y="5074430"/>
            <a:ext cx="1983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Commercial-off-the-shelf (COTS) API gateway (cloud based)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2B6C2A64-911C-EC6A-07B6-B667970A1EAA}"/>
              </a:ext>
            </a:extLst>
          </p:cNvPr>
          <p:cNvSpPr/>
          <p:nvPr/>
        </p:nvSpPr>
        <p:spPr>
          <a:xfrm rot="16200000">
            <a:off x="5210281" y="4294371"/>
            <a:ext cx="254953" cy="130960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6B059A-8EE1-5DB7-BC3E-BF5FDD17B19B}"/>
              </a:ext>
            </a:extLst>
          </p:cNvPr>
          <p:cNvSpPr txBox="1"/>
          <p:nvPr/>
        </p:nvSpPr>
        <p:spPr>
          <a:xfrm>
            <a:off x="1205358" y="212371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Pharma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Lab-1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962480-9AF7-DAAB-B0AE-AD3F3AB32540}"/>
              </a:ext>
            </a:extLst>
          </p:cNvPr>
          <p:cNvSpPr txBox="1"/>
          <p:nvPr/>
        </p:nvSpPr>
        <p:spPr>
          <a:xfrm>
            <a:off x="1205358" y="2785108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Pharma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Lab-2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CABFAC-D5E6-4C42-BA0B-3AB8DA8F41C3}"/>
              </a:ext>
            </a:extLst>
          </p:cNvPr>
          <p:cNvSpPr txBox="1"/>
          <p:nvPr/>
        </p:nvSpPr>
        <p:spPr>
          <a:xfrm>
            <a:off x="1193091" y="3646725"/>
            <a:ext cx="931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Chemical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Lab-3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8320CC-20CE-7FE8-6C0D-2AA7BCB9B073}"/>
              </a:ext>
            </a:extLst>
          </p:cNvPr>
          <p:cNvSpPr txBox="1"/>
          <p:nvPr/>
        </p:nvSpPr>
        <p:spPr>
          <a:xfrm>
            <a:off x="1227831" y="4530619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CRO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Lab-4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5077D0-CBAB-E047-D5AA-23E1E265A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156" y="2322890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85EA7E0E-127C-B581-0462-D960273BA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9190" y="3477204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1745BB12-0B76-9E07-9E1B-5454FF163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668" y="4645013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DD206201-75C4-6163-71B3-4326A1136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104" y="5464396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5282AEA3-01D7-8EA9-C879-AC6090880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619" y="5241079"/>
            <a:ext cx="452103" cy="39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E36CFCCA-1F9D-B364-CC51-0263C8272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019" y="5393479"/>
            <a:ext cx="452103" cy="39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5904102D-89C3-5718-848E-2BE91B685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419" y="5545879"/>
            <a:ext cx="452103" cy="39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oftware Supply Chain to Release Fast &amp; Secure, Continuously ...">
            <a:extLst>
              <a:ext uri="{FF2B5EF4-FFF2-40B4-BE49-F238E27FC236}">
                <a16:creationId xmlns:a16="http://schemas.microsoft.com/office/drawing/2014/main" id="{19761A7B-357A-5F45-2E1C-AE3E68803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440" y="5087389"/>
            <a:ext cx="297363" cy="28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E1DB2AF-AD9C-5BCC-44B9-616213BEE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189" y="5241079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839472-8583-3FCC-604A-065120F235DB}"/>
              </a:ext>
            </a:extLst>
          </p:cNvPr>
          <p:cNvSpPr txBox="1"/>
          <p:nvPr/>
        </p:nvSpPr>
        <p:spPr>
          <a:xfrm>
            <a:off x="9008638" y="1622001"/>
            <a:ext cx="912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Instrument</a:t>
            </a:r>
          </a:p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Vendor-A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9CE93-4E88-94AA-DB68-036B07F31A63}"/>
              </a:ext>
            </a:extLst>
          </p:cNvPr>
          <p:cNvSpPr txBox="1"/>
          <p:nvPr/>
        </p:nvSpPr>
        <p:spPr>
          <a:xfrm>
            <a:off x="9920545" y="4002133"/>
            <a:ext cx="9204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Solution</a:t>
            </a:r>
          </a:p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Provider-M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818BDB-1ACE-47D4-6A7A-FABED767F64A}"/>
              </a:ext>
            </a:extLst>
          </p:cNvPr>
          <p:cNvSpPr txBox="1"/>
          <p:nvPr/>
        </p:nvSpPr>
        <p:spPr>
          <a:xfrm>
            <a:off x="9885370" y="2788611"/>
            <a:ext cx="9989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Community </a:t>
            </a:r>
          </a:p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Member-F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AD194E-B6A5-038D-E07C-562DE79B6302}"/>
              </a:ext>
            </a:extLst>
          </p:cNvPr>
          <p:cNvSpPr txBox="1"/>
          <p:nvPr/>
        </p:nvSpPr>
        <p:spPr>
          <a:xfrm>
            <a:off x="8429549" y="4751843"/>
            <a:ext cx="912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Instrument</a:t>
            </a:r>
          </a:p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Vendor-B</a:t>
            </a:r>
          </a:p>
        </p:txBody>
      </p:sp>
    </p:spTree>
    <p:extLst>
      <p:ext uri="{BB962C8B-B14F-4D97-AF65-F5344CB8AC3E}">
        <p14:creationId xmlns:p14="http://schemas.microsoft.com/office/powerpoint/2010/main" val="390641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gitlab kubernetes ci cd">
            <a:extLst>
              <a:ext uri="{FF2B5EF4-FFF2-40B4-BE49-F238E27FC236}">
                <a16:creationId xmlns:a16="http://schemas.microsoft.com/office/drawing/2014/main" id="{7EA9EC5E-263A-7C62-8178-0582D4858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105" y="5506067"/>
            <a:ext cx="1322818" cy="62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C8AB88-3080-E2D4-1B96-422E5C9C5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42900"/>
            <a:ext cx="1133798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ASM Transformation-as-a Service:</a:t>
            </a:r>
            <a:br>
              <a:rPr lang="en-US" sz="4000" dirty="0"/>
            </a:br>
            <a:r>
              <a:rPr lang="en-US" sz="2700" dirty="0"/>
              <a:t>AWS implementation based on API Gateway and Microservices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CC4D8-E9E9-F56D-299D-395D065C0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C15E37-6A94-4CC9-A0BB-843E3C2A821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5" name="Cloud 64">
            <a:extLst>
              <a:ext uri="{FF2B5EF4-FFF2-40B4-BE49-F238E27FC236}">
                <a16:creationId xmlns:a16="http://schemas.microsoft.com/office/drawing/2014/main" id="{E9ABCFED-BBB9-C1CE-715C-8DC429535D18}"/>
              </a:ext>
            </a:extLst>
          </p:cNvPr>
          <p:cNvSpPr/>
          <p:nvPr/>
        </p:nvSpPr>
        <p:spPr>
          <a:xfrm>
            <a:off x="4925679" y="1877572"/>
            <a:ext cx="6038490" cy="3519577"/>
          </a:xfrm>
          <a:prstGeom prst="cloud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315DDF-09B4-7794-BE54-F3DBC24CD340}"/>
              </a:ext>
            </a:extLst>
          </p:cNvPr>
          <p:cNvSpPr/>
          <p:nvPr/>
        </p:nvSpPr>
        <p:spPr>
          <a:xfrm>
            <a:off x="8775776" y="1657030"/>
            <a:ext cx="1414092" cy="10111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540718A2-D6CE-1CE0-4491-7E2EE9915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63" y="1981823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B4941A-E918-6D31-461B-53A37A87E54F}"/>
              </a:ext>
            </a:extLst>
          </p:cNvPr>
          <p:cNvSpPr/>
          <p:nvPr/>
        </p:nvSpPr>
        <p:spPr>
          <a:xfrm>
            <a:off x="9607604" y="2807883"/>
            <a:ext cx="1414092" cy="10111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6AFA40F3-C2DA-E751-F134-9E0D5E304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4211" y="3175685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A72095-50BC-689C-7F02-F00B1DBA72A7}"/>
              </a:ext>
            </a:extLst>
          </p:cNvPr>
          <p:cNvSpPr/>
          <p:nvPr/>
        </p:nvSpPr>
        <p:spPr>
          <a:xfrm>
            <a:off x="9647044" y="3991690"/>
            <a:ext cx="1414092" cy="10111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D163B76E-D7F1-DA2B-FAE1-6D252F3E2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9152" y="4350719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3DAFFB-2E3A-E671-BA16-09ED9BDAE1EE}"/>
              </a:ext>
            </a:extLst>
          </p:cNvPr>
          <p:cNvSpPr/>
          <p:nvPr/>
        </p:nvSpPr>
        <p:spPr>
          <a:xfrm>
            <a:off x="8170031" y="4792229"/>
            <a:ext cx="1414092" cy="101116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8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D7220AB6-82B0-125B-2A03-07CEBC96B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579" y="5110633"/>
            <a:ext cx="686370" cy="68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7E70C6-9675-B308-B2E6-D2D895311250}"/>
              </a:ext>
            </a:extLst>
          </p:cNvPr>
          <p:cNvSpPr txBox="1"/>
          <p:nvPr/>
        </p:nvSpPr>
        <p:spPr>
          <a:xfrm>
            <a:off x="6579008" y="3585462"/>
            <a:ext cx="1983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Microservices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D23A58F-1545-0418-AF45-9DD777527EEF}"/>
              </a:ext>
            </a:extLst>
          </p:cNvPr>
          <p:cNvCxnSpPr>
            <a:endCxn id="10" idx="1"/>
          </p:cNvCxnSpPr>
          <p:nvPr/>
        </p:nvCxnSpPr>
        <p:spPr>
          <a:xfrm flipV="1">
            <a:off x="5494663" y="2162612"/>
            <a:ext cx="3281113" cy="12504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ED4683-8A02-52E5-DC78-D22404E6801E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494663" y="3313465"/>
            <a:ext cx="4112941" cy="2850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51EF1B7-2CEC-C29F-B0EA-782D64D2F78A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5494663" y="3842618"/>
            <a:ext cx="4152381" cy="6546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2550472-3920-6923-CF78-0B99CC90811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485433" y="4047842"/>
            <a:ext cx="2684598" cy="12499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650BFF-B037-7CED-32EC-AEEB0BCE0E39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2016799" y="2385326"/>
            <a:ext cx="2718018" cy="10277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1B23BE-8721-6770-FAD2-390795E8255E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2016799" y="3046718"/>
            <a:ext cx="2731976" cy="6123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13F9E0-CB18-FEE9-9D0B-55C9684B2154}"/>
              </a:ext>
            </a:extLst>
          </p:cNvPr>
          <p:cNvCxnSpPr>
            <a:cxnSpLocks/>
            <a:stCxn id="37" idx="3"/>
          </p:cNvCxnSpPr>
          <p:nvPr/>
        </p:nvCxnSpPr>
        <p:spPr>
          <a:xfrm flipV="1">
            <a:off x="1869353" y="4029894"/>
            <a:ext cx="2868018" cy="7623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F49E3BC-3033-FA98-BD64-65CD841025C3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2124756" y="3842618"/>
            <a:ext cx="2624019" cy="657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461758-8212-74A9-155C-8060FC09B33E}"/>
              </a:ext>
            </a:extLst>
          </p:cNvPr>
          <p:cNvSpPr/>
          <p:nvPr/>
        </p:nvSpPr>
        <p:spPr>
          <a:xfrm>
            <a:off x="4734817" y="2779432"/>
            <a:ext cx="1234296" cy="188055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Gateway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55768A3-FC55-BE5B-35C3-C3AAEED2C3CB}"/>
              </a:ext>
            </a:extLst>
          </p:cNvPr>
          <p:cNvPicPr>
            <a:picLocks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58" r="65328"/>
          <a:stretch/>
        </p:blipFill>
        <p:spPr>
          <a:xfrm>
            <a:off x="5351965" y="4132865"/>
            <a:ext cx="515764" cy="461830"/>
          </a:xfrm>
          <a:prstGeom prst="rect">
            <a:avLst/>
          </a:prstGeom>
        </p:spPr>
      </p:pic>
      <p:sp>
        <p:nvSpPr>
          <p:cNvPr id="51" name="Left Brace 50">
            <a:extLst>
              <a:ext uri="{FF2B5EF4-FFF2-40B4-BE49-F238E27FC236}">
                <a16:creationId xmlns:a16="http://schemas.microsoft.com/office/drawing/2014/main" id="{33B2C4AF-E7BE-3A4B-FD4C-A9E73D84F572}"/>
              </a:ext>
            </a:extLst>
          </p:cNvPr>
          <p:cNvSpPr/>
          <p:nvPr/>
        </p:nvSpPr>
        <p:spPr>
          <a:xfrm>
            <a:off x="576382" y="2122136"/>
            <a:ext cx="537658" cy="292665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079D57-156F-FF74-0C1F-109744E66316}"/>
              </a:ext>
            </a:extLst>
          </p:cNvPr>
          <p:cNvSpPr txBox="1"/>
          <p:nvPr/>
        </p:nvSpPr>
        <p:spPr>
          <a:xfrm rot="16200000">
            <a:off x="-79468" y="3261918"/>
            <a:ext cx="999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Clients</a:t>
            </a:r>
            <a:endParaRPr lang="en-US" dirty="0"/>
          </a:p>
        </p:txBody>
      </p:sp>
      <p:sp>
        <p:nvSpPr>
          <p:cNvPr id="53" name="Left Brace 52">
            <a:extLst>
              <a:ext uri="{FF2B5EF4-FFF2-40B4-BE49-F238E27FC236}">
                <a16:creationId xmlns:a16="http://schemas.microsoft.com/office/drawing/2014/main" id="{8A30C104-4921-B907-5E7A-56FAA36B7C32}"/>
              </a:ext>
            </a:extLst>
          </p:cNvPr>
          <p:cNvSpPr/>
          <p:nvPr/>
        </p:nvSpPr>
        <p:spPr>
          <a:xfrm>
            <a:off x="7854201" y="2178273"/>
            <a:ext cx="537658" cy="292665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2B6C2A64-911C-EC6A-07B6-B667970A1EAA}"/>
              </a:ext>
            </a:extLst>
          </p:cNvPr>
          <p:cNvSpPr/>
          <p:nvPr/>
        </p:nvSpPr>
        <p:spPr>
          <a:xfrm rot="16200000">
            <a:off x="5210281" y="4294371"/>
            <a:ext cx="254953" cy="130960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6B059A-8EE1-5DB7-BC3E-BF5FDD17B19B}"/>
              </a:ext>
            </a:extLst>
          </p:cNvPr>
          <p:cNvSpPr txBox="1"/>
          <p:nvPr/>
        </p:nvSpPr>
        <p:spPr>
          <a:xfrm>
            <a:off x="1205358" y="2123716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Pharma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Lab-1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962480-9AF7-DAAB-B0AE-AD3F3AB32540}"/>
              </a:ext>
            </a:extLst>
          </p:cNvPr>
          <p:cNvSpPr txBox="1"/>
          <p:nvPr/>
        </p:nvSpPr>
        <p:spPr>
          <a:xfrm>
            <a:off x="1205358" y="2785108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Pharma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Lab-2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CABFAC-D5E6-4C42-BA0B-3AB8DA8F41C3}"/>
              </a:ext>
            </a:extLst>
          </p:cNvPr>
          <p:cNvSpPr txBox="1"/>
          <p:nvPr/>
        </p:nvSpPr>
        <p:spPr>
          <a:xfrm>
            <a:off x="1193091" y="3646725"/>
            <a:ext cx="931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Chemical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Lab-3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8320CC-20CE-7FE8-6C0D-2AA7BCB9B073}"/>
              </a:ext>
            </a:extLst>
          </p:cNvPr>
          <p:cNvSpPr txBox="1"/>
          <p:nvPr/>
        </p:nvSpPr>
        <p:spPr>
          <a:xfrm>
            <a:off x="1227831" y="4530619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CRO</a:t>
            </a:r>
          </a:p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</a:rPr>
              <a:t>Lab-4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A5077D0-CBAB-E047-D5AA-23E1E265A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156" y="2322890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85EA7E0E-127C-B581-0462-D960273BA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9190" y="3477204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1745BB12-0B76-9E07-9E1B-5454FF163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668" y="4645013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DD206201-75C4-6163-71B3-4326A1136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6104" y="5464396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5282AEA3-01D7-8EA9-C879-AC6090880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2619" y="5241079"/>
            <a:ext cx="452103" cy="39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E36CFCCA-1F9D-B364-CC51-0263C8272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019" y="5393479"/>
            <a:ext cx="452103" cy="39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Books, library icon - Download on Iconfinder on Iconfinder">
            <a:extLst>
              <a:ext uri="{FF2B5EF4-FFF2-40B4-BE49-F238E27FC236}">
                <a16:creationId xmlns:a16="http://schemas.microsoft.com/office/drawing/2014/main" id="{5904102D-89C3-5718-848E-2BE91B685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419" y="5545879"/>
            <a:ext cx="452103" cy="39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oftware Supply Chain to Release Fast &amp; Secure, Continuously ...">
            <a:extLst>
              <a:ext uri="{FF2B5EF4-FFF2-40B4-BE49-F238E27FC236}">
                <a16:creationId xmlns:a16="http://schemas.microsoft.com/office/drawing/2014/main" id="{19761A7B-357A-5F45-2E1C-AE3E68803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8440" y="5087389"/>
            <a:ext cx="297363" cy="28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E1DB2AF-AD9C-5BCC-44B9-616213BEE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189" y="5241079"/>
            <a:ext cx="686370" cy="32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839472-8583-3FCC-604A-065120F235DB}"/>
              </a:ext>
            </a:extLst>
          </p:cNvPr>
          <p:cNvSpPr txBox="1"/>
          <p:nvPr/>
        </p:nvSpPr>
        <p:spPr>
          <a:xfrm>
            <a:off x="9008638" y="1622001"/>
            <a:ext cx="912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Instrument</a:t>
            </a:r>
          </a:p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Vendor-A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9CE93-4E88-94AA-DB68-036B07F31A63}"/>
              </a:ext>
            </a:extLst>
          </p:cNvPr>
          <p:cNvSpPr txBox="1"/>
          <p:nvPr/>
        </p:nvSpPr>
        <p:spPr>
          <a:xfrm>
            <a:off x="9920545" y="4002133"/>
            <a:ext cx="9204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Solution</a:t>
            </a:r>
          </a:p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Provider-M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818BDB-1ACE-47D4-6A7A-FABED767F64A}"/>
              </a:ext>
            </a:extLst>
          </p:cNvPr>
          <p:cNvSpPr txBox="1"/>
          <p:nvPr/>
        </p:nvSpPr>
        <p:spPr>
          <a:xfrm>
            <a:off x="9885370" y="2788611"/>
            <a:ext cx="9989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Community </a:t>
            </a:r>
          </a:p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Member-F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AD194E-B6A5-038D-E07C-562DE79B6302}"/>
              </a:ext>
            </a:extLst>
          </p:cNvPr>
          <p:cNvSpPr txBox="1"/>
          <p:nvPr/>
        </p:nvSpPr>
        <p:spPr>
          <a:xfrm>
            <a:off x="8429549" y="4751843"/>
            <a:ext cx="912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Instrument</a:t>
            </a:r>
          </a:p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Vendor-B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D728A5E-E624-C6B9-478E-ABEC45A43127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65522" y="1384449"/>
            <a:ext cx="917493" cy="847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88689E1-ED63-04C4-EC0B-B33F442A86C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99106" y="2591218"/>
            <a:ext cx="917493" cy="8474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EB2BA05-F890-FD3F-F0A1-45CFE29D1F6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02229" y="3777700"/>
            <a:ext cx="917493" cy="84740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29512E7-B151-CBF7-6532-476A342949D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16228" y="5266159"/>
            <a:ext cx="917493" cy="847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9B3E977-8136-23C1-7C39-F1898044640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91199" y="4314934"/>
            <a:ext cx="1553059" cy="112067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7708C2F-13E1-98F4-A655-4C0C6C920EA6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23704" y="2324671"/>
            <a:ext cx="748269" cy="575592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EA82E4B-C63F-F0D2-E3D7-239227D6CCB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06660" y="4659991"/>
            <a:ext cx="1464983" cy="1143401"/>
          </a:xfrm>
          <a:prstGeom prst="rect">
            <a:avLst/>
          </a:prstGeom>
        </p:spPr>
      </p:pic>
      <p:pic>
        <p:nvPicPr>
          <p:cNvPr id="56" name="Graphic 55" descr="Clipboard All Crosses outline">
            <a:extLst>
              <a:ext uri="{FF2B5EF4-FFF2-40B4-BE49-F238E27FC236}">
                <a16:creationId xmlns:a16="http://schemas.microsoft.com/office/drawing/2014/main" id="{999EBE9B-422F-65AE-EFB8-C3204EDD19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73333" y="5789110"/>
            <a:ext cx="420710" cy="420710"/>
          </a:xfrm>
          <a:prstGeom prst="rect">
            <a:avLst/>
          </a:prstGeom>
        </p:spPr>
      </p:pic>
      <p:pic>
        <p:nvPicPr>
          <p:cNvPr id="58" name="Graphic 57" descr="Bar graph with upward trend with solid fill">
            <a:extLst>
              <a:ext uri="{FF2B5EF4-FFF2-40B4-BE49-F238E27FC236}">
                <a16:creationId xmlns:a16="http://schemas.microsoft.com/office/drawing/2014/main" id="{C1C8BD9B-D824-4973-084E-CC58F5DEB7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507" y="5808938"/>
            <a:ext cx="417380" cy="41738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5D84A4E-E00E-A9DC-5E1B-FC33696AF717}"/>
              </a:ext>
            </a:extLst>
          </p:cNvPr>
          <p:cNvSpPr txBox="1"/>
          <p:nvPr/>
        </p:nvSpPr>
        <p:spPr>
          <a:xfrm>
            <a:off x="3112060" y="5769430"/>
            <a:ext cx="1244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Activity logs </a:t>
            </a:r>
          </a:p>
          <a:p>
            <a:r>
              <a:rPr lang="en-US" sz="1200" dirty="0"/>
              <a:t>and monitoring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ED2D718-A233-475A-A36E-569CBC2137DB}"/>
              </a:ext>
            </a:extLst>
          </p:cNvPr>
          <p:cNvSpPr/>
          <p:nvPr/>
        </p:nvSpPr>
        <p:spPr>
          <a:xfrm>
            <a:off x="3112060" y="5780318"/>
            <a:ext cx="1916606" cy="44201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0C8D-0956-D197-9BB0-08A03274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ASM Transformation-as-a Service: </a:t>
            </a:r>
            <a:br>
              <a:rPr lang="en-US" dirty="0"/>
            </a:br>
            <a:r>
              <a:rPr lang="en-US" sz="2800" dirty="0"/>
              <a:t>Potential expansions (beyond converter transformation)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753F-E1AB-A86D-960A-C416C561A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C15E37-6A94-4CC9-A0BB-843E3C2A821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7C8B40-C1DF-80F4-E005-BCBBBD0F57E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Automation</a:t>
            </a:r>
            <a:r>
              <a:rPr lang="en-US" dirty="0"/>
              <a:t> with OPC UA + ASM for Lab Connectivity as IIoT: </a:t>
            </a:r>
          </a:p>
          <a:p>
            <a:pPr lvl="1"/>
            <a:r>
              <a:rPr lang="en-US" dirty="0"/>
              <a:t>Leveraging the Spectaris/LADS and OPC Foundation recent collaboration breakthrough (see </a:t>
            </a:r>
            <a:r>
              <a:rPr lang="en-US" dirty="0">
                <a:hlinkClick r:id="rId2"/>
              </a:rPr>
              <a:t>press release</a:t>
            </a:r>
            <a:r>
              <a:rPr lang="en-US" dirty="0"/>
              <a:t>), this solution supports plug-and-play connectivity and information data via OPC UA and </a:t>
            </a:r>
            <a:r>
              <a:rPr lang="en-US" b="1" dirty="0"/>
              <a:t>NodeSet2-compliant ASM libraries</a:t>
            </a:r>
            <a:r>
              <a:rPr lang="en-US" dirty="0"/>
              <a:t>—enabling interoperable communication between lab instruments and informatics platforms</a:t>
            </a:r>
            <a:r>
              <a:rPr lang="en-US"/>
              <a:t>. </a:t>
            </a:r>
          </a:p>
          <a:p>
            <a:pPr lvl="1"/>
            <a:r>
              <a:rPr lang="en-US"/>
              <a:t>The </a:t>
            </a:r>
            <a:r>
              <a:rPr lang="en-US" dirty="0"/>
              <a:t>accompanying cloud-based service delivers OPC UA IIoT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3567177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757070"/>
      </a:dk2>
      <a:lt2>
        <a:srgbClr val="E7E6E6"/>
      </a:lt2>
      <a:accent1>
        <a:srgbClr val="FF8000"/>
      </a:accent1>
      <a:accent2>
        <a:srgbClr val="043877"/>
      </a:accent2>
      <a:accent3>
        <a:srgbClr val="259BA6"/>
      </a:accent3>
      <a:accent4>
        <a:srgbClr val="52589B"/>
      </a:accent4>
      <a:accent5>
        <a:srgbClr val="5B9BD5"/>
      </a:accent5>
      <a:accent6>
        <a:srgbClr val="70AD47"/>
      </a:accent6>
      <a:hlink>
        <a:srgbClr val="0563C1"/>
      </a:hlink>
      <a:folHlink>
        <a:srgbClr val="ED7D31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llotrope Presentation Template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a10f9ac0-5937-4b4f-b459-96aedd9ed2c5" origin="userSelected">
  <element uid="9920fcc9-9f43-4d43-9e3e-b98a219cfd55" value=""/>
</sisl>
</file>

<file path=customXml/itemProps1.xml><?xml version="1.0" encoding="utf-8"?>
<ds:datastoreItem xmlns:ds="http://schemas.openxmlformats.org/officeDocument/2006/customXml" ds:itemID="{5A46FCFE-B817-4E45-B5F5-E016FA09968D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18988</TotalTime>
  <Words>483</Words>
  <Application>Microsoft Office PowerPoint</Application>
  <PresentationFormat>Widescreen</PresentationFormat>
  <Paragraphs>105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Harabara Mais Bold</vt:lpstr>
      <vt:lpstr>Segoe UI</vt:lpstr>
      <vt:lpstr>Office Theme</vt:lpstr>
      <vt:lpstr>Allotrope Presentation Template 16x9</vt:lpstr>
      <vt:lpstr>ASM Transformation-as-a-Service</vt:lpstr>
      <vt:lpstr>ASM Transformation-as-a Service: Motivation</vt:lpstr>
      <vt:lpstr>ASM Transformation-as-a Service</vt:lpstr>
      <vt:lpstr>ASM Transformation-as-a Service: Service deployment</vt:lpstr>
      <vt:lpstr>ASM Transformation-as-a Service: Library Development and Deployment</vt:lpstr>
      <vt:lpstr>ASM Transformation-as-a Service: Implementation example, based on API Gateway and Microservices </vt:lpstr>
      <vt:lpstr>ASM Transformation-as-a Service: AWS implementation based on API Gateway and Microservices</vt:lpstr>
      <vt:lpstr>ASM Transformation-as-a Service:  Potential expansions (beyond converter transformation)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Benge, Eric</dc:creator>
  <cp:lastModifiedBy>Antonucci, Vincent</cp:lastModifiedBy>
  <cp:revision>388</cp:revision>
  <dcterms:created xsi:type="dcterms:W3CDTF">2021-09-27T17:42:04Z</dcterms:created>
  <dcterms:modified xsi:type="dcterms:W3CDTF">2025-09-11T20:27:50Z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6fd8c352-bee0-4abc-a1e9-a9de6c033027</vt:lpwstr>
  </property>
  <property fmtid="{D5CDD505-2E9C-101B-9397-08002B2CF9AE}" pid="3" name="bjSaver">
    <vt:lpwstr>BEPtFLxNmtrkjT+1RHVgbtuQ6qRcjf9D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policy="a10f9ac0-5937-4b4f-b459-96aedd9ed2c5" origin="userSelected" xmlns="http://www.boldonj</vt:lpwstr>
  </property>
  <property fmtid="{D5CDD505-2E9C-101B-9397-08002B2CF9AE}" pid="5" name="bjDocumentLabelXML-0">
    <vt:lpwstr>ames.com/2008/01/sie/internal/label"&gt;&lt;element uid="9920fcc9-9f43-4d43-9e3e-b98a219cfd55" value="" /&gt;&lt;/sisl&gt;</vt:lpwstr>
  </property>
  <property fmtid="{D5CDD505-2E9C-101B-9397-08002B2CF9AE}" pid="6" name="bjDocumentSecurityLabel">
    <vt:lpwstr>Not Classified</vt:lpwstr>
  </property>
  <property fmtid="{D5CDD505-2E9C-101B-9397-08002B2CF9AE}" pid="7" name="_NewReviewCycle">
    <vt:lpwstr/>
  </property>
  <property fmtid="{D5CDD505-2E9C-101B-9397-08002B2CF9AE}" pid="8" name="MSIP_Label_defa4170-0d19-0005-0004-bc88714345d2_Enabled">
    <vt:lpwstr>true</vt:lpwstr>
  </property>
  <property fmtid="{D5CDD505-2E9C-101B-9397-08002B2CF9AE}" pid="9" name="MSIP_Label_defa4170-0d19-0005-0004-bc88714345d2_SetDate">
    <vt:lpwstr>2025-06-06T23:29:25Z</vt:lpwstr>
  </property>
  <property fmtid="{D5CDD505-2E9C-101B-9397-08002B2CF9AE}" pid="10" name="MSIP_Label_defa4170-0d19-0005-0004-bc88714345d2_Method">
    <vt:lpwstr>Standard</vt:lpwstr>
  </property>
  <property fmtid="{D5CDD505-2E9C-101B-9397-08002B2CF9AE}" pid="11" name="MSIP_Label_defa4170-0d19-0005-0004-bc88714345d2_Name">
    <vt:lpwstr>defa4170-0d19-0005-0004-bc88714345d2</vt:lpwstr>
  </property>
  <property fmtid="{D5CDD505-2E9C-101B-9397-08002B2CF9AE}" pid="12" name="MSIP_Label_defa4170-0d19-0005-0004-bc88714345d2_SiteId">
    <vt:lpwstr>1af0f5b0-0a52-462a-a18a-4c263dc310cc</vt:lpwstr>
  </property>
  <property fmtid="{D5CDD505-2E9C-101B-9397-08002B2CF9AE}" pid="13" name="MSIP_Label_defa4170-0d19-0005-0004-bc88714345d2_ActionId">
    <vt:lpwstr>d81e2e3b-8ec1-4f98-95f3-6981fbc20a12</vt:lpwstr>
  </property>
  <property fmtid="{D5CDD505-2E9C-101B-9397-08002B2CF9AE}" pid="14" name="MSIP_Label_defa4170-0d19-0005-0004-bc88714345d2_ContentBits">
    <vt:lpwstr>0</vt:lpwstr>
  </property>
  <property fmtid="{D5CDD505-2E9C-101B-9397-08002B2CF9AE}" pid="15" name="MSIP_Label_defa4170-0d19-0005-0004-bc88714345d2_Tag">
    <vt:lpwstr>10, 3, 0, 1</vt:lpwstr>
  </property>
  <property fmtid="{D5CDD505-2E9C-101B-9397-08002B2CF9AE}" pid="16" name="MSIP_Label_e81acc0d-dcc4-4dc9-a2c5-be70b05a2fe6_Enabled">
    <vt:lpwstr>true</vt:lpwstr>
  </property>
  <property fmtid="{D5CDD505-2E9C-101B-9397-08002B2CF9AE}" pid="17" name="MSIP_Label_e81acc0d-dcc4-4dc9-a2c5-be70b05a2fe6_SetDate">
    <vt:lpwstr>2025-09-11T20:27:49Z</vt:lpwstr>
  </property>
  <property fmtid="{D5CDD505-2E9C-101B-9397-08002B2CF9AE}" pid="18" name="MSIP_Label_e81acc0d-dcc4-4dc9-a2c5-be70b05a2fe6_Method">
    <vt:lpwstr>Privileged</vt:lpwstr>
  </property>
  <property fmtid="{D5CDD505-2E9C-101B-9397-08002B2CF9AE}" pid="19" name="MSIP_Label_e81acc0d-dcc4-4dc9-a2c5-be70b05a2fe6_Name">
    <vt:lpwstr>e81acc0d-dcc4-4dc9-a2c5-be70b05a2fe6</vt:lpwstr>
  </property>
  <property fmtid="{D5CDD505-2E9C-101B-9397-08002B2CF9AE}" pid="20" name="MSIP_Label_e81acc0d-dcc4-4dc9-a2c5-be70b05a2fe6_SiteId">
    <vt:lpwstr>a00de4ec-48a8-43a6-be74-e31274e2060d</vt:lpwstr>
  </property>
  <property fmtid="{D5CDD505-2E9C-101B-9397-08002B2CF9AE}" pid="21" name="MSIP_Label_e81acc0d-dcc4-4dc9-a2c5-be70b05a2fe6_ActionId">
    <vt:lpwstr>f8ba88c5-25f4-4ab0-80df-c3a8ac69320b</vt:lpwstr>
  </property>
  <property fmtid="{D5CDD505-2E9C-101B-9397-08002B2CF9AE}" pid="22" name="MSIP_Label_e81acc0d-dcc4-4dc9-a2c5-be70b05a2fe6_ContentBits">
    <vt:lpwstr>0</vt:lpwstr>
  </property>
  <property fmtid="{D5CDD505-2E9C-101B-9397-08002B2CF9AE}" pid="23" name="MSIP_Label_e81acc0d-dcc4-4dc9-a2c5-be70b05a2fe6_Tag">
    <vt:lpwstr>10, 0, 1, 1</vt:lpwstr>
  </property>
  <property fmtid="{D5CDD505-2E9C-101B-9397-08002B2CF9AE}" pid="24" name="_AdHocReviewCycleID">
    <vt:i4>2026856661</vt:i4>
  </property>
  <property fmtid="{D5CDD505-2E9C-101B-9397-08002B2CF9AE}" pid="25" name="_EmailSubject">
    <vt:lpwstr>Discuss Allotrope Connect Workshop</vt:lpwstr>
  </property>
  <property fmtid="{D5CDD505-2E9C-101B-9397-08002B2CF9AE}" pid="26" name="_AuthorEmail">
    <vt:lpwstr>vincent_antonucci@merck.com</vt:lpwstr>
  </property>
  <property fmtid="{D5CDD505-2E9C-101B-9397-08002B2CF9AE}" pid="27" name="_AuthorEmailDisplayName">
    <vt:lpwstr>Antonucci, Vincent</vt:lpwstr>
  </property>
</Properties>
</file>